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4" r:id="rId3"/>
    <p:sldId id="259" r:id="rId4"/>
    <p:sldId id="258" r:id="rId5"/>
    <p:sldId id="261" r:id="rId6"/>
    <p:sldId id="260" r:id="rId7"/>
    <p:sldId id="263" r:id="rId8"/>
    <p:sldId id="265" r:id="rId9"/>
    <p:sldId id="266" r:id="rId10"/>
    <p:sldId id="267" r:id="rId11"/>
    <p:sldId id="262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F264B-6F5F-4CEA-9645-DA558E589E2F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9B29B-B975-4807-A50B-83556DCB89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5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29B29B-B975-4807-A50B-83556DCB891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401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29B29B-B975-4807-A50B-83556DCB891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72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29B29B-B975-4807-A50B-83556DCB891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273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AB1BD-2D07-1E16-4F40-129B3572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941CDE-FD9A-EF07-E0B6-1E911D0AA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86C688-DB62-0F11-4D56-88E9855E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B8D9E4-3274-8055-7431-B6201D85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1F3904-30B6-D77F-0CF6-63540504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0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72112-C29B-F5DB-EA5F-76A499E8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5733A-99F5-A7F2-929A-1B39E5A6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70EAC9-C1A7-80CB-F6B3-9B757E06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F6998E-1D47-9278-614B-0F7C7900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A1B599-9BE4-5097-E4F5-88DED634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56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C0A8F-77A5-49C1-C1CF-77D1CC33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F3D92A-4632-5665-9AE4-03FE81CF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EFB3A-9629-8FC4-4B6E-A1C19C03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C03CE3-033E-C089-BCBD-AEFCFF42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5257CD-6255-BB95-2C0A-B639893B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72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BE44A-EE1C-0E15-99A9-109684A7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CA50A7-5F79-6CD6-E6A2-01AB08AC1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EA821D-7F79-C90C-C905-4A1F85192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0D4D12-6EE7-5311-7D78-7DD89D6B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6DA512-F270-A970-48FD-9DA6D90F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13BFBD-C390-E277-1D15-1D25AEA8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72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6586E-CD9D-93B8-90F3-BFD6E2403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EFB2CB-6D23-6760-8206-654FF79EA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BC6C15-9579-18C6-2E1C-665D7DAA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2AC9B9-E377-86C9-22C4-FFBA4D332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87A4FB-F99F-083C-0B60-5704394C30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AF73366-71B8-A140-997E-82AE65A6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E89DC7-B818-3BE4-7D98-E223ECCE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E96D74-C22F-6876-97B8-288CA2F8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88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4CC05-E6BC-8624-BD06-73CE7A15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C5BC9F-0711-3125-78F6-1BA5634D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D3FE5F-FBD5-6394-87A7-5FC34D2F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C3E34D-AD1F-2211-E0BB-28D47EFC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52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5159F1-D8BC-1A65-990E-5CBBA8FD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049568-F6D6-AE35-E3F4-A851B1E8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53144B-A93F-C7E3-2A45-25607C81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53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CA64A-B980-AAB7-BD2B-73C8AB0C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BE5DC-EEC8-61C0-D466-6EB7E5020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54FB96-CC32-D233-7D36-4FDF3586E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984C09-1005-AED8-6948-729EE016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0CF3A6-0DA3-3A39-64FB-89367D99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DE9010-D195-5276-7A4D-14D9DC5E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8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9BC4E-B8DF-87B2-D5A2-3A6A47D84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C37C605-C052-0569-D7E6-8300EE7AC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17601B-2C5A-04D7-36F0-AD6DDD87A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8B4CBF-A46A-6BD0-5388-BA83D051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946274-6109-1ABA-074A-6658B376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14B44D-22E7-AA24-E3CA-0C9D332B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38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9B40B-0CFE-8E02-BB44-62B7E375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02E9C3-FDD3-C89D-DC01-35C0BEDC8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EA0BBE-32CF-26DE-D822-46BE01B7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C07A36-5EF9-EF99-F971-962B1782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7AB02D-F36D-3CF2-D213-CCD20109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04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FEE421-CCCA-7526-34FD-EE8EB2114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AAE513-C954-053E-9C82-40B7DAFC1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13705C-600A-5FA8-86C8-E338F288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C0E777-5A83-4940-B9C8-F97C812D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5B692-F531-B6D9-C8FB-8CDD2B35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466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3CF84F-B74B-223A-551B-3A04E04C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D24344-E46B-AD97-30BE-C8A575E26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BE92F0-5B17-A1A7-8C3C-9CBBF7CA5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F69B1-B256-47DD-9DE4-600BC0465AB6}" type="datetimeFigureOut">
              <a:rPr lang="de-DE" smtClean="0"/>
              <a:t>16.04.2024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A50BBC-0536-83A8-49AB-E551CF6D5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03048A-FFF5-CA2E-731A-88AD50833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F0C4B-D6F0-4A74-A13A-FAB37A3FFD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0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pyrad.readthedocs.io/en/master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70FA1-228D-EA54-3C03-EDC9D9F7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5EA098-059C-3A6B-7C62-70B6839FC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Activate WSL</a:t>
            </a:r>
          </a:p>
          <a:p>
            <a:r>
              <a:rPr lang="de-DE" dirty="0"/>
              <a:t>CLI </a:t>
            </a:r>
            <a:r>
              <a:rPr lang="de-DE" dirty="0" err="1"/>
              <a:t>introduction</a:t>
            </a:r>
            <a:endParaRPr lang="de-DE" dirty="0"/>
          </a:p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conda</a:t>
            </a:r>
            <a:endParaRPr lang="de-DE" dirty="0"/>
          </a:p>
          <a:p>
            <a:r>
              <a:rPr lang="de-DE" dirty="0"/>
              <a:t>Create </a:t>
            </a:r>
            <a:r>
              <a:rPr lang="de-DE" dirty="0" err="1"/>
              <a:t>conda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endParaRPr lang="de-DE" dirty="0"/>
          </a:p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neccessary</a:t>
            </a:r>
            <a:r>
              <a:rPr lang="de-DE" dirty="0"/>
              <a:t> </a:t>
            </a:r>
            <a:r>
              <a:rPr lang="de-DE" dirty="0" err="1"/>
              <a:t>programs</a:t>
            </a:r>
            <a:r>
              <a:rPr lang="de-DE" dirty="0"/>
              <a:t> via </a:t>
            </a:r>
            <a:r>
              <a:rPr lang="de-DE" dirty="0" err="1"/>
              <a:t>conda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57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7C343-35DE-93D5-03C6-BECFC527D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02" y="647208"/>
            <a:ext cx="10515600" cy="5637682"/>
          </a:xfrm>
        </p:spPr>
        <p:txBody>
          <a:bodyPr/>
          <a:lstStyle/>
          <a:p>
            <a:pPr marL="0" indent="0">
              <a:buNone/>
            </a:pPr>
            <a:r>
              <a:rPr lang="de-DE" sz="1800" dirty="0" err="1"/>
              <a:t>Which</a:t>
            </a:r>
            <a:r>
              <a:rPr lang="de-DE" sz="1800" dirty="0"/>
              <a:t> Operating System do I </a:t>
            </a:r>
            <a:r>
              <a:rPr lang="de-DE" sz="1800" dirty="0" err="1"/>
              <a:t>use</a:t>
            </a:r>
            <a:r>
              <a:rPr lang="de-DE" sz="1800" dirty="0"/>
              <a:t>?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Windows 10 </a:t>
            </a:r>
            <a:r>
              <a:rPr lang="de-DE" sz="1800" dirty="0" err="1"/>
              <a:t>or</a:t>
            </a:r>
            <a:r>
              <a:rPr lang="de-DE" sz="1800" dirty="0"/>
              <a:t> Windows 11?</a:t>
            </a:r>
          </a:p>
          <a:p>
            <a:pPr marL="0" indent="0">
              <a:buNone/>
            </a:pPr>
            <a:r>
              <a:rPr lang="de-DE" sz="1800" dirty="0" err="1"/>
              <a:t>If</a:t>
            </a:r>
            <a:r>
              <a:rPr lang="de-DE" sz="1800" dirty="0"/>
              <a:t>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don‘t</a:t>
            </a:r>
            <a:r>
              <a:rPr lang="de-DE" sz="1800" dirty="0"/>
              <a:t> </a:t>
            </a:r>
            <a:r>
              <a:rPr lang="de-DE" sz="1800" dirty="0" err="1"/>
              <a:t>know</a:t>
            </a:r>
            <a:r>
              <a:rPr lang="de-DE" sz="1800" dirty="0"/>
              <a:t>, type </a:t>
            </a:r>
            <a:r>
              <a:rPr lang="de-DE" sz="1800" i="1" dirty="0" err="1"/>
              <a:t>dxdiag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searchbar</a:t>
            </a:r>
            <a:r>
              <a:rPr lang="de-DE" sz="1800" dirty="0"/>
              <a:t> and </a:t>
            </a:r>
            <a:r>
              <a:rPr lang="de-DE" sz="1800" dirty="0" err="1"/>
              <a:t>execute</a:t>
            </a:r>
            <a:r>
              <a:rPr lang="de-DE" sz="1800" dirty="0"/>
              <a:t> it.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 descr="Ein Bild, das Text, Elektronik, Screenshot, Display enthält.&#10;&#10;Automatisch generierte Beschreibung">
            <a:extLst>
              <a:ext uri="{FF2B5EF4-FFF2-40B4-BE49-F238E27FC236}">
                <a16:creationId xmlns:a16="http://schemas.microsoft.com/office/drawing/2014/main" id="{4D61CE0B-435D-EDF1-E367-7D1DFD0A6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942" y="2349919"/>
            <a:ext cx="4620981" cy="337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3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B088F04D-1EEC-A8C1-8FD9-EF3D0D512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21" y="1374446"/>
            <a:ext cx="5804319" cy="4351338"/>
          </a:xfrm>
        </p:spPr>
      </p:pic>
      <p:pic>
        <p:nvPicPr>
          <p:cNvPr id="11" name="Grafik 10" descr="Ein Bild, das Text, Screenshot, Software, Multimedia enthält.&#10;&#10;Automatisch generierte Beschreibung">
            <a:extLst>
              <a:ext uri="{FF2B5EF4-FFF2-40B4-BE49-F238E27FC236}">
                <a16:creationId xmlns:a16="http://schemas.microsoft.com/office/drawing/2014/main" id="{A93BC5EA-468C-321C-E92A-A451BCB9E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410" y="2376104"/>
            <a:ext cx="4425594" cy="392791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82EFA1E-A34D-C4E6-E4D5-D9E7BABF214C}"/>
              </a:ext>
            </a:extLst>
          </p:cNvPr>
          <p:cNvSpPr txBox="1"/>
          <p:nvPr/>
        </p:nvSpPr>
        <p:spPr>
          <a:xfrm>
            <a:off x="356821" y="527368"/>
            <a:ext cx="453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Windows 10 Users </a:t>
            </a:r>
            <a:r>
              <a:rPr lang="de-DE" dirty="0" err="1"/>
              <a:t>only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86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Screensho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895ABC5E-9FB3-A818-14F6-F072FF298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1" y="1985734"/>
            <a:ext cx="4442433" cy="3387143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79A2AB0-A737-3010-4469-647D5BABB135}"/>
              </a:ext>
            </a:extLst>
          </p:cNvPr>
          <p:cNvSpPr txBox="1"/>
          <p:nvPr/>
        </p:nvSpPr>
        <p:spPr>
          <a:xfrm>
            <a:off x="431131" y="1339403"/>
            <a:ext cx="453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Search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Windows </a:t>
            </a:r>
            <a:r>
              <a:rPr lang="de-DE" dirty="0" err="1"/>
              <a:t>command</a:t>
            </a:r>
            <a:r>
              <a:rPr lang="de-DE" dirty="0"/>
              <a:t> prompt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typing</a:t>
            </a:r>
            <a:r>
              <a:rPr lang="de-DE" dirty="0"/>
              <a:t> </a:t>
            </a:r>
            <a:r>
              <a:rPr lang="de-DE" i="1" dirty="0" err="1"/>
              <a:t>cmd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bar.</a:t>
            </a:r>
          </a:p>
        </p:txBody>
      </p:sp>
      <p:pic>
        <p:nvPicPr>
          <p:cNvPr id="8" name="Grafik 7" descr="Ein Bild, das Text, Screensho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CE2E7CF3-3E54-76B7-78D0-10DD6F5F3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834" y="1148755"/>
            <a:ext cx="4971731" cy="260712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ECDE058-0A0A-B634-DE00-EF8098D5F854}"/>
              </a:ext>
            </a:extLst>
          </p:cNvPr>
          <p:cNvSpPr txBox="1"/>
          <p:nvPr/>
        </p:nvSpPr>
        <p:spPr>
          <a:xfrm>
            <a:off x="6096000" y="779423"/>
            <a:ext cx="453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something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…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5CDE840-A124-119D-BC5C-77612FE234B1}"/>
              </a:ext>
            </a:extLst>
          </p:cNvPr>
          <p:cNvSpPr txBox="1"/>
          <p:nvPr/>
        </p:nvSpPr>
        <p:spPr>
          <a:xfrm>
            <a:off x="5056604" y="4026538"/>
            <a:ext cx="6394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Windows 11 Users just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type </a:t>
            </a:r>
            <a:r>
              <a:rPr lang="de-DE" i="1" dirty="0"/>
              <a:t>wsl.exe --</a:t>
            </a:r>
            <a:r>
              <a:rPr lang="de-DE" i="1" dirty="0" err="1"/>
              <a:t>install</a:t>
            </a:r>
            <a:r>
              <a:rPr lang="de-DE" i="1" dirty="0"/>
              <a:t> </a:t>
            </a:r>
            <a:r>
              <a:rPr lang="de-DE" dirty="0"/>
              <a:t>and follow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instructions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Just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type </a:t>
            </a:r>
            <a:r>
              <a:rPr lang="de-DE" i="1" dirty="0" err="1"/>
              <a:t>wsl</a:t>
            </a:r>
            <a:r>
              <a:rPr lang="de-DE" i="1" dirty="0"/>
              <a:t> --update </a:t>
            </a:r>
            <a:r>
              <a:rPr lang="de-DE" dirty="0"/>
              <a:t>after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installation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finished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Windows 10 Users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i="1" dirty="0" err="1"/>
              <a:t>wsl</a:t>
            </a:r>
            <a:r>
              <a:rPr lang="de-DE" i="1" dirty="0"/>
              <a:t> --set-default-version 2 </a:t>
            </a:r>
            <a:r>
              <a:rPr lang="de-DE" dirty="0" err="1"/>
              <a:t>afterwards</a:t>
            </a:r>
            <a:r>
              <a:rPr lang="de-DE" dirty="0"/>
              <a:t>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B9BEA30-0D51-6F77-B0B4-5C76A04D93F7}"/>
              </a:ext>
            </a:extLst>
          </p:cNvPr>
          <p:cNvSpPr txBox="1"/>
          <p:nvPr/>
        </p:nvSpPr>
        <p:spPr>
          <a:xfrm>
            <a:off x="476890" y="594757"/>
            <a:ext cx="453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Windows 10 + 11 Users</a:t>
            </a:r>
          </a:p>
        </p:txBody>
      </p:sp>
    </p:spTree>
    <p:extLst>
      <p:ext uri="{BB962C8B-B14F-4D97-AF65-F5344CB8AC3E}">
        <p14:creationId xmlns:p14="http://schemas.microsoft.com/office/powerpoint/2010/main" val="204554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F9DD85-ABC9-41B9-B3F2-5D4B5231E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582" y="2847380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/>
              <a:t>Reboot </a:t>
            </a:r>
            <a:r>
              <a:rPr lang="de-DE" dirty="0" err="1"/>
              <a:t>your</a:t>
            </a:r>
            <a:r>
              <a:rPr lang="de-DE" dirty="0"/>
              <a:t> PC</a:t>
            </a:r>
          </a:p>
        </p:txBody>
      </p:sp>
    </p:spTree>
    <p:extLst>
      <p:ext uri="{BB962C8B-B14F-4D97-AF65-F5344CB8AC3E}">
        <p14:creationId xmlns:p14="http://schemas.microsoft.com/office/powerpoint/2010/main" val="27891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Software, Multimedia-Software, Schrift enthält.&#10;&#10;Automatisch generierte Beschreibung">
            <a:extLst>
              <a:ext uri="{FF2B5EF4-FFF2-40B4-BE49-F238E27FC236}">
                <a16:creationId xmlns:a16="http://schemas.microsoft.com/office/drawing/2014/main" id="{0751D195-57C1-9DE1-97F3-7C89C62C6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3" y="2126938"/>
            <a:ext cx="6546478" cy="1327981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7AE230D-E6E2-FDC9-82CF-9F2BFB64E923}"/>
              </a:ext>
            </a:extLst>
          </p:cNvPr>
          <p:cNvSpPr txBox="1"/>
          <p:nvPr/>
        </p:nvSpPr>
        <p:spPr>
          <a:xfrm>
            <a:off x="395682" y="806355"/>
            <a:ext cx="6717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After </a:t>
            </a:r>
            <a:r>
              <a:rPr lang="de-DE" dirty="0" err="1"/>
              <a:t>the</a:t>
            </a:r>
            <a:r>
              <a:rPr lang="de-DE" dirty="0"/>
              <a:t> reboot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, open </a:t>
            </a:r>
            <a:r>
              <a:rPr lang="de-DE" dirty="0" err="1"/>
              <a:t>you</a:t>
            </a:r>
            <a:r>
              <a:rPr lang="de-DE" dirty="0"/>
              <a:t> Windows </a:t>
            </a:r>
            <a:r>
              <a:rPr lang="de-DE" dirty="0" err="1"/>
              <a:t>command</a:t>
            </a:r>
            <a:r>
              <a:rPr lang="de-DE" dirty="0"/>
              <a:t> prompt </a:t>
            </a:r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typing</a:t>
            </a:r>
            <a:r>
              <a:rPr lang="de-DE" dirty="0"/>
              <a:t> </a:t>
            </a:r>
            <a:r>
              <a:rPr lang="de-DE" dirty="0" err="1"/>
              <a:t>cmd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bar.</a:t>
            </a:r>
          </a:p>
          <a:p>
            <a:endParaRPr lang="de-DE" dirty="0"/>
          </a:p>
          <a:p>
            <a:r>
              <a:rPr lang="de-DE" dirty="0" err="1"/>
              <a:t>Then</a:t>
            </a:r>
            <a:r>
              <a:rPr lang="de-DE" dirty="0"/>
              <a:t>, type </a:t>
            </a:r>
            <a:r>
              <a:rPr lang="de-DE" i="1" dirty="0"/>
              <a:t>bash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Linux </a:t>
            </a:r>
            <a:r>
              <a:rPr lang="de-DE" dirty="0" err="1"/>
              <a:t>command</a:t>
            </a:r>
            <a:r>
              <a:rPr lang="de-DE" dirty="0"/>
              <a:t> prompt.</a:t>
            </a:r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B013FD5-99DC-29D9-5CDF-1A6C95598FC1}"/>
              </a:ext>
            </a:extLst>
          </p:cNvPr>
          <p:cNvSpPr txBox="1"/>
          <p:nvPr/>
        </p:nvSpPr>
        <p:spPr>
          <a:xfrm>
            <a:off x="395683" y="3604266"/>
            <a:ext cx="6717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Your</a:t>
            </a:r>
            <a:r>
              <a:rPr lang="de-DE" dirty="0"/>
              <a:t> Interface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endParaRPr lang="de-DE" dirty="0"/>
          </a:p>
        </p:txBody>
      </p:sp>
      <p:pic>
        <p:nvPicPr>
          <p:cNvPr id="12" name="Grafik 11" descr="Ein Bild, das Text, Screensho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A314A8D3-A868-3CE1-E2B4-4373E6F3F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327" y="3108791"/>
            <a:ext cx="6899268" cy="314517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F2D61C0-B89A-3F8A-D137-392CE097B4E3}"/>
              </a:ext>
            </a:extLst>
          </p:cNvPr>
          <p:cNvSpPr txBox="1"/>
          <p:nvPr/>
        </p:nvSpPr>
        <p:spPr>
          <a:xfrm>
            <a:off x="88063" y="5128315"/>
            <a:ext cx="493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Update and upgrade </a:t>
            </a:r>
            <a:r>
              <a:rPr lang="de-DE" dirty="0" err="1"/>
              <a:t>your</a:t>
            </a:r>
            <a:r>
              <a:rPr lang="de-DE" dirty="0"/>
              <a:t> Linux-Subsystem via </a:t>
            </a:r>
          </a:p>
          <a:p>
            <a:r>
              <a:rPr lang="de-DE" i="1" dirty="0" err="1"/>
              <a:t>sudo</a:t>
            </a:r>
            <a:r>
              <a:rPr lang="de-DE" i="1" dirty="0"/>
              <a:t> </a:t>
            </a:r>
            <a:r>
              <a:rPr lang="de-DE" i="1" dirty="0" err="1"/>
              <a:t>apt-get</a:t>
            </a:r>
            <a:r>
              <a:rPr lang="de-DE" i="1" dirty="0"/>
              <a:t> update &amp;&amp; </a:t>
            </a:r>
            <a:r>
              <a:rPr lang="de-DE" i="1" dirty="0" err="1"/>
              <a:t>sudo</a:t>
            </a:r>
            <a:r>
              <a:rPr lang="de-DE" i="1" dirty="0"/>
              <a:t> </a:t>
            </a:r>
            <a:r>
              <a:rPr lang="de-DE" i="1" dirty="0" err="1"/>
              <a:t>apt-get</a:t>
            </a:r>
            <a:r>
              <a:rPr lang="de-DE" i="1" dirty="0"/>
              <a:t> upgrade 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717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7AE230D-E6E2-FDC9-82CF-9F2BFB64E923}"/>
              </a:ext>
            </a:extLst>
          </p:cNvPr>
          <p:cNvSpPr txBox="1"/>
          <p:nvPr/>
        </p:nvSpPr>
        <p:spPr>
          <a:xfrm>
            <a:off x="345641" y="806355"/>
            <a:ext cx="67170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Command Line Interface (CLI)</a:t>
            </a:r>
          </a:p>
          <a:p>
            <a:endParaRPr lang="de-DE" i="1" dirty="0"/>
          </a:p>
          <a:p>
            <a:r>
              <a:rPr lang="de-DE" i="1" dirty="0"/>
              <a:t>The CLI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‚</a:t>
            </a:r>
            <a:r>
              <a:rPr lang="de-DE" dirty="0" err="1"/>
              <a:t>opposite</a:t>
            </a:r>
            <a:r>
              <a:rPr lang="de-DE" dirty="0"/>
              <a:t>‘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i="1" dirty="0" err="1"/>
              <a:t>Graphical</a:t>
            </a:r>
            <a:r>
              <a:rPr lang="de-DE" i="1" dirty="0"/>
              <a:t> User Interface (GUI)</a:t>
            </a:r>
          </a:p>
          <a:p>
            <a:endParaRPr lang="de-DE" i="1" dirty="0"/>
          </a:p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interaction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and a </a:t>
            </a:r>
            <a:r>
              <a:rPr lang="de-DE" dirty="0" err="1"/>
              <a:t>programm</a:t>
            </a:r>
            <a:r>
              <a:rPr lang="de-DE" dirty="0"/>
              <a:t> via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The CLI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in bash and </a:t>
            </a:r>
            <a:r>
              <a:rPr lang="de-DE" dirty="0" err="1"/>
              <a:t>uses</a:t>
            </a:r>
            <a:r>
              <a:rPr lang="de-DE" dirty="0"/>
              <a:t> UNIX/LINUX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language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find </a:t>
            </a:r>
            <a:r>
              <a:rPr lang="de-DE" dirty="0" err="1"/>
              <a:t>many</a:t>
            </a:r>
            <a:r>
              <a:rPr lang="de-DE" dirty="0"/>
              <a:t> „</a:t>
            </a:r>
            <a:r>
              <a:rPr lang="de-DE" dirty="0" err="1"/>
              <a:t>cheat</a:t>
            </a:r>
            <a:r>
              <a:rPr lang="de-DE" dirty="0"/>
              <a:t> </a:t>
            </a:r>
            <a:r>
              <a:rPr lang="de-DE" dirty="0" err="1"/>
              <a:t>sheets</a:t>
            </a:r>
            <a:r>
              <a:rPr lang="de-DE" dirty="0"/>
              <a:t>“ </a:t>
            </a:r>
            <a:r>
              <a:rPr lang="de-DE" dirty="0" err="1"/>
              <a:t>listing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UNIX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doing</a:t>
            </a:r>
            <a:r>
              <a:rPr lang="de-DE" dirty="0"/>
              <a:t> a simple </a:t>
            </a:r>
            <a:r>
              <a:rPr lang="de-DE" dirty="0" err="1"/>
              <a:t>google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</a:p>
          <a:p>
            <a:endParaRPr lang="de-DE" i="1" dirty="0"/>
          </a:p>
          <a:p>
            <a:endParaRPr lang="de-DE" dirty="0"/>
          </a:p>
        </p:txBody>
      </p:sp>
      <p:pic>
        <p:nvPicPr>
          <p:cNvPr id="3" name="Grafik 2" descr="Ein Bild, das Text, Zahl, Quittung, Schrift enthält.&#10;&#10;Automatisch generierte Beschreibung">
            <a:extLst>
              <a:ext uri="{FF2B5EF4-FFF2-40B4-BE49-F238E27FC236}">
                <a16:creationId xmlns:a16="http://schemas.microsoft.com/office/drawing/2014/main" id="{118AC14C-3FEA-C618-E3A2-7BFC5F72A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521" y="568651"/>
            <a:ext cx="4642457" cy="559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2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7AE230D-E6E2-FDC9-82CF-9F2BFB64E923}"/>
              </a:ext>
            </a:extLst>
          </p:cNvPr>
          <p:cNvSpPr txBox="1"/>
          <p:nvPr/>
        </p:nvSpPr>
        <p:spPr>
          <a:xfrm>
            <a:off x="345641" y="806355"/>
            <a:ext cx="67170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</a:p>
          <a:p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Open bash</a:t>
            </a:r>
          </a:p>
          <a:p>
            <a:pPr marL="342900" indent="-342900">
              <a:buAutoNum type="arabicPeriod"/>
            </a:pPr>
            <a:r>
              <a:rPr lang="de-DE" dirty="0"/>
              <a:t>Access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Navigate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Desktop</a:t>
            </a:r>
          </a:p>
          <a:p>
            <a:pPr marL="342900" indent="-342900">
              <a:buAutoNum type="arabicPeriod"/>
            </a:pPr>
            <a:r>
              <a:rPr lang="de-DE" dirty="0"/>
              <a:t>Create a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i="1" dirty="0" err="1"/>
              <a:t>bioinformatics</a:t>
            </a:r>
            <a:endParaRPr lang="de-DE" i="1" dirty="0"/>
          </a:p>
          <a:p>
            <a:pPr marL="342900" indent="-342900">
              <a:buAutoNum type="arabicPeriod"/>
            </a:pPr>
            <a:r>
              <a:rPr lang="de-DE" dirty="0"/>
              <a:t>Change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Open a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editor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choice</a:t>
            </a:r>
            <a:r>
              <a:rPr lang="de-DE" dirty="0"/>
              <a:t> (</a:t>
            </a:r>
            <a:r>
              <a:rPr lang="de-DE" dirty="0" err="1"/>
              <a:t>recommendation</a:t>
            </a:r>
            <a:r>
              <a:rPr lang="de-DE" dirty="0"/>
              <a:t>: </a:t>
            </a:r>
            <a:r>
              <a:rPr lang="de-DE" i="1" dirty="0" err="1"/>
              <a:t>nano</a:t>
            </a:r>
            <a:r>
              <a:rPr lang="de-DE" dirty="0"/>
              <a:t>)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typing</a:t>
            </a:r>
            <a:r>
              <a:rPr lang="de-DE" dirty="0"/>
              <a:t> </a:t>
            </a:r>
            <a:r>
              <a:rPr lang="de-DE" i="1" dirty="0" err="1"/>
              <a:t>nano</a:t>
            </a:r>
            <a:endParaRPr lang="de-DE" i="1" dirty="0"/>
          </a:p>
          <a:p>
            <a:pPr marL="342900" indent="-342900">
              <a:buAutoNum type="arabicPeriod"/>
            </a:pPr>
            <a:r>
              <a:rPr lang="de-DE" dirty="0"/>
              <a:t>Write</a:t>
            </a:r>
            <a:r>
              <a:rPr lang="de-DE" i="1" dirty="0"/>
              <a:t> </a:t>
            </a:r>
            <a:r>
              <a:rPr lang="de-DE" i="1" dirty="0" err="1"/>
              <a:t>hello</a:t>
            </a:r>
            <a:r>
              <a:rPr lang="de-DE" i="1" dirty="0"/>
              <a:t> </a:t>
            </a:r>
            <a:r>
              <a:rPr lang="de-DE" i="1" dirty="0" err="1"/>
              <a:t>world</a:t>
            </a:r>
            <a:r>
              <a:rPr lang="de-DE" i="1" dirty="0"/>
              <a:t>!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editor</a:t>
            </a:r>
            <a:r>
              <a:rPr lang="de-DE" dirty="0"/>
              <a:t> and save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i="1" dirty="0"/>
              <a:t>.</a:t>
            </a:r>
            <a:r>
              <a:rPr lang="de-DE" i="1" dirty="0" err="1"/>
              <a:t>txt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3" name="Grafik 2" descr="Ein Bild, das Text, Zahl, Quittung, Schrift enthält.&#10;&#10;Automatisch generierte Beschreibung">
            <a:extLst>
              <a:ext uri="{FF2B5EF4-FFF2-40B4-BE49-F238E27FC236}">
                <a16:creationId xmlns:a16="http://schemas.microsoft.com/office/drawing/2014/main" id="{118AC14C-3FEA-C618-E3A2-7BFC5F72A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521" y="568651"/>
            <a:ext cx="4642457" cy="559715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8CB4A74-3358-4463-AD30-FC93D745B7F7}"/>
              </a:ext>
            </a:extLst>
          </p:cNvPr>
          <p:cNvSpPr txBox="1"/>
          <p:nvPr/>
        </p:nvSpPr>
        <p:spPr>
          <a:xfrm>
            <a:off x="667613" y="4429737"/>
            <a:ext cx="4413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But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programms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bioinformatical</a:t>
            </a:r>
            <a:r>
              <a:rPr lang="de-DE" dirty="0"/>
              <a:t> </a:t>
            </a:r>
            <a:r>
              <a:rPr lang="de-DE" dirty="0" err="1"/>
              <a:t>analyses</a:t>
            </a:r>
            <a:r>
              <a:rPr lang="de-DE" dirty="0"/>
              <a:t>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218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B9434AE-86D1-4587-D9C5-45C033FAE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76" y="841762"/>
            <a:ext cx="3370598" cy="18959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BC87EA6-F516-1644-1684-F620631AC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1127" y="1339581"/>
            <a:ext cx="1984120" cy="1537419"/>
          </a:xfrm>
          <a:prstGeom prst="rect">
            <a:avLst/>
          </a:prstGeom>
        </p:spPr>
      </p:pic>
      <p:pic>
        <p:nvPicPr>
          <p:cNvPr id="10" name="Grafik 9" descr="Ein Bild, das Grafiken, Schrift, Grafikdesign, Logo enthält.&#10;&#10;Automatisch generierte Beschreibung">
            <a:extLst>
              <a:ext uri="{FF2B5EF4-FFF2-40B4-BE49-F238E27FC236}">
                <a16:creationId xmlns:a16="http://schemas.microsoft.com/office/drawing/2014/main" id="{76EEA5BA-79F2-7A98-2513-E6CBE27D0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98" y="3862837"/>
            <a:ext cx="5686634" cy="1179533"/>
          </a:xfrm>
          <a:prstGeom prst="rect">
            <a:avLst/>
          </a:prstGeom>
        </p:spPr>
      </p:pic>
      <p:pic>
        <p:nvPicPr>
          <p:cNvPr id="12" name="Grafik 11" descr="Ein Bild, das Schrift, Grafiken, Typografie, Design enthält.&#10;&#10;Automatisch generierte Beschreibung">
            <a:extLst>
              <a:ext uri="{FF2B5EF4-FFF2-40B4-BE49-F238E27FC236}">
                <a16:creationId xmlns:a16="http://schemas.microsoft.com/office/drawing/2014/main" id="{BE3FCF2D-3685-99C2-CFF2-52640ECECA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010" y="3429000"/>
            <a:ext cx="4169604" cy="2672439"/>
          </a:xfrm>
          <a:prstGeom prst="rect">
            <a:avLst/>
          </a:prstGeom>
        </p:spPr>
      </p:pic>
      <p:pic>
        <p:nvPicPr>
          <p:cNvPr id="14" name="Grafik 13" descr="Ein Bild, das Grafiken, Schrift, Kreis, Grafikdesign enthält.&#10;&#10;Automatisch generierte Beschreibung">
            <a:extLst>
              <a:ext uri="{FF2B5EF4-FFF2-40B4-BE49-F238E27FC236}">
                <a16:creationId xmlns:a16="http://schemas.microsoft.com/office/drawing/2014/main" id="{943A23C2-C171-1983-18A8-BF8EE85C26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233" y="359742"/>
            <a:ext cx="2363934" cy="27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0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Grafiken, Schrift, Grafikdesign, Logo enthält.&#10;&#10;Automatisch generierte Beschreibung">
            <a:extLst>
              <a:ext uri="{FF2B5EF4-FFF2-40B4-BE49-F238E27FC236}">
                <a16:creationId xmlns:a16="http://schemas.microsoft.com/office/drawing/2014/main" id="{76EEA5BA-79F2-7A98-2513-E6CBE27D0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98" y="3862837"/>
            <a:ext cx="5686634" cy="117953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E8C94DB-CE87-24D4-F903-60532053A062}"/>
              </a:ext>
            </a:extLst>
          </p:cNvPr>
          <p:cNvSpPr txBox="1"/>
          <p:nvPr/>
        </p:nvSpPr>
        <p:spPr>
          <a:xfrm>
            <a:off x="326180" y="955342"/>
            <a:ext cx="4929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Advantages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Conda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Open-source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Cross-</a:t>
            </a:r>
            <a:r>
              <a:rPr lang="de-DE" dirty="0" err="1"/>
              <a:t>platform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Supports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languages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endParaRPr lang="de-DE" dirty="0"/>
          </a:p>
        </p:txBody>
      </p:sp>
      <p:pic>
        <p:nvPicPr>
          <p:cNvPr id="4" name="Grafik 3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D5756178-034F-C911-633B-D623777B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225" y="422293"/>
            <a:ext cx="6433595" cy="242553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FE13F09-9AF4-6E88-3A7F-81CDAD05E4E9}"/>
              </a:ext>
            </a:extLst>
          </p:cNvPr>
          <p:cNvSpPr txBox="1"/>
          <p:nvPr/>
        </p:nvSpPr>
        <p:spPr>
          <a:xfrm>
            <a:off x="6759775" y="3191612"/>
            <a:ext cx="49296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versions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Anaconda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Miniconda</a:t>
            </a:r>
            <a:endParaRPr lang="de-DE" dirty="0"/>
          </a:p>
          <a:p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Anaconda</a:t>
            </a:r>
            <a:r>
              <a:rPr lang="de-DE" dirty="0"/>
              <a:t> </a:t>
            </a:r>
            <a:r>
              <a:rPr lang="de-DE" dirty="0" err="1"/>
              <a:t>installs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unnecessary</a:t>
            </a:r>
            <a:r>
              <a:rPr lang="de-DE" dirty="0"/>
              <a:t> </a:t>
            </a:r>
            <a:r>
              <a:rPr lang="de-DE" dirty="0" err="1"/>
              <a:t>junk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Miniconda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405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2AED5-8815-6039-321F-61C893FD6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704" y="422312"/>
            <a:ext cx="5180463" cy="57068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800" dirty="0" err="1"/>
              <a:t>Important</a:t>
            </a:r>
            <a:r>
              <a:rPr lang="de-DE" sz="1800" dirty="0"/>
              <a:t> </a:t>
            </a: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commands</a:t>
            </a:r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u="sng" dirty="0"/>
              <a:t>#create a </a:t>
            </a:r>
            <a:r>
              <a:rPr lang="de-DE" sz="1800" u="sng" dirty="0" err="1"/>
              <a:t>new</a:t>
            </a:r>
            <a:r>
              <a:rPr lang="de-DE" sz="1800" u="sng" dirty="0"/>
              <a:t> </a:t>
            </a:r>
            <a:r>
              <a:rPr lang="de-DE" sz="1800" u="sng" dirty="0" err="1"/>
              <a:t>conda</a:t>
            </a:r>
            <a:r>
              <a:rPr lang="de-DE" sz="1800" u="sng" dirty="0"/>
              <a:t> </a:t>
            </a:r>
            <a:r>
              <a:rPr lang="de-DE" sz="1800" u="sng" dirty="0" err="1"/>
              <a:t>environment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create</a:t>
            </a:r>
            <a:r>
              <a:rPr lang="de-DE" sz="1800" dirty="0"/>
              <a:t> –n [</a:t>
            </a:r>
            <a:r>
              <a:rPr lang="de-DE" sz="1800" dirty="0" err="1"/>
              <a:t>envname</a:t>
            </a:r>
            <a:r>
              <a:rPr lang="de-DE" sz="1800" dirty="0"/>
              <a:t>]</a:t>
            </a:r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activate</a:t>
            </a:r>
            <a:r>
              <a:rPr lang="de-DE" sz="1800" u="sng" dirty="0"/>
              <a:t> an </a:t>
            </a:r>
            <a:r>
              <a:rPr lang="de-DE" sz="1800" u="sng" dirty="0" err="1"/>
              <a:t>environment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activate</a:t>
            </a:r>
            <a:r>
              <a:rPr lang="de-DE" sz="1800" dirty="0"/>
              <a:t> [</a:t>
            </a:r>
            <a:r>
              <a:rPr lang="de-DE" sz="1800" dirty="0" err="1"/>
              <a:t>envname</a:t>
            </a:r>
            <a:r>
              <a:rPr lang="de-DE" sz="1800" dirty="0"/>
              <a:t>]</a:t>
            </a:r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deactivate</a:t>
            </a:r>
            <a:r>
              <a:rPr lang="de-DE" sz="1800" u="sng" dirty="0"/>
              <a:t> </a:t>
            </a:r>
            <a:r>
              <a:rPr lang="de-DE" sz="1800" u="sng" dirty="0" err="1"/>
              <a:t>the</a:t>
            </a:r>
            <a:r>
              <a:rPr lang="de-DE" sz="1800" u="sng" dirty="0"/>
              <a:t> </a:t>
            </a:r>
            <a:r>
              <a:rPr lang="de-DE" sz="1800" u="sng" dirty="0" err="1"/>
              <a:t>most</a:t>
            </a:r>
            <a:r>
              <a:rPr lang="de-DE" sz="1800" u="sng" dirty="0"/>
              <a:t> </a:t>
            </a:r>
            <a:r>
              <a:rPr lang="de-DE" sz="1800" u="sng" dirty="0" err="1"/>
              <a:t>recently</a:t>
            </a:r>
            <a:r>
              <a:rPr lang="de-DE" sz="1800" u="sng" dirty="0"/>
              <a:t> </a:t>
            </a:r>
            <a:r>
              <a:rPr lang="de-DE" sz="1800" u="sng" dirty="0" err="1"/>
              <a:t>activated</a:t>
            </a:r>
            <a:r>
              <a:rPr lang="de-DE" sz="1800" u="sng" dirty="0"/>
              <a:t> </a:t>
            </a:r>
            <a:r>
              <a:rPr lang="de-DE" sz="1800" u="sng" dirty="0" err="1"/>
              <a:t>environment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deactivate</a:t>
            </a:r>
            <a:endParaRPr lang="de-DE" sz="1800" dirty="0"/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install</a:t>
            </a:r>
            <a:r>
              <a:rPr lang="de-DE" sz="1800" u="sng" dirty="0"/>
              <a:t> </a:t>
            </a:r>
            <a:r>
              <a:rPr lang="de-DE" sz="1800" u="sng" dirty="0" err="1"/>
              <a:t>package</a:t>
            </a:r>
            <a:r>
              <a:rPr lang="de-DE" sz="1800" u="sng" dirty="0"/>
              <a:t>/</a:t>
            </a:r>
            <a:r>
              <a:rPr lang="de-DE" sz="1800" u="sng" dirty="0" err="1"/>
              <a:t>tool</a:t>
            </a:r>
            <a:r>
              <a:rPr lang="de-DE" sz="1800" u="sng" dirty="0"/>
              <a:t>/</a:t>
            </a:r>
            <a:r>
              <a:rPr lang="de-DE" sz="1800" u="sng" dirty="0" err="1"/>
              <a:t>programm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install</a:t>
            </a:r>
            <a:r>
              <a:rPr lang="de-DE" sz="1800" dirty="0"/>
              <a:t> [</a:t>
            </a:r>
            <a:r>
              <a:rPr lang="de-DE" sz="1800" dirty="0" err="1"/>
              <a:t>packagename</a:t>
            </a:r>
            <a:r>
              <a:rPr lang="de-DE" sz="1800" dirty="0"/>
              <a:t>] –c [</a:t>
            </a:r>
            <a:r>
              <a:rPr lang="de-DE" sz="1800" dirty="0" err="1"/>
              <a:t>channelname</a:t>
            </a:r>
            <a:r>
              <a:rPr lang="de-DE" sz="1800" dirty="0"/>
              <a:t>]</a:t>
            </a:r>
          </a:p>
          <a:p>
            <a:pPr marL="0" indent="0">
              <a:buNone/>
            </a:pPr>
            <a:r>
              <a:rPr lang="de-DE" sz="1800" dirty="0"/>
              <a:t>-</a:t>
            </a:r>
            <a:r>
              <a:rPr lang="de-DE" sz="1800" dirty="0" err="1"/>
              <a:t>or</a:t>
            </a:r>
            <a:r>
              <a:rPr lang="de-DE" sz="1800" dirty="0"/>
              <a:t>-</a:t>
            </a:r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install</a:t>
            </a:r>
            <a:r>
              <a:rPr lang="de-DE" sz="1800" dirty="0"/>
              <a:t> [</a:t>
            </a:r>
            <a:r>
              <a:rPr lang="de-DE" sz="1800" dirty="0" err="1"/>
              <a:t>channelname</a:t>
            </a:r>
            <a:r>
              <a:rPr lang="de-DE" sz="1800" dirty="0"/>
              <a:t>]::[</a:t>
            </a:r>
            <a:r>
              <a:rPr lang="de-DE" sz="1800" dirty="0" err="1"/>
              <a:t>packagename</a:t>
            </a:r>
            <a:r>
              <a:rPr lang="de-DE" sz="1800" dirty="0"/>
              <a:t>]</a:t>
            </a:r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list</a:t>
            </a:r>
            <a:r>
              <a:rPr lang="de-DE" sz="1800" u="sng" dirty="0"/>
              <a:t> </a:t>
            </a:r>
            <a:r>
              <a:rPr lang="de-DE" sz="1800" u="sng" dirty="0" err="1"/>
              <a:t>contents</a:t>
            </a:r>
            <a:r>
              <a:rPr lang="de-DE" sz="1800" u="sng" dirty="0"/>
              <a:t> </a:t>
            </a:r>
            <a:r>
              <a:rPr lang="de-DE" sz="1800" u="sng" dirty="0" err="1"/>
              <a:t>of</a:t>
            </a:r>
            <a:r>
              <a:rPr lang="de-DE" sz="1800" u="sng" dirty="0"/>
              <a:t> </a:t>
            </a:r>
            <a:r>
              <a:rPr lang="de-DE" sz="1800" u="sng" dirty="0" err="1"/>
              <a:t>currently</a:t>
            </a:r>
            <a:r>
              <a:rPr lang="de-DE" sz="1800" u="sng" dirty="0"/>
              <a:t> </a:t>
            </a:r>
            <a:r>
              <a:rPr lang="de-DE" sz="1800" u="sng" dirty="0" err="1"/>
              <a:t>activated</a:t>
            </a:r>
            <a:r>
              <a:rPr lang="de-DE" sz="1800" u="sng" dirty="0"/>
              <a:t> </a:t>
            </a:r>
            <a:r>
              <a:rPr lang="de-DE" sz="1800" u="sng" dirty="0" err="1"/>
              <a:t>environment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list</a:t>
            </a:r>
            <a:endParaRPr lang="de-DE" sz="1800" dirty="0"/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list</a:t>
            </a:r>
            <a:r>
              <a:rPr lang="de-DE" sz="1800" u="sng" dirty="0"/>
              <a:t> all user-</a:t>
            </a:r>
            <a:r>
              <a:rPr lang="de-DE" sz="1800" u="sng" dirty="0" err="1"/>
              <a:t>created</a:t>
            </a:r>
            <a:r>
              <a:rPr lang="de-DE" sz="1800" u="sng" dirty="0"/>
              <a:t> </a:t>
            </a:r>
            <a:r>
              <a:rPr lang="de-DE" sz="1800" u="sng" dirty="0" err="1"/>
              <a:t>environments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env</a:t>
            </a:r>
            <a:r>
              <a:rPr lang="de-DE" sz="1800" dirty="0"/>
              <a:t> </a:t>
            </a:r>
            <a:r>
              <a:rPr lang="de-DE" sz="1800" dirty="0" err="1"/>
              <a:t>list</a:t>
            </a:r>
            <a:endParaRPr lang="de-DE" sz="1800" dirty="0"/>
          </a:p>
          <a:p>
            <a:pPr marL="0" indent="0">
              <a:buNone/>
            </a:pPr>
            <a:r>
              <a:rPr lang="de-DE" sz="1800" u="sng" dirty="0"/>
              <a:t># </a:t>
            </a:r>
            <a:r>
              <a:rPr lang="de-DE" sz="1800" u="sng" dirty="0" err="1"/>
              <a:t>remove</a:t>
            </a:r>
            <a:r>
              <a:rPr lang="de-DE" sz="1800" u="sng" dirty="0"/>
              <a:t> </a:t>
            </a:r>
            <a:r>
              <a:rPr lang="de-DE" sz="1800" u="sng" dirty="0" err="1"/>
              <a:t>environment</a:t>
            </a:r>
            <a:r>
              <a:rPr lang="de-DE" sz="1800" u="sng" dirty="0"/>
              <a:t> and all </a:t>
            </a:r>
            <a:r>
              <a:rPr lang="de-DE" sz="1800" u="sng" dirty="0" err="1"/>
              <a:t>of</a:t>
            </a:r>
            <a:r>
              <a:rPr lang="de-DE" sz="1800" u="sng" dirty="0"/>
              <a:t> </a:t>
            </a:r>
            <a:r>
              <a:rPr lang="de-DE" sz="1800" u="sng" dirty="0" err="1"/>
              <a:t>it‘s</a:t>
            </a:r>
            <a:r>
              <a:rPr lang="de-DE" sz="1800" u="sng" dirty="0"/>
              <a:t> </a:t>
            </a:r>
            <a:r>
              <a:rPr lang="de-DE" sz="1800" u="sng" dirty="0" err="1"/>
              <a:t>content</a:t>
            </a:r>
            <a:endParaRPr lang="de-DE" sz="1800" u="sng" dirty="0"/>
          </a:p>
          <a:p>
            <a:pPr marL="0" indent="0">
              <a:buNone/>
            </a:pP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remove</a:t>
            </a:r>
            <a:r>
              <a:rPr lang="de-DE" sz="1800" dirty="0"/>
              <a:t> –n [</a:t>
            </a:r>
            <a:r>
              <a:rPr lang="de-DE" sz="1800" dirty="0" err="1"/>
              <a:t>envname</a:t>
            </a:r>
            <a:r>
              <a:rPr lang="de-DE" sz="1800" dirty="0"/>
              <a:t>] --all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9A2BDD5-EB9E-BCEA-C1EE-F4E9BBBD193D}"/>
              </a:ext>
            </a:extLst>
          </p:cNvPr>
          <p:cNvSpPr txBox="1">
            <a:spLocks/>
          </p:cNvSpPr>
          <p:nvPr/>
        </p:nvSpPr>
        <p:spPr>
          <a:xfrm>
            <a:off x="5869675" y="422312"/>
            <a:ext cx="4859741" cy="633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/>
              <a:t>Best </a:t>
            </a:r>
            <a:r>
              <a:rPr lang="de-DE" sz="1800" dirty="0" err="1"/>
              <a:t>practices</a:t>
            </a:r>
            <a:endParaRPr lang="de-DE" sz="1800" dirty="0"/>
          </a:p>
          <a:p>
            <a:pPr marL="0" indent="0">
              <a:buFont typeface="Arial" panose="020B0604020202020204" pitchFamily="34" charset="0"/>
              <a:buNone/>
            </a:pPr>
            <a:endParaRPr lang="de-DE" sz="1800" dirty="0"/>
          </a:p>
          <a:p>
            <a:r>
              <a:rPr lang="de-DE" sz="1800" dirty="0"/>
              <a:t>Every </a:t>
            </a:r>
            <a:r>
              <a:rPr lang="de-DE" sz="1800" dirty="0" err="1"/>
              <a:t>tool</a:t>
            </a:r>
            <a:r>
              <a:rPr lang="de-DE" sz="1800" dirty="0"/>
              <a:t>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want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use</a:t>
            </a:r>
            <a:r>
              <a:rPr lang="de-DE" sz="1800" dirty="0"/>
              <a:t> </a:t>
            </a:r>
            <a:r>
              <a:rPr lang="de-DE" sz="1800" dirty="0" err="1"/>
              <a:t>should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installed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a separate </a:t>
            </a:r>
            <a:r>
              <a:rPr lang="de-DE" sz="1800" dirty="0" err="1"/>
              <a:t>environment</a:t>
            </a:r>
            <a:endParaRPr lang="de-DE" sz="1800" dirty="0"/>
          </a:p>
          <a:p>
            <a:r>
              <a:rPr lang="de-DE" sz="1800" dirty="0" err="1"/>
              <a:t>Regulary</a:t>
            </a:r>
            <a:r>
              <a:rPr lang="de-DE" sz="1800" dirty="0"/>
              <a:t> check </a:t>
            </a:r>
            <a:r>
              <a:rPr lang="de-DE" sz="1800" dirty="0" err="1"/>
              <a:t>if</a:t>
            </a:r>
            <a:r>
              <a:rPr lang="de-DE" sz="1800" dirty="0"/>
              <a:t> </a:t>
            </a:r>
            <a:r>
              <a:rPr lang="de-DE" sz="1800" dirty="0" err="1"/>
              <a:t>there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avaiable</a:t>
            </a:r>
            <a:r>
              <a:rPr lang="de-DE" sz="1800" dirty="0"/>
              <a:t> </a:t>
            </a:r>
            <a:r>
              <a:rPr lang="de-DE" sz="1800" dirty="0" err="1"/>
              <a:t>updates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installed</a:t>
            </a:r>
            <a:r>
              <a:rPr lang="de-DE" sz="1800" dirty="0"/>
              <a:t> </a:t>
            </a:r>
            <a:r>
              <a:rPr lang="de-DE" sz="1800" dirty="0" err="1"/>
              <a:t>tools</a:t>
            </a:r>
            <a:r>
              <a:rPr lang="de-DE" sz="1800" dirty="0"/>
              <a:t>.</a:t>
            </a:r>
          </a:p>
          <a:p>
            <a:r>
              <a:rPr lang="de-DE" sz="1800" dirty="0"/>
              <a:t>Deactivate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current</a:t>
            </a:r>
            <a:r>
              <a:rPr lang="de-DE" sz="1800" dirty="0"/>
              <a:t> </a:t>
            </a:r>
            <a:r>
              <a:rPr lang="de-DE" sz="1800" dirty="0" err="1"/>
              <a:t>environment</a:t>
            </a:r>
            <a:r>
              <a:rPr lang="de-DE" sz="1800" dirty="0"/>
              <a:t> </a:t>
            </a:r>
            <a:r>
              <a:rPr lang="de-DE" sz="1800" dirty="0" err="1"/>
              <a:t>before</a:t>
            </a:r>
            <a:r>
              <a:rPr lang="de-DE" sz="1800" dirty="0"/>
              <a:t> </a:t>
            </a:r>
            <a:r>
              <a:rPr lang="de-DE" sz="1800" dirty="0" err="1"/>
              <a:t>activating</a:t>
            </a:r>
            <a:r>
              <a:rPr lang="de-DE" sz="1800" dirty="0"/>
              <a:t> </a:t>
            </a:r>
            <a:r>
              <a:rPr lang="de-DE" sz="1800" dirty="0" err="1"/>
              <a:t>another</a:t>
            </a:r>
            <a:r>
              <a:rPr lang="de-DE" sz="1800" dirty="0"/>
              <a:t> </a:t>
            </a:r>
            <a:r>
              <a:rPr lang="de-DE" sz="1800" dirty="0" err="1"/>
              <a:t>environment</a:t>
            </a:r>
            <a:endParaRPr lang="de-DE" sz="1800" dirty="0"/>
          </a:p>
          <a:p>
            <a:endParaRPr lang="de-DE" sz="1800" dirty="0"/>
          </a:p>
          <a:p>
            <a:pPr marL="0" indent="0">
              <a:buNone/>
            </a:pPr>
            <a:r>
              <a:rPr lang="de-DE" sz="1800" dirty="0" err="1"/>
              <a:t>Commonly</a:t>
            </a:r>
            <a:r>
              <a:rPr lang="de-DE" sz="1800" dirty="0"/>
              <a:t> </a:t>
            </a:r>
            <a:r>
              <a:rPr lang="de-DE" sz="1800" dirty="0" err="1"/>
              <a:t>used</a:t>
            </a:r>
            <a:r>
              <a:rPr lang="de-DE" sz="1800" dirty="0"/>
              <a:t> </a:t>
            </a:r>
            <a:r>
              <a:rPr lang="de-DE" sz="1800" dirty="0" err="1"/>
              <a:t>channels</a:t>
            </a:r>
            <a:r>
              <a:rPr lang="de-DE" sz="1800" dirty="0"/>
              <a:t> in </a:t>
            </a:r>
            <a:r>
              <a:rPr lang="de-DE" sz="1800" dirty="0" err="1"/>
              <a:t>bioinformatics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i="1" dirty="0" err="1"/>
              <a:t>bioconda</a:t>
            </a:r>
            <a:r>
              <a:rPr lang="de-DE" sz="1800" dirty="0"/>
              <a:t> and </a:t>
            </a:r>
            <a:r>
              <a:rPr lang="de-DE" sz="1800" i="1" dirty="0" err="1"/>
              <a:t>conda-forge</a:t>
            </a:r>
            <a:r>
              <a:rPr lang="de-DE" sz="1800" dirty="0"/>
              <a:t>. </a:t>
            </a:r>
            <a:r>
              <a:rPr lang="de-DE" sz="1800" dirty="0" err="1"/>
              <a:t>However</a:t>
            </a:r>
            <a:r>
              <a:rPr lang="de-DE" sz="1800" dirty="0"/>
              <a:t>, </a:t>
            </a:r>
            <a:r>
              <a:rPr lang="de-DE" sz="1800" dirty="0" err="1"/>
              <a:t>some</a:t>
            </a:r>
            <a:r>
              <a:rPr lang="de-DE" sz="1800" dirty="0"/>
              <a:t> </a:t>
            </a:r>
            <a:r>
              <a:rPr lang="de-DE" sz="1800" dirty="0" err="1"/>
              <a:t>tools</a:t>
            </a:r>
            <a:r>
              <a:rPr lang="de-DE" sz="1800" dirty="0"/>
              <a:t> </a:t>
            </a:r>
            <a:r>
              <a:rPr lang="de-DE" sz="1800" dirty="0" err="1"/>
              <a:t>have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own </a:t>
            </a:r>
            <a:r>
              <a:rPr lang="de-DE" sz="1800" dirty="0" err="1"/>
              <a:t>channels</a:t>
            </a:r>
            <a:r>
              <a:rPr lang="de-DE" sz="1800" dirty="0"/>
              <a:t>.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task</a:t>
            </a:r>
            <a:r>
              <a:rPr lang="de-DE" sz="1800" dirty="0"/>
              <a:t>: </a:t>
            </a:r>
            <a:r>
              <a:rPr lang="de-DE" sz="1800" dirty="0" err="1"/>
              <a:t>Install</a:t>
            </a:r>
            <a:r>
              <a:rPr lang="de-DE" sz="1800" dirty="0"/>
              <a:t> IQtree!</a:t>
            </a:r>
          </a:p>
          <a:p>
            <a:pPr marL="0" indent="0">
              <a:buNone/>
            </a:pPr>
            <a:r>
              <a:rPr lang="de-DE" sz="1800" dirty="0" err="1"/>
              <a:t>Tip</a:t>
            </a:r>
            <a:r>
              <a:rPr lang="de-DE" sz="1800" dirty="0"/>
              <a:t>: A </a:t>
            </a:r>
            <a:r>
              <a:rPr lang="de-DE" sz="1800" dirty="0" err="1"/>
              <a:t>google</a:t>
            </a:r>
            <a:r>
              <a:rPr lang="de-DE" sz="1800" dirty="0"/>
              <a:t> </a:t>
            </a:r>
            <a:r>
              <a:rPr lang="de-DE" sz="1800" dirty="0" err="1"/>
              <a:t>search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package</a:t>
            </a:r>
            <a:r>
              <a:rPr lang="de-DE" sz="1800" dirty="0"/>
              <a:t>-name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want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install</a:t>
            </a:r>
            <a:r>
              <a:rPr lang="de-DE" sz="1800" dirty="0"/>
              <a:t> plus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keyword</a:t>
            </a:r>
            <a:r>
              <a:rPr lang="de-DE" sz="1800" dirty="0"/>
              <a:t> </a:t>
            </a:r>
            <a:r>
              <a:rPr lang="de-DE" sz="1800" dirty="0" err="1"/>
              <a:t>conda</a:t>
            </a:r>
            <a:r>
              <a:rPr lang="de-DE" sz="1800" dirty="0"/>
              <a:t> </a:t>
            </a:r>
            <a:r>
              <a:rPr lang="de-DE" sz="1800" dirty="0" err="1"/>
              <a:t>should</a:t>
            </a:r>
            <a:r>
              <a:rPr lang="de-DE" sz="1800" dirty="0"/>
              <a:t> </a:t>
            </a:r>
            <a:r>
              <a:rPr lang="de-DE" sz="1800" dirty="0" err="1"/>
              <a:t>relay</a:t>
            </a:r>
            <a:r>
              <a:rPr lang="de-DE" sz="1800" dirty="0"/>
              <a:t>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conda</a:t>
            </a:r>
            <a:r>
              <a:rPr lang="de-DE" sz="1800" dirty="0"/>
              <a:t>-website, </a:t>
            </a:r>
            <a:r>
              <a:rPr lang="de-DE" sz="1800" dirty="0" err="1"/>
              <a:t>where</a:t>
            </a:r>
            <a:r>
              <a:rPr lang="de-DE" sz="1800" dirty="0"/>
              <a:t>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find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appropriate</a:t>
            </a:r>
            <a:r>
              <a:rPr lang="de-DE" sz="1800" dirty="0"/>
              <a:t> </a:t>
            </a:r>
            <a:r>
              <a:rPr lang="de-DE" sz="1800" dirty="0" err="1"/>
              <a:t>channel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use</a:t>
            </a:r>
            <a:r>
              <a:rPr lang="de-DE" sz="1800" dirty="0"/>
              <a:t>.</a:t>
            </a:r>
          </a:p>
          <a:p>
            <a:pPr marL="0" indent="0">
              <a:buNone/>
            </a:pPr>
            <a:endParaRPr lang="de-DE" sz="1800" dirty="0"/>
          </a:p>
          <a:p>
            <a:endParaRPr lang="de-DE" sz="18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167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685F6B-FA23-05A7-6A5F-C62492347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303"/>
            <a:ext cx="10515600" cy="526835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Additional </a:t>
            </a:r>
            <a:r>
              <a:rPr lang="de-DE" dirty="0" err="1"/>
              <a:t>tasks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ipyrad</a:t>
            </a:r>
            <a:r>
              <a:rPr lang="de-DE" dirty="0"/>
              <a:t> (</a:t>
            </a:r>
            <a:r>
              <a:rPr lang="de-DE" dirty="0">
                <a:hlinkClick r:id="rId2"/>
              </a:rPr>
              <a:t>https://ipyrad.readthedocs.io/en/master/#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Remember</a:t>
            </a:r>
            <a:r>
              <a:rPr lang="de-DE" dirty="0"/>
              <a:t>: </a:t>
            </a:r>
            <a:r>
              <a:rPr lang="de-DE" dirty="0" err="1"/>
              <a:t>create</a:t>
            </a:r>
            <a:r>
              <a:rPr lang="de-DE" dirty="0"/>
              <a:t> and </a:t>
            </a:r>
            <a:r>
              <a:rPr lang="de-DE" dirty="0" err="1"/>
              <a:t>activate</a:t>
            </a:r>
            <a:r>
              <a:rPr lang="de-DE" dirty="0"/>
              <a:t> a </a:t>
            </a:r>
            <a:r>
              <a:rPr lang="de-DE" dirty="0" err="1"/>
              <a:t>conda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ipyrad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installing</a:t>
            </a:r>
            <a:r>
              <a:rPr lang="de-DE" dirty="0"/>
              <a:t>!</a:t>
            </a:r>
          </a:p>
          <a:p>
            <a:r>
              <a:rPr lang="de-DE" dirty="0"/>
              <a:t>Create </a:t>
            </a:r>
            <a:r>
              <a:rPr lang="de-DE" dirty="0" err="1"/>
              <a:t>conda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ipyrad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 (just </a:t>
            </a:r>
            <a:r>
              <a:rPr lang="de-DE" dirty="0" err="1"/>
              <a:t>ipa.pca</a:t>
            </a:r>
            <a:r>
              <a:rPr lang="de-DE" dirty="0"/>
              <a:t> and </a:t>
            </a:r>
            <a:r>
              <a:rPr lang="de-DE" dirty="0" err="1"/>
              <a:t>ipa.STRUCTURE</a:t>
            </a:r>
            <a:r>
              <a:rPr lang="de-DE" dirty="0"/>
              <a:t>) and </a:t>
            </a:r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them</a:t>
            </a:r>
            <a:endParaRPr lang="de-DE" dirty="0"/>
          </a:p>
          <a:p>
            <a:pPr lvl="1"/>
            <a:r>
              <a:rPr lang="de-DE" dirty="0" err="1"/>
              <a:t>Remember</a:t>
            </a:r>
            <a:r>
              <a:rPr lang="de-DE" dirty="0"/>
              <a:t>: Create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conda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ipyrad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!</a:t>
            </a:r>
          </a:p>
          <a:p>
            <a:pPr lvl="1"/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ipyrad</a:t>
            </a:r>
            <a:r>
              <a:rPr lang="de-DE" dirty="0"/>
              <a:t> </a:t>
            </a:r>
            <a:r>
              <a:rPr lang="de-DE" dirty="0" err="1"/>
              <a:t>mutliple</a:t>
            </a:r>
            <a:r>
              <a:rPr lang="de-DE" dirty="0"/>
              <a:t> </a:t>
            </a:r>
            <a:r>
              <a:rPr lang="de-DE" dirty="0" err="1"/>
              <a:t>times</a:t>
            </a:r>
            <a:r>
              <a:rPr lang="de-DE" dirty="0"/>
              <a:t>, </a:t>
            </a:r>
            <a:r>
              <a:rPr lang="de-DE" dirty="0" err="1"/>
              <a:t>once</a:t>
            </a:r>
            <a:r>
              <a:rPr lang="de-DE" dirty="0"/>
              <a:t> in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.	</a:t>
            </a:r>
          </a:p>
        </p:txBody>
      </p:sp>
    </p:spTree>
    <p:extLst>
      <p:ext uri="{BB962C8B-B14F-4D97-AF65-F5344CB8AC3E}">
        <p14:creationId xmlns:p14="http://schemas.microsoft.com/office/powerpoint/2010/main" val="198984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FBAF61DE-C817-170B-0CC3-42D190316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734"/>
            <a:ext cx="3210489" cy="18059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1422284-F838-3B4C-6A91-6AF588619E08}"/>
              </a:ext>
            </a:extLst>
          </p:cNvPr>
          <p:cNvSpPr txBox="1"/>
          <p:nvPr/>
        </p:nvSpPr>
        <p:spPr>
          <a:xfrm>
            <a:off x="600502" y="2299647"/>
            <a:ext cx="43052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programms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bioinformatics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download</a:t>
            </a:r>
            <a:r>
              <a:rPr lang="de-DE" dirty="0"/>
              <a:t> a </a:t>
            </a: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github</a:t>
            </a:r>
            <a:r>
              <a:rPr lang="de-DE" dirty="0"/>
              <a:t>:</a:t>
            </a:r>
          </a:p>
          <a:p>
            <a:pPr marL="342900" indent="-342900">
              <a:buAutoNum type="arabicPeriod"/>
            </a:pPr>
            <a:r>
              <a:rPr lang="de-DE" dirty="0"/>
              <a:t>Open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shell</a:t>
            </a:r>
            <a:r>
              <a:rPr lang="de-DE" dirty="0"/>
              <a:t> (bash)</a:t>
            </a:r>
          </a:p>
          <a:p>
            <a:pPr marL="342900" indent="-342900">
              <a:buAutoNum type="arabicPeriod"/>
            </a:pPr>
            <a:r>
              <a:rPr lang="de-DE" dirty="0" err="1"/>
              <a:t>Navigate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directory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package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Type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clone</a:t>
            </a:r>
            <a:r>
              <a:rPr lang="de-DE" dirty="0"/>
              <a:t>, </a:t>
            </a:r>
            <a:r>
              <a:rPr lang="de-DE" dirty="0" err="1"/>
              <a:t>followed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URL </a:t>
            </a:r>
            <a:r>
              <a:rPr lang="de-DE" dirty="0" err="1"/>
              <a:t>given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website</a:t>
            </a:r>
            <a:r>
              <a:rPr lang="de-DE" dirty="0"/>
              <a:t>.</a:t>
            </a:r>
          </a:p>
          <a:p>
            <a:pPr marL="342900" indent="-342900">
              <a:buAutoNum type="arabicPeriod"/>
            </a:pPr>
            <a:endParaRPr lang="de-DE" dirty="0"/>
          </a:p>
        </p:txBody>
      </p:sp>
      <p:pic>
        <p:nvPicPr>
          <p:cNvPr id="3" name="Grafik 2" descr="Ein Bild, das Text, Screenshot, Software, Betriebssystem enthält.&#10;&#10;Automatisch generierte Beschreibung">
            <a:extLst>
              <a:ext uri="{FF2B5EF4-FFF2-40B4-BE49-F238E27FC236}">
                <a16:creationId xmlns:a16="http://schemas.microsoft.com/office/drawing/2014/main" id="{1A4DF183-AFA0-DD4D-86BA-B38C49A80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84" y="709492"/>
            <a:ext cx="7046810" cy="394927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92C5178-F87B-DBB5-E6ED-C6376E612594}"/>
              </a:ext>
            </a:extLst>
          </p:cNvPr>
          <p:cNvSpPr txBox="1"/>
          <p:nvPr/>
        </p:nvSpPr>
        <p:spPr>
          <a:xfrm>
            <a:off x="5063684" y="4732186"/>
            <a:ext cx="693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Try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yourself</a:t>
            </a:r>
            <a:r>
              <a:rPr lang="de-DE" dirty="0"/>
              <a:t>!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659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Elektronik, Screenshot, Software enthält.&#10;&#10;Automatisch generierte Beschreibung">
            <a:extLst>
              <a:ext uri="{FF2B5EF4-FFF2-40B4-BE49-F238E27FC236}">
                <a16:creationId xmlns:a16="http://schemas.microsoft.com/office/drawing/2014/main" id="{780CD2A6-0A99-78C2-0953-312F95D46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474" y="364246"/>
            <a:ext cx="5866043" cy="601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4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Breitbild</PresentationFormat>
  <Paragraphs>101</Paragraphs>
  <Slides>14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 Nehrke</dc:creator>
  <cp:lastModifiedBy>Christoph Nehrke</cp:lastModifiedBy>
  <cp:revision>22</cp:revision>
  <dcterms:created xsi:type="dcterms:W3CDTF">2024-04-14T10:29:04Z</dcterms:created>
  <dcterms:modified xsi:type="dcterms:W3CDTF">2024-04-16T19:32:19Z</dcterms:modified>
</cp:coreProperties>
</file>
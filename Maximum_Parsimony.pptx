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6" r:id="rId2"/>
    <p:sldId id="263" r:id="rId3"/>
    <p:sldId id="264" r:id="rId4"/>
    <p:sldId id="265" r:id="rId5"/>
    <p:sldId id="266" r:id="rId6"/>
    <p:sldId id="257" r:id="rId7"/>
    <p:sldId id="260" r:id="rId8"/>
    <p:sldId id="261" r:id="rId9"/>
    <p:sldId id="258" r:id="rId10"/>
    <p:sldId id="259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8" r:id="rId60"/>
    <p:sldId id="319" r:id="rId61"/>
    <p:sldId id="320" r:id="rId6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16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0CB285-4FAC-4F40-B460-CBCDD7670F53}" type="datetimeFigureOut">
              <a:rPr lang="de-DE" smtClean="0"/>
              <a:t>13.12.2021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F0416-5B26-47FA-B0E0-6A5684ACEB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6436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6330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8711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7489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8532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2969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33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2632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0283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4153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3517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84841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251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1738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32772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98465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89562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5207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0720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61257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28136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484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91113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52938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6678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60231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56191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25914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13894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04825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49302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2092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79905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38220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54987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71666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37714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46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99619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47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24349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80823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49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382827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50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31921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51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973668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52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9145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53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480641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54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26300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55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832387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56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723234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57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558727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58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643597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59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753425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F0416-5B26-47FA-B0E0-6A5684ACEBBF}" type="slidenum">
              <a:rPr lang="de-DE" smtClean="0"/>
              <a:t>60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0000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22D512-FE86-46B1-A4E6-FB5B8ECB6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E12299-8B00-4D4F-A981-CFEE3FA0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89D06C-A397-4058-977D-6264DB1AC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D06C-FD3D-4CDF-9800-C73528934C2B}" type="datetimeFigureOut">
              <a:rPr lang="de-DE" smtClean="0"/>
              <a:t>13.12.2021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0AEF23-6D71-4870-A0B5-8036CBF72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0B5615-EAA1-45DF-B68C-50BB9EF5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6AB8-0DC8-49F7-8A23-A5F70207A9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3917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6A24C0-979A-41A4-BC78-28FC165F6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5F5F28-1479-42C9-9408-84F778500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7B4089-EAA5-41A2-88E4-E0F2FBAC6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D06C-FD3D-4CDF-9800-C73528934C2B}" type="datetimeFigureOut">
              <a:rPr lang="de-DE" smtClean="0"/>
              <a:t>13.12.2021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FE7ED6-BCC3-4D04-82CC-72F6ED379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A7814B-76ED-4F83-A63F-A98AD5B06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6AB8-0DC8-49F7-8A23-A5F70207A9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689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3363F8-0CAD-403F-83F0-82304C1B7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5A1134-92A4-4A6B-BA8D-635B6C1D5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A90094-11BF-469B-A57D-0EC72CF1C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D06C-FD3D-4CDF-9800-C73528934C2B}" type="datetimeFigureOut">
              <a:rPr lang="de-DE" smtClean="0"/>
              <a:t>13.12.2021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2E6F80-D4AA-4C04-960A-809ACA0C3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E03C9D-8276-4CB8-8FE2-E5E269CE1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6AB8-0DC8-49F7-8A23-A5F70207A9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917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59C916-251C-4CF5-9B50-31F401E2B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B6841C-A3F1-4AFA-94E5-62BA54CA7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4F5FF48-7AC4-484F-9487-75B2E4990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F82A4F-410A-44D6-9C73-C7A71C8C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D06C-FD3D-4CDF-9800-C73528934C2B}" type="datetimeFigureOut">
              <a:rPr lang="de-DE" smtClean="0"/>
              <a:t>13.12.2021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B5F117-5E52-4A6D-BA31-427498904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FC6A34-D10B-4555-97E6-ED2C15C4C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6AB8-0DC8-49F7-8A23-A5F70207A9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2179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096407-07F0-4869-A830-3479A8ECD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3E5D70-F2FF-4992-94CE-2BB23CECB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4B8CDCE-CEE4-4DA0-B15F-0D9B38F47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A21A602-77DD-4E8C-AAD3-28466F196D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3A51255-6AD6-4DE7-BB52-EFCDD3816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95C8AC7-03E4-4AC5-B784-78FA20B92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D06C-FD3D-4CDF-9800-C73528934C2B}" type="datetimeFigureOut">
              <a:rPr lang="de-DE" smtClean="0"/>
              <a:t>13.12.2021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556C88B-EAB1-4D35-B3DD-34272FB55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06BBB92-838A-49C2-AD2A-6172769C0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6AB8-0DC8-49F7-8A23-A5F70207A9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9388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6CC933-F71F-4AA6-8789-CCD41C9C9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6E8F06C-214A-4B9E-93BD-DFA4848B2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D06C-FD3D-4CDF-9800-C73528934C2B}" type="datetimeFigureOut">
              <a:rPr lang="de-DE" smtClean="0"/>
              <a:t>13.12.2021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969D215-574D-47AC-96D1-723AD1420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A3CA9DE-F14F-480B-891E-FB41AE20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6AB8-0DC8-49F7-8A23-A5F70207A9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851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D19BB91-1100-4B52-BE1B-4F7F94F4C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D06C-FD3D-4CDF-9800-C73528934C2B}" type="datetimeFigureOut">
              <a:rPr lang="de-DE" smtClean="0"/>
              <a:t>13.12.2021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AF8625B-5C6D-437F-9A5E-1B1DC8E62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CDEA14-E076-4838-8C9A-44355A86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6AB8-0DC8-49F7-8A23-A5F70207A9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7144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1C65FA-53ED-42DA-9CCC-79AFBB7A3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8EF075-6F81-4255-A364-E577F9E62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05472F0-593A-408F-A0C0-4AD95F349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D182C11-3C5E-4978-BFF5-6169E0253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D06C-FD3D-4CDF-9800-C73528934C2B}" type="datetimeFigureOut">
              <a:rPr lang="de-DE" smtClean="0"/>
              <a:t>13.12.2021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7FE8FB-D3B3-4B9A-97AD-12F2F95FE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2D36384-15AE-4565-9A9E-17517E615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6AB8-0DC8-49F7-8A23-A5F70207A9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5438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2C3611-4F8B-4EEA-A446-6E1849973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99C9A2F-F016-4799-86EA-861B5C13E9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0CA15A-457B-4A5E-A0A9-DD6D559E2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C5C6C80-A803-45BD-B6CD-848F0B54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D06C-FD3D-4CDF-9800-C73528934C2B}" type="datetimeFigureOut">
              <a:rPr lang="de-DE" smtClean="0"/>
              <a:t>13.12.2021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9CA1DFB-70F6-4437-8D9F-7ED4A9680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D13485E-2FF7-46F8-8F31-22D9CE36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6AB8-0DC8-49F7-8A23-A5F70207A9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7007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C12FBE-1DE9-4BDC-9844-EA4887869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AEBBC1-0EB6-4FCE-8E36-9969AC5B3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94EF81-5913-4C95-BA19-471C1E07A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D06C-FD3D-4CDF-9800-C73528934C2B}" type="datetimeFigureOut">
              <a:rPr lang="de-DE" smtClean="0"/>
              <a:t>13.12.2021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E03258-E60B-4F88-9D43-724D1C77A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9063AE-BDC5-4ED3-B5E5-3F98D367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6AB8-0DC8-49F7-8A23-A5F70207A9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2184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6B9CBAE-C65E-4361-B084-BEC6729FD9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E23EB00-0C35-4F1A-BD47-B36749B0A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BF1150-48E6-4BCC-B38C-3C510D3DB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D06C-FD3D-4CDF-9800-C73528934C2B}" type="datetimeFigureOut">
              <a:rPr lang="de-DE" smtClean="0"/>
              <a:t>13.12.2021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0F0BE1-6BF4-4747-A319-AFDBC21E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47F7CF-70BA-4B20-89D0-5BF24022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6AB8-0DC8-49F7-8A23-A5F70207A9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3691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86E7EEC-3B41-4499-BC7A-85F6BDA28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E7A773-9D3A-4C53-901B-6C73502A4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1BC7C4-E0D2-4225-952F-416080121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DD06C-FD3D-4CDF-9800-C73528934C2B}" type="datetimeFigureOut">
              <a:rPr lang="de-DE" smtClean="0"/>
              <a:t>13.12.2021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505A3A-1D03-433F-9D21-AF3E65674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75A1DA-E687-4637-8B9A-0BAF3B892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36AB8-0DC8-49F7-8A23-A5F70207A9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4015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70BB89-FB2C-46E7-8FD6-9C52CC818E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Maximum Parsimony</a:t>
            </a:r>
            <a:endParaRPr lang="de-DE" b="1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0061CD-55BC-4692-B596-23449B5831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Quick and dirty </a:t>
            </a:r>
            <a:r>
              <a:rPr lang="en-DE" dirty="0"/>
              <a:t>–</a:t>
            </a:r>
            <a:r>
              <a:rPr lang="en-US" dirty="0"/>
              <a:t> and commonly used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203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585D3-E9F8-4B46-9E86-854B8A901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Optimality Methods</a:t>
            </a:r>
            <a:endParaRPr lang="de-DE" sz="4000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EFF260-AD5B-4ACB-8B6C-A354631D8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Tree Construction and Tree evaluation in separate calculations</a:t>
            </a:r>
          </a:p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step: Calculation of all possible tree topologies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step: Calculation of support for each branch/node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How many topologies are possible?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7751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-611"/>
            <a:ext cx="10515600" cy="1325563"/>
          </a:xfrm>
        </p:spPr>
        <p:txBody>
          <a:bodyPr/>
          <a:lstStyle/>
          <a:p>
            <a:r>
              <a:rPr lang="en-US" sz="4000" b="1" dirty="0"/>
              <a:t>Number</a:t>
            </a:r>
            <a:r>
              <a:rPr lang="en-US" b="1" dirty="0"/>
              <a:t> of possible topologies</a:t>
            </a:r>
            <a:r>
              <a:rPr lang="en-DE" b="1" dirty="0"/>
              <a:t>…</a:t>
            </a:r>
            <a:r>
              <a:rPr lang="en-US" b="1" dirty="0"/>
              <a:t>.</a:t>
            </a:r>
            <a:endParaRPr lang="de-DE" b="1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0" y="1260047"/>
            <a:ext cx="5514975" cy="61068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DE" dirty="0"/>
              <a:t>…</a:t>
            </a:r>
            <a:r>
              <a:rPr lang="en-US" dirty="0"/>
              <a:t> in unrooted, completely resolved trees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054" y="4071399"/>
            <a:ext cx="1693564" cy="1641109"/>
          </a:xfrm>
          <a:prstGeom prst="rect">
            <a:avLst/>
          </a:prstGeom>
        </p:spPr>
      </p:pic>
      <p:sp>
        <p:nvSpPr>
          <p:cNvPr id="5" name="Inhaltsplatzhalter 2"/>
          <p:cNvSpPr txBox="1">
            <a:spLocks/>
          </p:cNvSpPr>
          <p:nvPr/>
        </p:nvSpPr>
        <p:spPr>
          <a:xfrm>
            <a:off x="2552700" y="5816464"/>
            <a:ext cx="2573215" cy="495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3 Taxa -&gt; 1 Tree</a:t>
            </a:r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787" y="1385222"/>
            <a:ext cx="1776823" cy="4327286"/>
          </a:xfrm>
          <a:prstGeom prst="rect">
            <a:avLst/>
          </a:prstGeom>
        </p:spPr>
      </p:pic>
      <p:sp>
        <p:nvSpPr>
          <p:cNvPr id="7" name="Inhaltsplatzhalter 2"/>
          <p:cNvSpPr txBox="1">
            <a:spLocks/>
          </p:cNvSpPr>
          <p:nvPr/>
        </p:nvSpPr>
        <p:spPr>
          <a:xfrm>
            <a:off x="5363308" y="5816464"/>
            <a:ext cx="2573215" cy="495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4 Taxa -&gt; 3 Trees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5DA82B2-75E4-477F-B73C-1AAB4012D54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1696" y="894038"/>
            <a:ext cx="3346160" cy="4818470"/>
          </a:xfrm>
          <a:prstGeom prst="rect">
            <a:avLst/>
          </a:prstGeom>
        </p:spPr>
      </p:pic>
      <p:sp>
        <p:nvSpPr>
          <p:cNvPr id="9" name="Inhaltsplatzhalter 2"/>
          <p:cNvSpPr txBox="1">
            <a:spLocks/>
          </p:cNvSpPr>
          <p:nvPr/>
        </p:nvSpPr>
        <p:spPr>
          <a:xfrm>
            <a:off x="8411696" y="5816464"/>
            <a:ext cx="2573215" cy="4955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5 Taxa -&gt; 15 Trees</a:t>
            </a:r>
            <a:endParaRPr lang="de-DE" dirty="0"/>
          </a:p>
        </p:txBody>
      </p:sp>
      <p:sp>
        <p:nvSpPr>
          <p:cNvPr id="10" name="Inhaltsplatzhalter 2"/>
          <p:cNvSpPr txBox="1">
            <a:spLocks/>
          </p:cNvSpPr>
          <p:nvPr/>
        </p:nvSpPr>
        <p:spPr>
          <a:xfrm>
            <a:off x="259178" y="1987310"/>
            <a:ext cx="4778814" cy="1898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number of trees (B) depending on number of Taxa (T)</a:t>
            </a:r>
            <a:endParaRPr lang="de-DE" dirty="0"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34" y="2800858"/>
            <a:ext cx="2574876" cy="1004830"/>
          </a:xfrm>
          <a:prstGeom prst="rect">
            <a:avLst/>
          </a:prstGeom>
        </p:spPr>
      </p:pic>
      <p:sp>
        <p:nvSpPr>
          <p:cNvPr id="12" name="Inhaltsplatzhalter 2"/>
          <p:cNvSpPr txBox="1">
            <a:spLocks/>
          </p:cNvSpPr>
          <p:nvPr/>
        </p:nvSpPr>
        <p:spPr>
          <a:xfrm>
            <a:off x="317389" y="3801000"/>
            <a:ext cx="4778814" cy="1898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-&gt; 1, 3, 15, 105, 945, 10395, 135135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262066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585D3-E9F8-4B46-9E86-854B8A901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Rooting</a:t>
            </a:r>
            <a:endParaRPr lang="de-DE" sz="4000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EFF260-AD5B-4ACB-8B6C-A354631D8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131" y="1325563"/>
            <a:ext cx="10515600" cy="4351338"/>
          </a:xfrm>
        </p:spPr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gives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b="1" dirty="0"/>
              <a:t>relative</a:t>
            </a:r>
            <a:r>
              <a:rPr lang="de-DE" dirty="0"/>
              <a:t> </a:t>
            </a:r>
            <a:r>
              <a:rPr lang="de-DE" dirty="0" err="1"/>
              <a:t>branching</a:t>
            </a:r>
            <a:r>
              <a:rPr lang="de-DE" dirty="0"/>
              <a:t> </a:t>
            </a:r>
            <a:r>
              <a:rPr lang="de-DE" dirty="0" err="1"/>
              <a:t>patterns</a:t>
            </a:r>
            <a:endParaRPr lang="de-DE" dirty="0"/>
          </a:p>
          <a:p>
            <a:pPr lvl="1"/>
            <a:r>
              <a:rPr lang="en-US" b="1" dirty="0"/>
              <a:t>unrooted</a:t>
            </a:r>
            <a:r>
              <a:rPr lang="en-US" dirty="0"/>
              <a:t> tree</a:t>
            </a:r>
          </a:p>
          <a:p>
            <a:r>
              <a:rPr lang="en-US" dirty="0"/>
              <a:t>Evolutionary direction commonly inferred by </a:t>
            </a:r>
            <a:r>
              <a:rPr lang="en-US" b="1" dirty="0"/>
              <a:t>outgroup</a:t>
            </a:r>
            <a:r>
              <a:rPr lang="en-US" dirty="0"/>
              <a:t> comparison (outgroup rooting)</a:t>
            </a:r>
          </a:p>
          <a:p>
            <a:r>
              <a:rPr lang="en-US" dirty="0"/>
              <a:t>Root placed between outgroup and </a:t>
            </a:r>
            <a:r>
              <a:rPr lang="en-US" dirty="0" err="1"/>
              <a:t>ingroup</a:t>
            </a:r>
            <a:r>
              <a:rPr lang="en-US" dirty="0"/>
              <a:t>.</a:t>
            </a:r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75748"/>
            <a:ext cx="2989385" cy="2982251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2568" y="3914612"/>
            <a:ext cx="2950463" cy="294338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200" y="3914610"/>
            <a:ext cx="2957571" cy="2943387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14" y="3875748"/>
            <a:ext cx="2982469" cy="2968268"/>
          </a:xfrm>
          <a:prstGeom prst="rect">
            <a:avLst/>
          </a:prstGeom>
        </p:spPr>
      </p:pic>
      <p:sp>
        <p:nvSpPr>
          <p:cNvPr id="10" name="Pfeil nach rechts 9"/>
          <p:cNvSpPr/>
          <p:nvPr/>
        </p:nvSpPr>
        <p:spPr>
          <a:xfrm>
            <a:off x="3169723" y="5227795"/>
            <a:ext cx="439616" cy="3170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Pfeil nach rechts 10"/>
          <p:cNvSpPr/>
          <p:nvPr/>
        </p:nvSpPr>
        <p:spPr>
          <a:xfrm>
            <a:off x="6913368" y="5227795"/>
            <a:ext cx="439616" cy="3170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367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585D3-E9F8-4B46-9E86-854B8A901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Outgroups</a:t>
            </a:r>
            <a:endParaRPr lang="de-DE" sz="4000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EFF260-AD5B-4ACB-8B6C-A354631D8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131" y="1325563"/>
            <a:ext cx="8305800" cy="4351338"/>
          </a:xfrm>
        </p:spPr>
        <p:txBody>
          <a:bodyPr/>
          <a:lstStyle/>
          <a:p>
            <a:r>
              <a:rPr lang="en-US" dirty="0"/>
              <a:t>Should be as closely related to the </a:t>
            </a:r>
            <a:r>
              <a:rPr lang="en-US" dirty="0" err="1"/>
              <a:t>ingroup</a:t>
            </a:r>
            <a:r>
              <a:rPr lang="en-US" dirty="0"/>
              <a:t> as possible.</a:t>
            </a:r>
          </a:p>
          <a:p>
            <a:pPr lvl="1"/>
            <a:r>
              <a:rPr lang="en-DE" dirty="0"/>
              <a:t>…</a:t>
            </a:r>
            <a:r>
              <a:rPr lang="en-US" dirty="0"/>
              <a:t> but </a:t>
            </a:r>
            <a:r>
              <a:rPr lang="en-US" b="1" dirty="0"/>
              <a:t>not</a:t>
            </a:r>
            <a:r>
              <a:rPr lang="en-US" dirty="0"/>
              <a:t> part of the </a:t>
            </a:r>
            <a:r>
              <a:rPr lang="en-US" dirty="0" err="1"/>
              <a:t>ingroup</a:t>
            </a:r>
            <a:r>
              <a:rPr lang="en-US" dirty="0"/>
              <a:t>. </a:t>
            </a:r>
          </a:p>
          <a:p>
            <a:r>
              <a:rPr lang="en-US" dirty="0"/>
              <a:t>Example: if B, C, D are from Africa and A, E, F, G are from Asia, the top side tree indicates a migration from Asia to Africa and the bottom tree indicates migration from Africa to Asia.</a:t>
            </a:r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75748"/>
            <a:ext cx="2989385" cy="2982251"/>
          </a:xfrm>
          <a:prstGeom prst="rect">
            <a:avLst/>
          </a:prstGeom>
        </p:spPr>
      </p:pic>
      <p:sp>
        <p:nvSpPr>
          <p:cNvPr id="10" name="Pfeil nach rechts 9"/>
          <p:cNvSpPr/>
          <p:nvPr/>
        </p:nvSpPr>
        <p:spPr>
          <a:xfrm>
            <a:off x="3169723" y="5227795"/>
            <a:ext cx="439616" cy="3170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Pfeil nach rechts 10"/>
          <p:cNvSpPr/>
          <p:nvPr/>
        </p:nvSpPr>
        <p:spPr>
          <a:xfrm>
            <a:off x="6913368" y="5227795"/>
            <a:ext cx="439616" cy="3170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035" y="3882739"/>
            <a:ext cx="2968268" cy="2968268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8611" y="3911034"/>
            <a:ext cx="2946989" cy="2939973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8665" y="935792"/>
            <a:ext cx="2946989" cy="2939956"/>
          </a:xfrm>
          <a:prstGeom prst="rect">
            <a:avLst/>
          </a:prstGeom>
        </p:spPr>
      </p:pic>
      <p:sp>
        <p:nvSpPr>
          <p:cNvPr id="14" name="Rechteck 13"/>
          <p:cNvSpPr/>
          <p:nvPr/>
        </p:nvSpPr>
        <p:spPr>
          <a:xfrm>
            <a:off x="10594731" y="3501232"/>
            <a:ext cx="694592" cy="226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/>
          <p:cNvSpPr/>
          <p:nvPr/>
        </p:nvSpPr>
        <p:spPr>
          <a:xfrm>
            <a:off x="9186186" y="6461219"/>
            <a:ext cx="694592" cy="226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743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585D3-E9F8-4B46-9E86-854B8A901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Maximum Parsimony </a:t>
            </a:r>
            <a:r>
              <a:rPr lang="en-US" sz="2800" b="1" dirty="0"/>
              <a:t>(“</a:t>
            </a:r>
            <a:r>
              <a:rPr lang="en-US" sz="2800" b="1" dirty="0" err="1"/>
              <a:t>größtmögliche</a:t>
            </a:r>
            <a:r>
              <a:rPr lang="en-US" sz="2800" b="1" dirty="0"/>
              <a:t> </a:t>
            </a:r>
            <a:r>
              <a:rPr lang="en-US" sz="2800" b="1" dirty="0" err="1"/>
              <a:t>Sparsamkeit</a:t>
            </a:r>
            <a:r>
              <a:rPr lang="en-US" sz="2800" b="1" dirty="0"/>
              <a:t>”)</a:t>
            </a:r>
            <a:endParaRPr lang="de-DE" sz="2800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EFF260-AD5B-4ACB-8B6C-A354631D8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Developed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Willi Hennig (1950)</a:t>
            </a:r>
          </a:p>
          <a:p>
            <a:endParaRPr lang="en-US" dirty="0"/>
          </a:p>
          <a:p>
            <a:r>
              <a:rPr lang="en-US" dirty="0"/>
              <a:t>Finds the topology with the least number of necessary character-changes among all obtained topologies.</a:t>
            </a:r>
          </a:p>
          <a:p>
            <a:pPr lvl="1"/>
            <a:r>
              <a:rPr lang="de-DE" dirty="0"/>
              <a:t>Independent </a:t>
            </a:r>
            <a:r>
              <a:rPr lang="de-DE" dirty="0" err="1"/>
              <a:t>from</a:t>
            </a:r>
            <a:r>
              <a:rPr lang="de-DE" dirty="0"/>
              <a:t> type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character</a:t>
            </a:r>
            <a:r>
              <a:rPr lang="de-DE" dirty="0"/>
              <a:t> (DNA, </a:t>
            </a:r>
            <a:r>
              <a:rPr lang="de-DE" dirty="0" err="1"/>
              <a:t>binary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, etc….)</a:t>
            </a:r>
          </a:p>
          <a:p>
            <a:pPr lvl="1"/>
            <a:r>
              <a:rPr lang="de-DE" dirty="0"/>
              <a:t>Independent </a:t>
            </a:r>
            <a:r>
              <a:rPr lang="de-DE" dirty="0" err="1"/>
              <a:t>from</a:t>
            </a:r>
            <a:r>
              <a:rPr lang="de-DE" dirty="0"/>
              <a:t> all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characters</a:t>
            </a:r>
            <a:endParaRPr lang="de-DE" dirty="0"/>
          </a:p>
          <a:p>
            <a:pPr marL="457200" lvl="1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4704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4187437"/>
              </p:ext>
            </p:extLst>
          </p:nvPr>
        </p:nvGraphicFramePr>
        <p:xfrm>
          <a:off x="742950" y="1057275"/>
          <a:ext cx="10188090" cy="2225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28460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742950" y="3343275"/>
            <a:ext cx="66484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de-DE" dirty="0"/>
              <a:t>5 Taxa</a:t>
            </a:r>
          </a:p>
          <a:p>
            <a:pPr lvl="1"/>
            <a:r>
              <a:rPr lang="de-DE" dirty="0"/>
              <a:t>10 </a:t>
            </a:r>
            <a:r>
              <a:rPr lang="de-DE" dirty="0" err="1"/>
              <a:t>Characters</a:t>
            </a:r>
            <a:endParaRPr lang="de-DE" dirty="0"/>
          </a:p>
          <a:p>
            <a:pPr lvl="1"/>
            <a:r>
              <a:rPr lang="de-DE" dirty="0"/>
              <a:t>Binary </a:t>
            </a:r>
            <a:r>
              <a:rPr lang="de-DE" dirty="0" err="1"/>
              <a:t>data</a:t>
            </a:r>
            <a:endParaRPr lang="de-DE" dirty="0"/>
          </a:p>
          <a:p>
            <a:pPr lvl="2"/>
            <a:r>
              <a:rPr lang="de-DE" dirty="0"/>
              <a:t>Character </a:t>
            </a:r>
            <a:r>
              <a:rPr lang="de-DE" dirty="0" err="1"/>
              <a:t>present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3323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3008771"/>
              </p:ext>
            </p:extLst>
          </p:nvPr>
        </p:nvGraphicFramePr>
        <p:xfrm>
          <a:off x="742950" y="1057275"/>
          <a:ext cx="10188090" cy="2225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28460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742950" y="3343275"/>
            <a:ext cx="66484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de-DE" dirty="0"/>
              <a:t>5 Taxa</a:t>
            </a:r>
          </a:p>
          <a:p>
            <a:pPr lvl="1"/>
            <a:r>
              <a:rPr lang="de-DE" dirty="0"/>
              <a:t>10 </a:t>
            </a:r>
            <a:r>
              <a:rPr lang="de-DE" dirty="0" err="1"/>
              <a:t>Characters</a:t>
            </a:r>
            <a:endParaRPr lang="de-DE" dirty="0"/>
          </a:p>
          <a:p>
            <a:pPr lvl="1"/>
            <a:r>
              <a:rPr lang="de-DE" dirty="0"/>
              <a:t>Binary </a:t>
            </a:r>
            <a:r>
              <a:rPr lang="de-DE" dirty="0" err="1"/>
              <a:t>data</a:t>
            </a:r>
            <a:endParaRPr lang="de-DE" dirty="0"/>
          </a:p>
          <a:p>
            <a:pPr lvl="2"/>
            <a:r>
              <a:rPr lang="de-DE" dirty="0"/>
              <a:t>Character </a:t>
            </a:r>
            <a:r>
              <a:rPr lang="de-DE" dirty="0" err="1"/>
              <a:t>present</a:t>
            </a:r>
            <a:endParaRPr lang="de-DE" dirty="0"/>
          </a:p>
          <a:p>
            <a:pPr lvl="2"/>
            <a:r>
              <a:rPr lang="de-DE" dirty="0"/>
              <a:t>Character not </a:t>
            </a:r>
            <a:r>
              <a:rPr lang="de-DE" dirty="0" err="1"/>
              <a:t>present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76252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416180-038C-4864-9F61-5E914611A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8450" cy="435133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1. Construction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every</a:t>
            </a:r>
            <a:r>
              <a:rPr lang="de-DE" dirty="0"/>
              <a:t> possible </a:t>
            </a:r>
            <a:r>
              <a:rPr lang="de-DE" dirty="0" err="1"/>
              <a:t>topology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2. Analyze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topology</a:t>
            </a:r>
            <a:r>
              <a:rPr lang="de-DE" dirty="0"/>
              <a:t> (</a:t>
            </a:r>
            <a:r>
              <a:rPr lang="de-DE" dirty="0" err="1"/>
              <a:t>tree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outgroup</a:t>
            </a:r>
            <a:r>
              <a:rPr lang="de-DE" dirty="0"/>
              <a:t> </a:t>
            </a:r>
            <a:r>
              <a:rPr lang="de-DE" dirty="0" err="1"/>
              <a:t>defined</a:t>
            </a:r>
            <a:r>
              <a:rPr lang="de-DE" dirty="0"/>
              <a:t>, </a:t>
            </a:r>
            <a:r>
              <a:rPr lang="de-DE" dirty="0" err="1"/>
              <a:t>random</a:t>
            </a:r>
            <a:r>
              <a:rPr lang="de-DE" dirty="0"/>
              <a:t> </a:t>
            </a:r>
            <a:r>
              <a:rPr lang="de-DE" dirty="0" err="1"/>
              <a:t>root</a:t>
            </a:r>
            <a:r>
              <a:rPr lang="de-DE" dirty="0"/>
              <a:t> </a:t>
            </a:r>
            <a:r>
              <a:rPr lang="de-DE" dirty="0" err="1"/>
              <a:t>placement</a:t>
            </a:r>
            <a:r>
              <a:rPr lang="de-DE" dirty="0"/>
              <a:t>.</a:t>
            </a:r>
          </a:p>
          <a:p>
            <a:pPr lvl="1"/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5DA82B2-75E4-477F-B73C-1AAB4012D54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1278" y="1943099"/>
            <a:ext cx="3159566" cy="4549775"/>
          </a:xfrm>
          <a:prstGeom prst="rect">
            <a:avLst/>
          </a:prstGeom>
        </p:spPr>
      </p:pic>
      <p:sp>
        <p:nvSpPr>
          <p:cNvPr id="4" name="Pfeil nach unten 3"/>
          <p:cNvSpPr/>
          <p:nvPr/>
        </p:nvSpPr>
        <p:spPr>
          <a:xfrm rot="18812800">
            <a:off x="7700441" y="1746104"/>
            <a:ext cx="221673" cy="3939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420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0179663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980" y="3145234"/>
            <a:ext cx="3235476" cy="2236370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8525163" y="3269673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10635084" y="3094182"/>
            <a:ext cx="739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1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10423712" y="5460365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0</a:t>
            </a:r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de-DE" dirty="0"/>
              <a:t>3. Set </a:t>
            </a:r>
            <a:r>
              <a:rPr lang="de-DE" dirty="0" err="1"/>
              <a:t>tree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 = 0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begin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character</a:t>
            </a:r>
            <a:endParaRPr lang="de-DE" dirty="0"/>
          </a:p>
          <a:p>
            <a:pPr marL="457200" lvl="1" indent="0">
              <a:buNone/>
            </a:pPr>
            <a:r>
              <a:rPr lang="en-US" dirty="0"/>
              <a:t>4. Enter the state of this character for each Taxon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6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1948993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de-DE" dirty="0"/>
              <a:t>3. Set </a:t>
            </a:r>
            <a:r>
              <a:rPr lang="de-DE" dirty="0" err="1"/>
              <a:t>tree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 = 0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begin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character</a:t>
            </a:r>
            <a:endParaRPr lang="de-DE" dirty="0"/>
          </a:p>
          <a:p>
            <a:pPr marL="457200" lvl="1" indent="0">
              <a:buNone/>
            </a:pPr>
            <a:r>
              <a:rPr lang="en-US" dirty="0"/>
              <a:t>4. Enter the state of this character for each Taxon</a:t>
            </a:r>
          </a:p>
          <a:p>
            <a:pPr marL="457200" lvl="1" indent="0">
              <a:buNone/>
            </a:pPr>
            <a:r>
              <a:rPr lang="en-US" dirty="0"/>
              <a:t>5. Choose terminal node furthest away from the root, of which the character state is not yet determined</a:t>
            </a:r>
          </a:p>
          <a:p>
            <a:pPr marL="457200" lvl="1" indent="0">
              <a:buNone/>
            </a:pPr>
            <a:r>
              <a:rPr lang="en-US" dirty="0"/>
              <a:t>6. Determine the node state</a:t>
            </a:r>
          </a:p>
          <a:p>
            <a:pPr lvl="2"/>
            <a:r>
              <a:rPr lang="en-US" dirty="0"/>
              <a:t>If intersection of character states of more terminal nodes </a:t>
            </a:r>
            <a:r>
              <a:rPr lang="en-US" b="1" dirty="0"/>
              <a:t>is</a:t>
            </a:r>
            <a:r>
              <a:rPr lang="en-US" dirty="0"/>
              <a:t> </a:t>
            </a:r>
            <a:r>
              <a:rPr lang="en-US" b="1" dirty="0"/>
              <a:t>not</a:t>
            </a:r>
            <a:r>
              <a:rPr lang="en-US" dirty="0"/>
              <a:t> empty, then the node state = intersection</a:t>
            </a:r>
          </a:p>
          <a:p>
            <a:pPr lvl="2"/>
            <a:r>
              <a:rPr lang="en-US" dirty="0"/>
              <a:t>If intersection of character states of more terminal nodes </a:t>
            </a:r>
            <a:r>
              <a:rPr lang="en-US" b="1" dirty="0"/>
              <a:t>is</a:t>
            </a:r>
            <a:r>
              <a:rPr lang="en-US" dirty="0"/>
              <a:t> empty, then the node state = union. </a:t>
            </a:r>
          </a:p>
          <a:p>
            <a:pPr lvl="3"/>
            <a:r>
              <a:rPr lang="en-US" dirty="0"/>
              <a:t>Expand tree length by 1</a:t>
            </a:r>
          </a:p>
          <a:p>
            <a:pPr marL="457200" lvl="1" indent="0">
              <a:buNone/>
            </a:pPr>
            <a:r>
              <a:rPr lang="en-US" dirty="0"/>
              <a:t>If examined node was the last node before the root continue with step 7, otherwise repeat, starting at step 5</a:t>
            </a:r>
            <a:endParaRPr lang="de-DE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980" y="3145234"/>
            <a:ext cx="3235476" cy="2236370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8525163" y="3269673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10635084" y="3094182"/>
            <a:ext cx="739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1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10423712" y="5460365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0</a:t>
            </a:r>
            <a:endParaRPr lang="de-DE" dirty="0"/>
          </a:p>
        </p:txBody>
      </p:sp>
      <p:sp>
        <p:nvSpPr>
          <p:cNvPr id="9" name="Textfeld 8"/>
          <p:cNvSpPr txBox="1"/>
          <p:nvPr/>
        </p:nvSpPr>
        <p:spPr>
          <a:xfrm>
            <a:off x="9639718" y="32696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0" name="Textfeld 9"/>
          <p:cNvSpPr txBox="1"/>
          <p:nvPr/>
        </p:nvSpPr>
        <p:spPr>
          <a:xfrm>
            <a:off x="8374320" y="40787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1" name="Textfeld 10"/>
          <p:cNvSpPr txBox="1"/>
          <p:nvPr/>
        </p:nvSpPr>
        <p:spPr>
          <a:xfrm>
            <a:off x="9106861" y="49331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2" name="Textfeld 11"/>
          <p:cNvSpPr txBox="1"/>
          <p:nvPr/>
        </p:nvSpPr>
        <p:spPr>
          <a:xfrm>
            <a:off x="10831547" y="39980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3" name="Textfeld 12"/>
          <p:cNvSpPr txBox="1"/>
          <p:nvPr/>
        </p:nvSpPr>
        <p:spPr>
          <a:xfrm>
            <a:off x="10182158" y="49249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4" name="Ellipse 13"/>
          <p:cNvSpPr/>
          <p:nvPr/>
        </p:nvSpPr>
        <p:spPr>
          <a:xfrm>
            <a:off x="8978723" y="4260923"/>
            <a:ext cx="190101" cy="1662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8850795" y="390199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{1}</a:t>
            </a:r>
            <a:endParaRPr lang="de-DE" dirty="0"/>
          </a:p>
        </p:txBody>
      </p:sp>
      <p:sp>
        <p:nvSpPr>
          <p:cNvPr id="16" name="Ellipse 15"/>
          <p:cNvSpPr/>
          <p:nvPr/>
        </p:nvSpPr>
        <p:spPr>
          <a:xfrm>
            <a:off x="10076499" y="4260923"/>
            <a:ext cx="190101" cy="1662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/>
          <p:cNvSpPr txBox="1"/>
          <p:nvPr/>
        </p:nvSpPr>
        <p:spPr>
          <a:xfrm>
            <a:off x="9943114" y="3891591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{1}</a:t>
            </a:r>
            <a:endParaRPr lang="de-DE" dirty="0"/>
          </a:p>
        </p:txBody>
      </p:sp>
      <p:sp>
        <p:nvSpPr>
          <p:cNvPr id="18" name="Ellipse 17"/>
          <p:cNvSpPr/>
          <p:nvPr/>
        </p:nvSpPr>
        <p:spPr>
          <a:xfrm>
            <a:off x="9524882" y="4008654"/>
            <a:ext cx="190101" cy="1662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/>
          <p:cNvSpPr txBox="1"/>
          <p:nvPr/>
        </p:nvSpPr>
        <p:spPr>
          <a:xfrm>
            <a:off x="9401548" y="4116126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{1}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715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 animBg="1"/>
      <p:bldP spid="17" grpId="0"/>
      <p:bldP spid="18" grpId="0" animBg="1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1948993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7. If the set of character states at the last node before root does not include the character state of the outgroup expand tree length by 1</a:t>
            </a:r>
          </a:p>
          <a:p>
            <a:pPr marL="457200" lvl="1" indent="0">
              <a:buNone/>
            </a:pPr>
            <a:r>
              <a:rPr lang="en-US" dirty="0"/>
              <a:t>8. If examined character was the last within the matrix, then continue with step 9, otherwise jump back to step 4 and repeat with next character</a:t>
            </a:r>
            <a:endParaRPr lang="de-DE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980" y="3145234"/>
            <a:ext cx="3235476" cy="2236370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8525163" y="3269673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10635084" y="3094182"/>
            <a:ext cx="739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1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10423712" y="5460365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0</a:t>
            </a:r>
            <a:endParaRPr lang="de-DE" dirty="0"/>
          </a:p>
        </p:txBody>
      </p:sp>
      <p:sp>
        <p:nvSpPr>
          <p:cNvPr id="9" name="Textfeld 8"/>
          <p:cNvSpPr txBox="1"/>
          <p:nvPr/>
        </p:nvSpPr>
        <p:spPr>
          <a:xfrm>
            <a:off x="9639718" y="32696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0" name="Textfeld 9"/>
          <p:cNvSpPr txBox="1"/>
          <p:nvPr/>
        </p:nvSpPr>
        <p:spPr>
          <a:xfrm>
            <a:off x="8374320" y="40787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1" name="Textfeld 10"/>
          <p:cNvSpPr txBox="1"/>
          <p:nvPr/>
        </p:nvSpPr>
        <p:spPr>
          <a:xfrm>
            <a:off x="9106861" y="49331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2" name="Textfeld 11"/>
          <p:cNvSpPr txBox="1"/>
          <p:nvPr/>
        </p:nvSpPr>
        <p:spPr>
          <a:xfrm>
            <a:off x="10831547" y="39980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3" name="Textfeld 12"/>
          <p:cNvSpPr txBox="1"/>
          <p:nvPr/>
        </p:nvSpPr>
        <p:spPr>
          <a:xfrm>
            <a:off x="10182158" y="49249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4" name="Ellipse 13"/>
          <p:cNvSpPr/>
          <p:nvPr/>
        </p:nvSpPr>
        <p:spPr>
          <a:xfrm>
            <a:off x="8978723" y="4260923"/>
            <a:ext cx="190101" cy="1662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8850795" y="390199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{1}</a:t>
            </a:r>
            <a:endParaRPr lang="de-DE" dirty="0"/>
          </a:p>
        </p:txBody>
      </p:sp>
      <p:sp>
        <p:nvSpPr>
          <p:cNvPr id="16" name="Ellipse 15"/>
          <p:cNvSpPr/>
          <p:nvPr/>
        </p:nvSpPr>
        <p:spPr>
          <a:xfrm>
            <a:off x="10076499" y="4260923"/>
            <a:ext cx="190101" cy="1662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/>
          <p:cNvSpPr txBox="1"/>
          <p:nvPr/>
        </p:nvSpPr>
        <p:spPr>
          <a:xfrm>
            <a:off x="9943114" y="3891591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{1}</a:t>
            </a:r>
            <a:endParaRPr lang="de-DE" dirty="0"/>
          </a:p>
        </p:txBody>
      </p:sp>
      <p:sp>
        <p:nvSpPr>
          <p:cNvPr id="18" name="Ellipse 17"/>
          <p:cNvSpPr/>
          <p:nvPr/>
        </p:nvSpPr>
        <p:spPr>
          <a:xfrm>
            <a:off x="9524882" y="4008654"/>
            <a:ext cx="190101" cy="1662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/>
          <p:cNvSpPr txBox="1"/>
          <p:nvPr/>
        </p:nvSpPr>
        <p:spPr>
          <a:xfrm>
            <a:off x="9401548" y="4116126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{1}</a:t>
            </a:r>
            <a:endParaRPr lang="de-DE" dirty="0"/>
          </a:p>
        </p:txBody>
      </p:sp>
      <p:cxnSp>
        <p:nvCxnSpPr>
          <p:cNvPr id="21" name="Gerader Verbinder 20"/>
          <p:cNvCxnSpPr/>
          <p:nvPr/>
        </p:nvCxnSpPr>
        <p:spPr>
          <a:xfrm flipV="1">
            <a:off x="10266600" y="5645031"/>
            <a:ext cx="1450305" cy="184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10423712" y="5704068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1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749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7. If the set of character states at the last node before root does not include the character state of the outgroup expand tree length by 1</a:t>
            </a:r>
          </a:p>
          <a:p>
            <a:pPr marL="457200" lvl="1" indent="0">
              <a:buNone/>
            </a:pPr>
            <a:r>
              <a:rPr lang="en-US" dirty="0"/>
              <a:t>8. If examined character was the last within the matrix, then continue with step 9, otherwise jump back to step 4 and repeat with next character</a:t>
            </a:r>
            <a:endParaRPr lang="de-DE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980" y="3145234"/>
            <a:ext cx="3235476" cy="2236370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8525163" y="3269673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10635084" y="3094182"/>
            <a:ext cx="739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1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10423712" y="5460365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0</a:t>
            </a:r>
            <a:endParaRPr lang="de-DE" dirty="0"/>
          </a:p>
        </p:txBody>
      </p:sp>
      <p:sp>
        <p:nvSpPr>
          <p:cNvPr id="9" name="Textfeld 8"/>
          <p:cNvSpPr txBox="1"/>
          <p:nvPr/>
        </p:nvSpPr>
        <p:spPr>
          <a:xfrm>
            <a:off x="9639718" y="32696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0" name="Textfeld 9"/>
          <p:cNvSpPr txBox="1"/>
          <p:nvPr/>
        </p:nvSpPr>
        <p:spPr>
          <a:xfrm>
            <a:off x="8374320" y="40787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1" name="Textfeld 10"/>
          <p:cNvSpPr txBox="1"/>
          <p:nvPr/>
        </p:nvSpPr>
        <p:spPr>
          <a:xfrm>
            <a:off x="9106861" y="49331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2" name="Textfeld 11"/>
          <p:cNvSpPr txBox="1"/>
          <p:nvPr/>
        </p:nvSpPr>
        <p:spPr>
          <a:xfrm>
            <a:off x="10831547" y="39980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3" name="Textfeld 12"/>
          <p:cNvSpPr txBox="1"/>
          <p:nvPr/>
        </p:nvSpPr>
        <p:spPr>
          <a:xfrm>
            <a:off x="10182158" y="49249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4" name="Ellipse 13"/>
          <p:cNvSpPr/>
          <p:nvPr/>
        </p:nvSpPr>
        <p:spPr>
          <a:xfrm>
            <a:off x="8978723" y="4260923"/>
            <a:ext cx="190101" cy="1662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8850795" y="390199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{1}</a:t>
            </a:r>
            <a:endParaRPr lang="de-DE" dirty="0"/>
          </a:p>
        </p:txBody>
      </p:sp>
      <p:sp>
        <p:nvSpPr>
          <p:cNvPr id="16" name="Ellipse 15"/>
          <p:cNvSpPr/>
          <p:nvPr/>
        </p:nvSpPr>
        <p:spPr>
          <a:xfrm>
            <a:off x="10076499" y="4260923"/>
            <a:ext cx="190101" cy="1662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/>
          <p:cNvSpPr txBox="1"/>
          <p:nvPr/>
        </p:nvSpPr>
        <p:spPr>
          <a:xfrm>
            <a:off x="9943114" y="3891591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{1}</a:t>
            </a:r>
            <a:endParaRPr lang="de-DE" dirty="0"/>
          </a:p>
        </p:txBody>
      </p:sp>
      <p:sp>
        <p:nvSpPr>
          <p:cNvPr id="18" name="Ellipse 17"/>
          <p:cNvSpPr/>
          <p:nvPr/>
        </p:nvSpPr>
        <p:spPr>
          <a:xfrm>
            <a:off x="9524882" y="4008654"/>
            <a:ext cx="190101" cy="1662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/>
          <p:cNvSpPr txBox="1"/>
          <p:nvPr/>
        </p:nvSpPr>
        <p:spPr>
          <a:xfrm>
            <a:off x="9401548" y="4116126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{1}</a:t>
            </a:r>
            <a:endParaRPr lang="de-DE" dirty="0"/>
          </a:p>
        </p:txBody>
      </p:sp>
      <p:cxnSp>
        <p:nvCxnSpPr>
          <p:cNvPr id="21" name="Gerader Verbinder 20"/>
          <p:cNvCxnSpPr/>
          <p:nvPr/>
        </p:nvCxnSpPr>
        <p:spPr>
          <a:xfrm flipV="1">
            <a:off x="10266600" y="5645031"/>
            <a:ext cx="1450305" cy="184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10423712" y="5704068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1</a:t>
            </a:r>
            <a:endParaRPr lang="de-DE" dirty="0"/>
          </a:p>
        </p:txBody>
      </p:sp>
      <p:graphicFrame>
        <p:nvGraphicFramePr>
          <p:cNvPr id="23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9131275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sp>
        <p:nvSpPr>
          <p:cNvPr id="25" name="Pfeil nach rechts 24"/>
          <p:cNvSpPr/>
          <p:nvPr/>
        </p:nvSpPr>
        <p:spPr>
          <a:xfrm rot="18688851">
            <a:off x="8062713" y="2639541"/>
            <a:ext cx="434109" cy="2542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Pfeil nach rechts 25"/>
          <p:cNvSpPr/>
          <p:nvPr/>
        </p:nvSpPr>
        <p:spPr>
          <a:xfrm rot="18688851">
            <a:off x="8424713" y="2664207"/>
            <a:ext cx="434109" cy="2542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7" name="Gerader Verbinder 26"/>
          <p:cNvCxnSpPr/>
          <p:nvPr/>
        </p:nvCxnSpPr>
        <p:spPr>
          <a:xfrm flipV="1">
            <a:off x="10279680" y="5888734"/>
            <a:ext cx="1450305" cy="184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/>
          <p:cNvSpPr txBox="1"/>
          <p:nvPr/>
        </p:nvSpPr>
        <p:spPr>
          <a:xfrm>
            <a:off x="10423711" y="5958227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602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6574471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980" y="3145234"/>
            <a:ext cx="3235476" cy="2236370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8525163" y="3269673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10635084" y="3094182"/>
            <a:ext cx="739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1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10423712" y="5460365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2</a:t>
            </a:r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7. If the set of character states at the last node before root does not include the character state of the outgroup expand tree length by 1</a:t>
            </a:r>
          </a:p>
          <a:p>
            <a:pPr marL="457200" lvl="1" indent="0">
              <a:buNone/>
            </a:pPr>
            <a:r>
              <a:rPr lang="en-US" dirty="0"/>
              <a:t>8. If examined character was the last within the matrix, then continue with step 9, otherwise jump back to step 4 and repeat with next character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6. Determine the character state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If intersection of character states of more terminal nodes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is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not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empty, then the node state = intersection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If intersection of character states of more terminal nodes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is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empty, then the node state = union. </a:t>
            </a:r>
          </a:p>
          <a:p>
            <a:pPr lvl="3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Expand tree length by 1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8385238" y="40787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2" name="Textfeld 11"/>
          <p:cNvSpPr txBox="1"/>
          <p:nvPr/>
        </p:nvSpPr>
        <p:spPr>
          <a:xfrm>
            <a:off x="9610044" y="3278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4" name="Textfeld 13"/>
          <p:cNvSpPr txBox="1"/>
          <p:nvPr/>
        </p:nvSpPr>
        <p:spPr>
          <a:xfrm>
            <a:off x="9106861" y="49367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5" name="Textfeld 14"/>
          <p:cNvSpPr txBox="1"/>
          <p:nvPr/>
        </p:nvSpPr>
        <p:spPr>
          <a:xfrm>
            <a:off x="10831547" y="39980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6" name="Textfeld 15"/>
          <p:cNvSpPr txBox="1"/>
          <p:nvPr/>
        </p:nvSpPr>
        <p:spPr>
          <a:xfrm>
            <a:off x="10149245" y="49367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7" name="Textfeld 16"/>
          <p:cNvSpPr txBox="1"/>
          <p:nvPr/>
        </p:nvSpPr>
        <p:spPr>
          <a:xfrm>
            <a:off x="8787864" y="3907115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{0,1}</a:t>
            </a:r>
            <a:endParaRPr lang="de-DE" dirty="0"/>
          </a:p>
        </p:txBody>
      </p:sp>
      <p:cxnSp>
        <p:nvCxnSpPr>
          <p:cNvPr id="18" name="Gerader Verbinder 17"/>
          <p:cNvCxnSpPr/>
          <p:nvPr/>
        </p:nvCxnSpPr>
        <p:spPr>
          <a:xfrm flipV="1">
            <a:off x="10300088" y="5635794"/>
            <a:ext cx="1450305" cy="184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/>
          <p:cNvSpPr txBox="1"/>
          <p:nvPr/>
        </p:nvSpPr>
        <p:spPr>
          <a:xfrm>
            <a:off x="10423712" y="5714555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3</a:t>
            </a:r>
            <a:endParaRPr lang="de-DE" dirty="0"/>
          </a:p>
        </p:txBody>
      </p:sp>
      <p:sp>
        <p:nvSpPr>
          <p:cNvPr id="20" name="Textfeld 19"/>
          <p:cNvSpPr txBox="1"/>
          <p:nvPr/>
        </p:nvSpPr>
        <p:spPr>
          <a:xfrm>
            <a:off x="9921804" y="3907115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{0}</a:t>
            </a:r>
            <a:endParaRPr lang="de-DE" dirty="0"/>
          </a:p>
        </p:txBody>
      </p:sp>
      <p:sp>
        <p:nvSpPr>
          <p:cNvPr id="21" name="Textfeld 20"/>
          <p:cNvSpPr txBox="1"/>
          <p:nvPr/>
        </p:nvSpPr>
        <p:spPr>
          <a:xfrm>
            <a:off x="9407439" y="4097175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{0}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54619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5" grpId="0"/>
      <p:bldP spid="16" grpId="0"/>
      <p:bldP spid="17" grpId="0"/>
      <p:bldP spid="19" grpId="0"/>
      <p:bldP spid="20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980" y="3145234"/>
            <a:ext cx="3235476" cy="2236370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8525163" y="3269673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10635084" y="3094182"/>
            <a:ext cx="739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1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10423712" y="5460365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2</a:t>
            </a:r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4000" b="1" dirty="0"/>
              <a:t>Step-by-step</a:t>
            </a:r>
            <a:r>
              <a:rPr lang="en-US" dirty="0"/>
              <a:t> </a:t>
            </a:r>
            <a:r>
              <a:rPr lang="en-US" sz="4000" b="1" dirty="0"/>
              <a:t>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7. If the set of character states at the last node before root does not include the character state of the outgroup expand tree length by 1</a:t>
            </a:r>
          </a:p>
          <a:p>
            <a:pPr marL="457200" lvl="1" indent="0">
              <a:buNone/>
            </a:pPr>
            <a:r>
              <a:rPr lang="en-US" dirty="0"/>
              <a:t>8. If examined character was the last within the matrix, then continue with step 9, otherwise jump back to step 4 and repeat with next character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6. Determine the character state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If intersection of character states of more terminal nodes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is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not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empty, then the node state = intersection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If intersection of character states of more terminal nodes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is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empty, then the node state = union. </a:t>
            </a:r>
          </a:p>
          <a:p>
            <a:pPr lvl="3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Expand tree length by 1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8385238" y="40787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2" name="Textfeld 11"/>
          <p:cNvSpPr txBox="1"/>
          <p:nvPr/>
        </p:nvSpPr>
        <p:spPr>
          <a:xfrm>
            <a:off x="9610044" y="3278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4" name="Textfeld 13"/>
          <p:cNvSpPr txBox="1"/>
          <p:nvPr/>
        </p:nvSpPr>
        <p:spPr>
          <a:xfrm>
            <a:off x="9106861" y="49367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5" name="Textfeld 14"/>
          <p:cNvSpPr txBox="1"/>
          <p:nvPr/>
        </p:nvSpPr>
        <p:spPr>
          <a:xfrm>
            <a:off x="10831547" y="39980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6" name="Textfeld 15"/>
          <p:cNvSpPr txBox="1"/>
          <p:nvPr/>
        </p:nvSpPr>
        <p:spPr>
          <a:xfrm>
            <a:off x="10149245" y="49367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7" name="Textfeld 16"/>
          <p:cNvSpPr txBox="1"/>
          <p:nvPr/>
        </p:nvSpPr>
        <p:spPr>
          <a:xfrm>
            <a:off x="8787864" y="3907115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{0,1}</a:t>
            </a:r>
            <a:endParaRPr lang="de-DE" dirty="0"/>
          </a:p>
        </p:txBody>
      </p:sp>
      <p:cxnSp>
        <p:nvCxnSpPr>
          <p:cNvPr id="18" name="Gerader Verbinder 17"/>
          <p:cNvCxnSpPr/>
          <p:nvPr/>
        </p:nvCxnSpPr>
        <p:spPr>
          <a:xfrm flipV="1">
            <a:off x="10300088" y="5635794"/>
            <a:ext cx="1450305" cy="184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/>
          <p:cNvSpPr txBox="1"/>
          <p:nvPr/>
        </p:nvSpPr>
        <p:spPr>
          <a:xfrm>
            <a:off x="10423712" y="5714555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3</a:t>
            </a:r>
            <a:endParaRPr lang="de-DE" dirty="0"/>
          </a:p>
        </p:txBody>
      </p:sp>
      <p:sp>
        <p:nvSpPr>
          <p:cNvPr id="20" name="Textfeld 19"/>
          <p:cNvSpPr txBox="1"/>
          <p:nvPr/>
        </p:nvSpPr>
        <p:spPr>
          <a:xfrm>
            <a:off x="9921804" y="3907115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{0}</a:t>
            </a:r>
            <a:endParaRPr lang="de-DE" dirty="0"/>
          </a:p>
        </p:txBody>
      </p:sp>
      <p:sp>
        <p:nvSpPr>
          <p:cNvPr id="21" name="Textfeld 20"/>
          <p:cNvSpPr txBox="1"/>
          <p:nvPr/>
        </p:nvSpPr>
        <p:spPr>
          <a:xfrm>
            <a:off x="9407439" y="4097175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{0}</a:t>
            </a:r>
            <a:endParaRPr lang="de-DE" dirty="0"/>
          </a:p>
        </p:txBody>
      </p:sp>
      <p:graphicFrame>
        <p:nvGraphicFramePr>
          <p:cNvPr id="22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6885016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sp>
        <p:nvSpPr>
          <p:cNvPr id="23" name="Pfeil nach rechts 22"/>
          <p:cNvSpPr/>
          <p:nvPr/>
        </p:nvSpPr>
        <p:spPr>
          <a:xfrm rot="18688851">
            <a:off x="8708880" y="2660595"/>
            <a:ext cx="434109" cy="2542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Pfeil nach rechts 23"/>
          <p:cNvSpPr/>
          <p:nvPr/>
        </p:nvSpPr>
        <p:spPr>
          <a:xfrm rot="18688851">
            <a:off x="9040650" y="2692530"/>
            <a:ext cx="434109" cy="2542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5" name="Gerader Verbinder 24"/>
          <p:cNvCxnSpPr/>
          <p:nvPr/>
        </p:nvCxnSpPr>
        <p:spPr>
          <a:xfrm flipV="1">
            <a:off x="10310074" y="5898938"/>
            <a:ext cx="1450305" cy="184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/>
          <p:cNvSpPr txBox="1"/>
          <p:nvPr/>
        </p:nvSpPr>
        <p:spPr>
          <a:xfrm>
            <a:off x="10430241" y="5959226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281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980" y="3145234"/>
            <a:ext cx="3235476" cy="2236370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8525163" y="3269673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10635084" y="3094182"/>
            <a:ext cx="739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1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10423712" y="5460365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4</a:t>
            </a:r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4000" b="1" dirty="0"/>
              <a:t>Step-by-step</a:t>
            </a:r>
            <a:r>
              <a:rPr lang="en-US" dirty="0"/>
              <a:t> </a:t>
            </a:r>
            <a:r>
              <a:rPr lang="en-US" sz="4000" b="1" dirty="0"/>
              <a:t>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7. If the set of character states at the last node before root does not include the character state of the outgroup expand tree length by 1</a:t>
            </a:r>
          </a:p>
          <a:p>
            <a:pPr marL="457200" lvl="1" indent="0">
              <a:buNone/>
            </a:pPr>
            <a:r>
              <a:rPr lang="en-US" dirty="0"/>
              <a:t>8. If examined character was the last within the matrix, then continue with step 9, otherwise jump back to step 4 and repeat with next character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6. Determine the character state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If intersection of character states of more terminal nodes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is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not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empty, then the node state = intersection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If intersection of character states of more terminal nodes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is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empty, then the node state = union. </a:t>
            </a:r>
          </a:p>
          <a:p>
            <a:pPr lvl="3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Expand tree length by 1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9088968" y="49616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2" name="Textfeld 11"/>
          <p:cNvSpPr txBox="1"/>
          <p:nvPr/>
        </p:nvSpPr>
        <p:spPr>
          <a:xfrm>
            <a:off x="9610044" y="3278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4" name="Textfeld 13"/>
          <p:cNvSpPr txBox="1"/>
          <p:nvPr/>
        </p:nvSpPr>
        <p:spPr>
          <a:xfrm>
            <a:off x="8375977" y="40398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5" name="Textfeld 14"/>
          <p:cNvSpPr txBox="1"/>
          <p:nvPr/>
        </p:nvSpPr>
        <p:spPr>
          <a:xfrm>
            <a:off x="10831547" y="39980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6" name="Textfeld 15"/>
          <p:cNvSpPr txBox="1"/>
          <p:nvPr/>
        </p:nvSpPr>
        <p:spPr>
          <a:xfrm>
            <a:off x="10149245" y="49367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7" name="Textfeld 16"/>
          <p:cNvSpPr txBox="1"/>
          <p:nvPr/>
        </p:nvSpPr>
        <p:spPr>
          <a:xfrm>
            <a:off x="8787864" y="3907115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{0,1}</a:t>
            </a:r>
            <a:endParaRPr lang="de-DE" dirty="0"/>
          </a:p>
        </p:txBody>
      </p:sp>
      <p:sp>
        <p:nvSpPr>
          <p:cNvPr id="20" name="Textfeld 19"/>
          <p:cNvSpPr txBox="1"/>
          <p:nvPr/>
        </p:nvSpPr>
        <p:spPr>
          <a:xfrm>
            <a:off x="9921804" y="3907115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{1}</a:t>
            </a:r>
            <a:endParaRPr lang="de-DE" dirty="0"/>
          </a:p>
        </p:txBody>
      </p:sp>
      <p:sp>
        <p:nvSpPr>
          <p:cNvPr id="21" name="Textfeld 20"/>
          <p:cNvSpPr txBox="1"/>
          <p:nvPr/>
        </p:nvSpPr>
        <p:spPr>
          <a:xfrm>
            <a:off x="9407439" y="4097175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{1}</a:t>
            </a:r>
            <a:endParaRPr lang="de-DE" dirty="0"/>
          </a:p>
        </p:txBody>
      </p:sp>
      <p:graphicFrame>
        <p:nvGraphicFramePr>
          <p:cNvPr id="27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6306884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cxnSp>
        <p:nvCxnSpPr>
          <p:cNvPr id="28" name="Gerader Verbinder 27"/>
          <p:cNvCxnSpPr/>
          <p:nvPr/>
        </p:nvCxnSpPr>
        <p:spPr>
          <a:xfrm flipV="1">
            <a:off x="10300088" y="5635794"/>
            <a:ext cx="1450305" cy="184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28"/>
          <p:cNvSpPr txBox="1"/>
          <p:nvPr/>
        </p:nvSpPr>
        <p:spPr>
          <a:xfrm>
            <a:off x="10423711" y="5704068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5</a:t>
            </a:r>
            <a:endParaRPr lang="de-DE" dirty="0"/>
          </a:p>
        </p:txBody>
      </p:sp>
      <p:cxnSp>
        <p:nvCxnSpPr>
          <p:cNvPr id="30" name="Gerader Verbinder 29"/>
          <p:cNvCxnSpPr/>
          <p:nvPr/>
        </p:nvCxnSpPr>
        <p:spPr>
          <a:xfrm flipV="1">
            <a:off x="10295176" y="5871812"/>
            <a:ext cx="1450305" cy="184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feld 30"/>
          <p:cNvSpPr txBox="1"/>
          <p:nvPr/>
        </p:nvSpPr>
        <p:spPr>
          <a:xfrm>
            <a:off x="10423711" y="5959809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095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1" grpId="0"/>
      <p:bldP spid="29" grpId="0"/>
      <p:bldP spid="3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980" y="3145234"/>
            <a:ext cx="3235476" cy="2236370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8525163" y="3269673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10635084" y="3094182"/>
            <a:ext cx="739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1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10423712" y="5460365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6</a:t>
            </a:r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7. If the set of character states at the last node before root does not include the character state of the outgroup expand tree length by 1</a:t>
            </a:r>
          </a:p>
          <a:p>
            <a:pPr marL="457200" lvl="1" indent="0">
              <a:buNone/>
            </a:pPr>
            <a:r>
              <a:rPr lang="en-US" dirty="0"/>
              <a:t>8. If examined character was the last within the matrix, then continue with step 9, otherwise jump back to step 4 and repeat with next character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0" name="Textfeld 9"/>
          <p:cNvSpPr txBox="1"/>
          <p:nvPr/>
        </p:nvSpPr>
        <p:spPr>
          <a:xfrm>
            <a:off x="9088968" y="49616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2" name="Textfeld 11"/>
          <p:cNvSpPr txBox="1"/>
          <p:nvPr/>
        </p:nvSpPr>
        <p:spPr>
          <a:xfrm>
            <a:off x="9610044" y="3278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4" name="Textfeld 13"/>
          <p:cNvSpPr txBox="1"/>
          <p:nvPr/>
        </p:nvSpPr>
        <p:spPr>
          <a:xfrm>
            <a:off x="8375977" y="40398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5" name="Textfeld 14"/>
          <p:cNvSpPr txBox="1"/>
          <p:nvPr/>
        </p:nvSpPr>
        <p:spPr>
          <a:xfrm>
            <a:off x="10831547" y="39980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6" name="Textfeld 15"/>
          <p:cNvSpPr txBox="1"/>
          <p:nvPr/>
        </p:nvSpPr>
        <p:spPr>
          <a:xfrm>
            <a:off x="10149245" y="49367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7" name="Textfeld 16"/>
          <p:cNvSpPr txBox="1"/>
          <p:nvPr/>
        </p:nvSpPr>
        <p:spPr>
          <a:xfrm>
            <a:off x="8787864" y="3907115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{0,1}</a:t>
            </a:r>
            <a:endParaRPr lang="de-DE" dirty="0"/>
          </a:p>
        </p:txBody>
      </p:sp>
      <p:sp>
        <p:nvSpPr>
          <p:cNvPr id="20" name="Textfeld 19"/>
          <p:cNvSpPr txBox="1"/>
          <p:nvPr/>
        </p:nvSpPr>
        <p:spPr>
          <a:xfrm>
            <a:off x="9921804" y="3907115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{1}</a:t>
            </a:r>
            <a:endParaRPr lang="de-DE" dirty="0"/>
          </a:p>
        </p:txBody>
      </p:sp>
      <p:sp>
        <p:nvSpPr>
          <p:cNvPr id="21" name="Textfeld 20"/>
          <p:cNvSpPr txBox="1"/>
          <p:nvPr/>
        </p:nvSpPr>
        <p:spPr>
          <a:xfrm>
            <a:off x="9407439" y="4097175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{1}</a:t>
            </a:r>
            <a:endParaRPr lang="de-DE" dirty="0"/>
          </a:p>
        </p:txBody>
      </p:sp>
      <p:graphicFrame>
        <p:nvGraphicFramePr>
          <p:cNvPr id="22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825378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cxnSp>
        <p:nvCxnSpPr>
          <p:cNvPr id="23" name="Gerader Verbinder 22"/>
          <p:cNvCxnSpPr/>
          <p:nvPr/>
        </p:nvCxnSpPr>
        <p:spPr>
          <a:xfrm flipV="1">
            <a:off x="10367760" y="5620956"/>
            <a:ext cx="1450305" cy="184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feld 23"/>
          <p:cNvSpPr txBox="1"/>
          <p:nvPr/>
        </p:nvSpPr>
        <p:spPr>
          <a:xfrm>
            <a:off x="10430775" y="5731435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8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965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1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980" y="3145234"/>
            <a:ext cx="3235476" cy="2236370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8525163" y="3269673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10635084" y="3094182"/>
            <a:ext cx="739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1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10423712" y="5460365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8</a:t>
            </a:r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7. If the set of character states at the last node before root does not include the character state of the outgroup expand tree length by 1</a:t>
            </a:r>
          </a:p>
          <a:p>
            <a:pPr marL="457200" lvl="1" indent="0">
              <a:buNone/>
            </a:pPr>
            <a:r>
              <a:rPr lang="en-US" dirty="0"/>
              <a:t>8. If examined character was the last within the matrix, then continue with step 9, otherwise jump back to step 4 and repeat with next character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0" name="Textfeld 9"/>
          <p:cNvSpPr txBox="1"/>
          <p:nvPr/>
        </p:nvSpPr>
        <p:spPr>
          <a:xfrm>
            <a:off x="9088968" y="49616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2" name="Textfeld 11"/>
          <p:cNvSpPr txBox="1"/>
          <p:nvPr/>
        </p:nvSpPr>
        <p:spPr>
          <a:xfrm>
            <a:off x="9610044" y="3278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4" name="Textfeld 13"/>
          <p:cNvSpPr txBox="1"/>
          <p:nvPr/>
        </p:nvSpPr>
        <p:spPr>
          <a:xfrm>
            <a:off x="8375977" y="40398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5" name="Textfeld 14"/>
          <p:cNvSpPr txBox="1"/>
          <p:nvPr/>
        </p:nvSpPr>
        <p:spPr>
          <a:xfrm>
            <a:off x="10831547" y="39980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6" name="Textfeld 15"/>
          <p:cNvSpPr txBox="1"/>
          <p:nvPr/>
        </p:nvSpPr>
        <p:spPr>
          <a:xfrm>
            <a:off x="10149245" y="49367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7" name="Textfeld 16"/>
          <p:cNvSpPr txBox="1"/>
          <p:nvPr/>
        </p:nvSpPr>
        <p:spPr>
          <a:xfrm>
            <a:off x="8787864" y="3907115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{0,1}</a:t>
            </a:r>
            <a:endParaRPr lang="de-DE" dirty="0"/>
          </a:p>
        </p:txBody>
      </p:sp>
      <p:sp>
        <p:nvSpPr>
          <p:cNvPr id="20" name="Textfeld 19"/>
          <p:cNvSpPr txBox="1"/>
          <p:nvPr/>
        </p:nvSpPr>
        <p:spPr>
          <a:xfrm>
            <a:off x="9921804" y="3907115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{0}</a:t>
            </a:r>
            <a:endParaRPr lang="de-DE" dirty="0"/>
          </a:p>
        </p:txBody>
      </p:sp>
      <p:sp>
        <p:nvSpPr>
          <p:cNvPr id="21" name="Textfeld 20"/>
          <p:cNvSpPr txBox="1"/>
          <p:nvPr/>
        </p:nvSpPr>
        <p:spPr>
          <a:xfrm>
            <a:off x="9407439" y="4097175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{0}</a:t>
            </a:r>
            <a:endParaRPr lang="de-DE" dirty="0"/>
          </a:p>
        </p:txBody>
      </p:sp>
      <p:sp>
        <p:nvSpPr>
          <p:cNvPr id="24" name="Textfeld 23"/>
          <p:cNvSpPr txBox="1"/>
          <p:nvPr/>
        </p:nvSpPr>
        <p:spPr>
          <a:xfrm>
            <a:off x="10430775" y="5731435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9</a:t>
            </a:r>
            <a:endParaRPr lang="de-DE" dirty="0"/>
          </a:p>
        </p:txBody>
      </p:sp>
      <p:graphicFrame>
        <p:nvGraphicFramePr>
          <p:cNvPr id="19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161503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cxnSp>
        <p:nvCxnSpPr>
          <p:cNvPr id="25" name="Gerader Verbinder 24"/>
          <p:cNvCxnSpPr/>
          <p:nvPr/>
        </p:nvCxnSpPr>
        <p:spPr>
          <a:xfrm flipV="1">
            <a:off x="10367760" y="5620956"/>
            <a:ext cx="1450305" cy="184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48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1" grpId="0"/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980" y="3145234"/>
            <a:ext cx="3235476" cy="2236370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8525163" y="3269673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10635084" y="3094182"/>
            <a:ext cx="739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1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10423712" y="5460365"/>
            <a:ext cx="11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9</a:t>
            </a:r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7. If the set of character states at the last node before root does not include the character state of the outgroup expand tree length by 1</a:t>
            </a:r>
          </a:p>
          <a:p>
            <a:pPr marL="457200" lvl="1" indent="0">
              <a:buNone/>
            </a:pPr>
            <a:r>
              <a:rPr lang="en-US" dirty="0"/>
              <a:t>8. If examined character was the last within the matrix, then continue with step 9, otherwise jump back to step 4 and repeat with next character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0" name="Textfeld 9"/>
          <p:cNvSpPr txBox="1"/>
          <p:nvPr/>
        </p:nvSpPr>
        <p:spPr>
          <a:xfrm>
            <a:off x="9088968" y="49616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2" name="Textfeld 11"/>
          <p:cNvSpPr txBox="1"/>
          <p:nvPr/>
        </p:nvSpPr>
        <p:spPr>
          <a:xfrm>
            <a:off x="9610044" y="3278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4" name="Textfeld 13"/>
          <p:cNvSpPr txBox="1"/>
          <p:nvPr/>
        </p:nvSpPr>
        <p:spPr>
          <a:xfrm>
            <a:off x="8375977" y="40398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5" name="Textfeld 14"/>
          <p:cNvSpPr txBox="1"/>
          <p:nvPr/>
        </p:nvSpPr>
        <p:spPr>
          <a:xfrm>
            <a:off x="10831547" y="39980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6" name="Textfeld 15"/>
          <p:cNvSpPr txBox="1"/>
          <p:nvPr/>
        </p:nvSpPr>
        <p:spPr>
          <a:xfrm>
            <a:off x="10149245" y="49367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7" name="Textfeld 16"/>
          <p:cNvSpPr txBox="1"/>
          <p:nvPr/>
        </p:nvSpPr>
        <p:spPr>
          <a:xfrm>
            <a:off x="8865990" y="3941087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{0}</a:t>
            </a:r>
            <a:endParaRPr lang="de-DE" dirty="0"/>
          </a:p>
        </p:txBody>
      </p:sp>
      <p:sp>
        <p:nvSpPr>
          <p:cNvPr id="20" name="Textfeld 19"/>
          <p:cNvSpPr txBox="1"/>
          <p:nvPr/>
        </p:nvSpPr>
        <p:spPr>
          <a:xfrm>
            <a:off x="9944533" y="3930516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{1}</a:t>
            </a:r>
            <a:endParaRPr lang="de-DE" dirty="0"/>
          </a:p>
        </p:txBody>
      </p:sp>
      <p:sp>
        <p:nvSpPr>
          <p:cNvPr id="21" name="Textfeld 20"/>
          <p:cNvSpPr txBox="1"/>
          <p:nvPr/>
        </p:nvSpPr>
        <p:spPr>
          <a:xfrm>
            <a:off x="9323850" y="411518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{0,1}</a:t>
            </a:r>
            <a:endParaRPr lang="de-DE" dirty="0"/>
          </a:p>
        </p:txBody>
      </p:sp>
      <p:sp>
        <p:nvSpPr>
          <p:cNvPr id="24" name="Textfeld 23"/>
          <p:cNvSpPr txBox="1"/>
          <p:nvPr/>
        </p:nvSpPr>
        <p:spPr>
          <a:xfrm>
            <a:off x="10430775" y="5731435"/>
            <a:ext cx="1234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10</a:t>
            </a:r>
            <a:endParaRPr lang="de-DE" dirty="0"/>
          </a:p>
        </p:txBody>
      </p:sp>
      <p:graphicFrame>
        <p:nvGraphicFramePr>
          <p:cNvPr id="22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1061340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cxnSp>
        <p:nvCxnSpPr>
          <p:cNvPr id="23" name="Gerader Verbinder 22"/>
          <p:cNvCxnSpPr/>
          <p:nvPr/>
        </p:nvCxnSpPr>
        <p:spPr>
          <a:xfrm flipV="1">
            <a:off x="10367760" y="5620956"/>
            <a:ext cx="1450305" cy="184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245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1" grpId="0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980" y="3145234"/>
            <a:ext cx="3235476" cy="2236370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8525163" y="3269673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10635084" y="3094182"/>
            <a:ext cx="739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1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10423712" y="5460365"/>
            <a:ext cx="1234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10</a:t>
            </a:r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7. If the set of character states at the last node before root does not include the character state of the outgroup expand tree length by 1</a:t>
            </a:r>
          </a:p>
          <a:p>
            <a:pPr marL="457200" lvl="1" indent="0">
              <a:buNone/>
            </a:pPr>
            <a:r>
              <a:rPr lang="en-US" dirty="0"/>
              <a:t>8. If examined character was the last within the matrix, then continue with step 9, otherwise jump back to step 4 and repeat with next character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0" name="Textfeld 9"/>
          <p:cNvSpPr txBox="1"/>
          <p:nvPr/>
        </p:nvSpPr>
        <p:spPr>
          <a:xfrm>
            <a:off x="9088968" y="49616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2" name="Textfeld 11"/>
          <p:cNvSpPr txBox="1"/>
          <p:nvPr/>
        </p:nvSpPr>
        <p:spPr>
          <a:xfrm>
            <a:off x="9610044" y="3278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4" name="Textfeld 13"/>
          <p:cNvSpPr txBox="1"/>
          <p:nvPr/>
        </p:nvSpPr>
        <p:spPr>
          <a:xfrm>
            <a:off x="8375977" y="40398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5" name="Textfeld 14"/>
          <p:cNvSpPr txBox="1"/>
          <p:nvPr/>
        </p:nvSpPr>
        <p:spPr>
          <a:xfrm>
            <a:off x="10831547" y="39980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6" name="Textfeld 15"/>
          <p:cNvSpPr txBox="1"/>
          <p:nvPr/>
        </p:nvSpPr>
        <p:spPr>
          <a:xfrm>
            <a:off x="10149245" y="49367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7" name="Textfeld 16"/>
          <p:cNvSpPr txBox="1"/>
          <p:nvPr/>
        </p:nvSpPr>
        <p:spPr>
          <a:xfrm>
            <a:off x="8865990" y="3941087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{0}</a:t>
            </a:r>
            <a:endParaRPr lang="de-DE" dirty="0"/>
          </a:p>
        </p:txBody>
      </p:sp>
      <p:sp>
        <p:nvSpPr>
          <p:cNvPr id="20" name="Textfeld 19"/>
          <p:cNvSpPr txBox="1"/>
          <p:nvPr/>
        </p:nvSpPr>
        <p:spPr>
          <a:xfrm>
            <a:off x="9860303" y="393051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{0,1}</a:t>
            </a:r>
            <a:endParaRPr lang="de-DE" dirty="0"/>
          </a:p>
        </p:txBody>
      </p:sp>
      <p:sp>
        <p:nvSpPr>
          <p:cNvPr id="21" name="Textfeld 20"/>
          <p:cNvSpPr txBox="1"/>
          <p:nvPr/>
        </p:nvSpPr>
        <p:spPr>
          <a:xfrm>
            <a:off x="9393925" y="4115182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{0}</a:t>
            </a:r>
            <a:endParaRPr lang="de-DE" dirty="0"/>
          </a:p>
        </p:txBody>
      </p:sp>
      <p:sp>
        <p:nvSpPr>
          <p:cNvPr id="24" name="Textfeld 23"/>
          <p:cNvSpPr txBox="1"/>
          <p:nvPr/>
        </p:nvSpPr>
        <p:spPr>
          <a:xfrm>
            <a:off x="10430775" y="5731435"/>
            <a:ext cx="1234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11</a:t>
            </a:r>
            <a:endParaRPr lang="de-DE" dirty="0"/>
          </a:p>
        </p:txBody>
      </p:sp>
      <p:cxnSp>
        <p:nvCxnSpPr>
          <p:cNvPr id="23" name="Gerader Verbinder 22"/>
          <p:cNvCxnSpPr/>
          <p:nvPr/>
        </p:nvCxnSpPr>
        <p:spPr>
          <a:xfrm flipV="1">
            <a:off x="10367760" y="5620956"/>
            <a:ext cx="1450305" cy="184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9922688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6679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1" grpId="0"/>
      <p:bldP spid="2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980" y="3145234"/>
            <a:ext cx="3235476" cy="2236370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8525163" y="3269673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10635084" y="3094182"/>
            <a:ext cx="739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1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10423712" y="5460365"/>
            <a:ext cx="1234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11</a:t>
            </a:r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7. If the set of character states at the last node before root does not include the character state of the outgroup expand tree length by 1</a:t>
            </a:r>
          </a:p>
          <a:p>
            <a:pPr marL="457200" lvl="1" indent="0">
              <a:buNone/>
            </a:pPr>
            <a:r>
              <a:rPr lang="en-US" dirty="0"/>
              <a:t>8. If examined character was the last within the matrix, then continue with step 9, otherwise jump back to step 4 and repeat with next character</a:t>
            </a:r>
          </a:p>
          <a:p>
            <a:pPr marL="457200" lvl="1" indent="0">
              <a:buNone/>
            </a:pPr>
            <a:r>
              <a:rPr lang="en-US" dirty="0"/>
              <a:t>9. If examined tree was last possible topology, continue with step 10, otherwise examine next topology (return to step 3)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0" name="Textfeld 9"/>
          <p:cNvSpPr txBox="1"/>
          <p:nvPr/>
        </p:nvSpPr>
        <p:spPr>
          <a:xfrm>
            <a:off x="9088968" y="49616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2" name="Textfeld 11"/>
          <p:cNvSpPr txBox="1"/>
          <p:nvPr/>
        </p:nvSpPr>
        <p:spPr>
          <a:xfrm>
            <a:off x="9610044" y="3278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4" name="Textfeld 13"/>
          <p:cNvSpPr txBox="1"/>
          <p:nvPr/>
        </p:nvSpPr>
        <p:spPr>
          <a:xfrm>
            <a:off x="8375977" y="40398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5" name="Textfeld 14"/>
          <p:cNvSpPr txBox="1"/>
          <p:nvPr/>
        </p:nvSpPr>
        <p:spPr>
          <a:xfrm>
            <a:off x="10831547" y="39980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de-DE" dirty="0"/>
          </a:p>
        </p:txBody>
      </p:sp>
      <p:sp>
        <p:nvSpPr>
          <p:cNvPr id="16" name="Textfeld 15"/>
          <p:cNvSpPr txBox="1"/>
          <p:nvPr/>
        </p:nvSpPr>
        <p:spPr>
          <a:xfrm>
            <a:off x="10149245" y="49367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de-DE" dirty="0"/>
          </a:p>
        </p:txBody>
      </p:sp>
      <p:sp>
        <p:nvSpPr>
          <p:cNvPr id="17" name="Textfeld 16"/>
          <p:cNvSpPr txBox="1"/>
          <p:nvPr/>
        </p:nvSpPr>
        <p:spPr>
          <a:xfrm>
            <a:off x="8865990" y="3941087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{0}</a:t>
            </a:r>
            <a:endParaRPr lang="de-DE" dirty="0"/>
          </a:p>
        </p:txBody>
      </p:sp>
      <p:sp>
        <p:nvSpPr>
          <p:cNvPr id="20" name="Textfeld 19"/>
          <p:cNvSpPr txBox="1"/>
          <p:nvPr/>
        </p:nvSpPr>
        <p:spPr>
          <a:xfrm>
            <a:off x="9860303" y="393051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{0,1}</a:t>
            </a:r>
            <a:endParaRPr lang="de-DE" dirty="0"/>
          </a:p>
        </p:txBody>
      </p:sp>
      <p:sp>
        <p:nvSpPr>
          <p:cNvPr id="21" name="Textfeld 20"/>
          <p:cNvSpPr txBox="1"/>
          <p:nvPr/>
        </p:nvSpPr>
        <p:spPr>
          <a:xfrm>
            <a:off x="9393925" y="4115182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{0}</a:t>
            </a:r>
            <a:endParaRPr lang="de-DE" dirty="0"/>
          </a:p>
        </p:txBody>
      </p:sp>
      <p:sp>
        <p:nvSpPr>
          <p:cNvPr id="24" name="Textfeld 23"/>
          <p:cNvSpPr txBox="1"/>
          <p:nvPr/>
        </p:nvSpPr>
        <p:spPr>
          <a:xfrm>
            <a:off x="10430775" y="5731435"/>
            <a:ext cx="1234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= 12</a:t>
            </a:r>
            <a:endParaRPr lang="de-DE" dirty="0"/>
          </a:p>
        </p:txBody>
      </p:sp>
      <p:cxnSp>
        <p:nvCxnSpPr>
          <p:cNvPr id="23" name="Gerader Verbinder 22"/>
          <p:cNvCxnSpPr/>
          <p:nvPr/>
        </p:nvCxnSpPr>
        <p:spPr>
          <a:xfrm flipV="1">
            <a:off x="10367760" y="5620956"/>
            <a:ext cx="1450305" cy="184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7293958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8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1" grpId="0"/>
      <p:bldP spid="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-1" y="662780"/>
            <a:ext cx="7210425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10. Compare the lengths of each examined tree. The smallest length is the optimal (most parsimonious) solution. 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369" y="556590"/>
            <a:ext cx="4007932" cy="5625547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869" y="2539850"/>
            <a:ext cx="2311045" cy="333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95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11. observe the shortest tree</a:t>
            </a:r>
          </a:p>
        </p:txBody>
      </p:sp>
      <p:graphicFrame>
        <p:nvGraphicFramePr>
          <p:cNvPr id="19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407959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25" name="Grafik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450" y="2924810"/>
            <a:ext cx="2311045" cy="3333838"/>
          </a:xfrm>
          <a:prstGeom prst="rect">
            <a:avLst/>
          </a:prstGeom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385020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  <p:sp>
        <p:nvSpPr>
          <p:cNvPr id="4" name="Ellipse 3"/>
          <p:cNvSpPr/>
          <p:nvPr/>
        </p:nvSpPr>
        <p:spPr>
          <a:xfrm>
            <a:off x="7171237" y="5506678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/>
          <p:cNvSpPr/>
          <p:nvPr/>
        </p:nvSpPr>
        <p:spPr>
          <a:xfrm>
            <a:off x="7592718" y="4985184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/>
          <p:cNvSpPr/>
          <p:nvPr/>
        </p:nvSpPr>
        <p:spPr>
          <a:xfrm>
            <a:off x="7995760" y="4453227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/>
          <p:cNvSpPr/>
          <p:nvPr/>
        </p:nvSpPr>
        <p:spPr>
          <a:xfrm>
            <a:off x="8303832" y="3916941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325883" y="5619549"/>
            <a:ext cx="91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= root</a:t>
            </a:r>
            <a:endParaRPr lang="de-DE" dirty="0"/>
          </a:p>
        </p:txBody>
      </p:sp>
      <p:sp>
        <p:nvSpPr>
          <p:cNvPr id="29" name="Textfeld 28"/>
          <p:cNvSpPr txBox="1"/>
          <p:nvPr/>
        </p:nvSpPr>
        <p:spPr>
          <a:xfrm>
            <a:off x="7754155" y="50605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de-DE" dirty="0"/>
          </a:p>
        </p:txBody>
      </p:sp>
      <p:sp>
        <p:nvSpPr>
          <p:cNvPr id="30" name="Textfeld 29"/>
          <p:cNvSpPr txBox="1"/>
          <p:nvPr/>
        </p:nvSpPr>
        <p:spPr>
          <a:xfrm>
            <a:off x="8176851" y="45513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de-DE" dirty="0"/>
          </a:p>
        </p:txBody>
      </p:sp>
      <p:sp>
        <p:nvSpPr>
          <p:cNvPr id="31" name="Textfeld 30"/>
          <p:cNvSpPr txBox="1"/>
          <p:nvPr/>
        </p:nvSpPr>
        <p:spPr>
          <a:xfrm>
            <a:off x="8445432" y="40248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291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6" grpId="0" animBg="1"/>
      <p:bldP spid="27" grpId="0" animBg="1"/>
      <p:bldP spid="28" grpId="0" animBg="1"/>
      <p:bldP spid="5" grpId="0"/>
      <p:bldP spid="29" grpId="0"/>
      <p:bldP spid="30" grpId="0"/>
      <p:bldP spid="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11. observe the shortest tree</a:t>
            </a:r>
          </a:p>
          <a:p>
            <a:pPr marL="457200" lvl="1" indent="0">
              <a:buNone/>
            </a:pPr>
            <a:r>
              <a:rPr lang="en-US" dirty="0"/>
              <a:t>12. starting with the first character, find the node nearest to the basis (but not the root) for which the state was not optimized yet</a:t>
            </a:r>
          </a:p>
          <a:p>
            <a:pPr lvl="2"/>
            <a:r>
              <a:rPr lang="en-US" dirty="0"/>
              <a:t>If state of direct ancestor is included into set of states of the examined node, then state examined node = state ancestral node </a:t>
            </a:r>
          </a:p>
          <a:p>
            <a:pPr lvl="2"/>
            <a:r>
              <a:rPr lang="en-US" dirty="0"/>
              <a:t>If this is not the case, choose random state</a:t>
            </a:r>
          </a:p>
          <a:p>
            <a:pPr marL="457200" lvl="1" indent="0">
              <a:buNone/>
            </a:pPr>
            <a:r>
              <a:rPr lang="en-US" dirty="0"/>
              <a:t>13. Repeat step 12 until state allocation is optimized for last internal terminal node</a:t>
            </a:r>
          </a:p>
          <a:p>
            <a:pPr marL="457200" lvl="1" indent="0">
              <a:buNone/>
            </a:pPr>
            <a:r>
              <a:rPr lang="en-US" dirty="0"/>
              <a:t>14. If last character was optimized continue with step 15, otherwise repeat step 13 with next character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19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407959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25" name="Grafik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450" y="2924810"/>
            <a:ext cx="2311045" cy="3333838"/>
          </a:xfrm>
          <a:prstGeom prst="rect">
            <a:avLst/>
          </a:prstGeom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465063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  <p:sp>
        <p:nvSpPr>
          <p:cNvPr id="4" name="Ellipse 3"/>
          <p:cNvSpPr/>
          <p:nvPr/>
        </p:nvSpPr>
        <p:spPr>
          <a:xfrm>
            <a:off x="7171237" y="5506678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/>
          <p:cNvSpPr/>
          <p:nvPr/>
        </p:nvSpPr>
        <p:spPr>
          <a:xfrm>
            <a:off x="7592718" y="4985184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/>
          <p:cNvSpPr/>
          <p:nvPr/>
        </p:nvSpPr>
        <p:spPr>
          <a:xfrm>
            <a:off x="7995760" y="4453227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/>
          <p:cNvSpPr/>
          <p:nvPr/>
        </p:nvSpPr>
        <p:spPr>
          <a:xfrm>
            <a:off x="8303832" y="3916941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325883" y="5619549"/>
            <a:ext cx="91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= root</a:t>
            </a:r>
            <a:endParaRPr lang="de-DE" dirty="0"/>
          </a:p>
        </p:txBody>
      </p:sp>
      <p:sp>
        <p:nvSpPr>
          <p:cNvPr id="29" name="Textfeld 28"/>
          <p:cNvSpPr txBox="1"/>
          <p:nvPr/>
        </p:nvSpPr>
        <p:spPr>
          <a:xfrm>
            <a:off x="7754155" y="50605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de-DE" dirty="0"/>
          </a:p>
        </p:txBody>
      </p:sp>
      <p:sp>
        <p:nvSpPr>
          <p:cNvPr id="30" name="Textfeld 29"/>
          <p:cNvSpPr txBox="1"/>
          <p:nvPr/>
        </p:nvSpPr>
        <p:spPr>
          <a:xfrm>
            <a:off x="8176851" y="45513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de-DE" dirty="0"/>
          </a:p>
        </p:txBody>
      </p:sp>
      <p:sp>
        <p:nvSpPr>
          <p:cNvPr id="31" name="Textfeld 30"/>
          <p:cNvSpPr txBox="1"/>
          <p:nvPr/>
        </p:nvSpPr>
        <p:spPr>
          <a:xfrm>
            <a:off x="8445432" y="40248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de-DE" dirty="0"/>
          </a:p>
        </p:txBody>
      </p:sp>
      <p:sp>
        <p:nvSpPr>
          <p:cNvPr id="15" name="Pfeil nach rechts 14"/>
          <p:cNvSpPr/>
          <p:nvPr/>
        </p:nvSpPr>
        <p:spPr>
          <a:xfrm rot="12880051">
            <a:off x="8000224" y="5330324"/>
            <a:ext cx="434109" cy="2542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Pfeil nach rechts 15"/>
          <p:cNvSpPr/>
          <p:nvPr/>
        </p:nvSpPr>
        <p:spPr>
          <a:xfrm rot="9001662">
            <a:off x="10754012" y="3016245"/>
            <a:ext cx="434109" cy="2542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0169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11. observe the shortest tree</a:t>
            </a:r>
          </a:p>
          <a:p>
            <a:pPr marL="457200" lvl="1" indent="0">
              <a:buNone/>
            </a:pPr>
            <a:r>
              <a:rPr lang="en-US" dirty="0"/>
              <a:t>12. starting with the first character, find the node nearest to the basis (but not the root) for which the state was not optimized yet</a:t>
            </a:r>
          </a:p>
          <a:p>
            <a:pPr lvl="2"/>
            <a:r>
              <a:rPr lang="en-US" dirty="0"/>
              <a:t>If state of direct ancestor is included into set of states of the examined node, then state examined node = state ancestral node </a:t>
            </a:r>
          </a:p>
          <a:p>
            <a:pPr lvl="2"/>
            <a:r>
              <a:rPr lang="en-US" dirty="0"/>
              <a:t>If this is not the case, choose random state</a:t>
            </a:r>
          </a:p>
          <a:p>
            <a:pPr marL="457200" lvl="1" indent="0">
              <a:buNone/>
            </a:pPr>
            <a:r>
              <a:rPr lang="en-US" dirty="0"/>
              <a:t>13. Repeat step 12 until state allocation is optimized for last internal terminal node</a:t>
            </a:r>
          </a:p>
          <a:p>
            <a:pPr marL="457200" lvl="1" indent="0">
              <a:buNone/>
            </a:pPr>
            <a:r>
              <a:rPr lang="en-US" dirty="0"/>
              <a:t>14. If last character was optimized continue with step 15, otherwise repeat step 13 with next character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19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407959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25" name="Grafik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450" y="2924810"/>
            <a:ext cx="2311045" cy="3333838"/>
          </a:xfrm>
          <a:prstGeom prst="rect">
            <a:avLst/>
          </a:prstGeom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843015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  <p:sp>
        <p:nvSpPr>
          <p:cNvPr id="4" name="Ellipse 3"/>
          <p:cNvSpPr/>
          <p:nvPr/>
        </p:nvSpPr>
        <p:spPr>
          <a:xfrm>
            <a:off x="7171237" y="5506678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/>
          <p:cNvSpPr/>
          <p:nvPr/>
        </p:nvSpPr>
        <p:spPr>
          <a:xfrm>
            <a:off x="7592718" y="4985184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/>
          <p:cNvSpPr/>
          <p:nvPr/>
        </p:nvSpPr>
        <p:spPr>
          <a:xfrm>
            <a:off x="7995760" y="4453227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/>
          <p:cNvSpPr/>
          <p:nvPr/>
        </p:nvSpPr>
        <p:spPr>
          <a:xfrm>
            <a:off x="8303832" y="3916941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325883" y="5619549"/>
            <a:ext cx="91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= root</a:t>
            </a:r>
            <a:endParaRPr lang="de-DE" dirty="0"/>
          </a:p>
        </p:txBody>
      </p:sp>
      <p:sp>
        <p:nvSpPr>
          <p:cNvPr id="29" name="Textfeld 28"/>
          <p:cNvSpPr txBox="1"/>
          <p:nvPr/>
        </p:nvSpPr>
        <p:spPr>
          <a:xfrm>
            <a:off x="7754155" y="50605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de-DE" dirty="0"/>
          </a:p>
        </p:txBody>
      </p:sp>
      <p:sp>
        <p:nvSpPr>
          <p:cNvPr id="30" name="Textfeld 29"/>
          <p:cNvSpPr txBox="1"/>
          <p:nvPr/>
        </p:nvSpPr>
        <p:spPr>
          <a:xfrm>
            <a:off x="8176851" y="45513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de-DE" dirty="0"/>
          </a:p>
        </p:txBody>
      </p:sp>
      <p:sp>
        <p:nvSpPr>
          <p:cNvPr id="31" name="Textfeld 30"/>
          <p:cNvSpPr txBox="1"/>
          <p:nvPr/>
        </p:nvSpPr>
        <p:spPr>
          <a:xfrm>
            <a:off x="8445432" y="40248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2849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11. observe the shortest tree</a:t>
            </a:r>
          </a:p>
          <a:p>
            <a:pPr marL="457200" lvl="1" indent="0">
              <a:buNone/>
            </a:pPr>
            <a:r>
              <a:rPr lang="en-US" dirty="0"/>
              <a:t>12. starting with the first character, find the node nearest to the basis (but not the root) for which the state was not optimized yet</a:t>
            </a:r>
          </a:p>
          <a:p>
            <a:pPr lvl="2"/>
            <a:r>
              <a:rPr lang="en-US" dirty="0"/>
              <a:t>If state of direct ancestor is included into set of states of the examined node, then state examined node = state ancestral node </a:t>
            </a:r>
          </a:p>
          <a:p>
            <a:pPr lvl="2"/>
            <a:r>
              <a:rPr lang="en-US" dirty="0"/>
              <a:t>If this is not the case, choose random state</a:t>
            </a:r>
          </a:p>
          <a:p>
            <a:pPr marL="457200" lvl="1" indent="0">
              <a:buNone/>
            </a:pPr>
            <a:r>
              <a:rPr lang="en-US" dirty="0"/>
              <a:t>13. Repeat step 12 until state allocation is optimized for last internal terminal node</a:t>
            </a:r>
          </a:p>
          <a:p>
            <a:pPr marL="457200" lvl="1" indent="0">
              <a:buNone/>
            </a:pPr>
            <a:r>
              <a:rPr lang="en-US" dirty="0"/>
              <a:t>14. If last character was optimized continue with step 15, otherwise repeat step 13 with next character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19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407959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25" name="Grafik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450" y="2924810"/>
            <a:ext cx="2311045" cy="3333838"/>
          </a:xfrm>
          <a:prstGeom prst="rect">
            <a:avLst/>
          </a:prstGeom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902874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  <p:sp>
        <p:nvSpPr>
          <p:cNvPr id="4" name="Ellipse 3"/>
          <p:cNvSpPr/>
          <p:nvPr/>
        </p:nvSpPr>
        <p:spPr>
          <a:xfrm>
            <a:off x="7171237" y="5506678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/>
          <p:cNvSpPr/>
          <p:nvPr/>
        </p:nvSpPr>
        <p:spPr>
          <a:xfrm>
            <a:off x="7592718" y="4985184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/>
          <p:cNvSpPr/>
          <p:nvPr/>
        </p:nvSpPr>
        <p:spPr>
          <a:xfrm>
            <a:off x="7995760" y="4453227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/>
          <p:cNvSpPr/>
          <p:nvPr/>
        </p:nvSpPr>
        <p:spPr>
          <a:xfrm>
            <a:off x="8303832" y="3916941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325883" y="5619549"/>
            <a:ext cx="91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= root</a:t>
            </a:r>
            <a:endParaRPr lang="de-DE" dirty="0"/>
          </a:p>
        </p:txBody>
      </p:sp>
      <p:sp>
        <p:nvSpPr>
          <p:cNvPr id="29" name="Textfeld 28"/>
          <p:cNvSpPr txBox="1"/>
          <p:nvPr/>
        </p:nvSpPr>
        <p:spPr>
          <a:xfrm>
            <a:off x="7754155" y="50605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de-DE" dirty="0"/>
          </a:p>
        </p:txBody>
      </p:sp>
      <p:sp>
        <p:nvSpPr>
          <p:cNvPr id="30" name="Textfeld 29"/>
          <p:cNvSpPr txBox="1"/>
          <p:nvPr/>
        </p:nvSpPr>
        <p:spPr>
          <a:xfrm>
            <a:off x="8176851" y="45513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de-DE" dirty="0"/>
          </a:p>
        </p:txBody>
      </p:sp>
      <p:sp>
        <p:nvSpPr>
          <p:cNvPr id="31" name="Textfeld 30"/>
          <p:cNvSpPr txBox="1"/>
          <p:nvPr/>
        </p:nvSpPr>
        <p:spPr>
          <a:xfrm>
            <a:off x="8445432" y="40248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78864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11. observe the shortest tree</a:t>
            </a:r>
          </a:p>
          <a:p>
            <a:pPr marL="457200" lvl="1" indent="0">
              <a:buNone/>
            </a:pPr>
            <a:r>
              <a:rPr lang="en-US" dirty="0"/>
              <a:t>12. starting with the first character, find the node nearest to the basis (but not the root) for which the state was not optimized yet</a:t>
            </a:r>
          </a:p>
          <a:p>
            <a:pPr lvl="2"/>
            <a:r>
              <a:rPr lang="en-US" dirty="0"/>
              <a:t>If state of direct ancestor is included into set of states of the examined node, then state examined node = state ancestral node </a:t>
            </a:r>
          </a:p>
          <a:p>
            <a:pPr lvl="2"/>
            <a:r>
              <a:rPr lang="en-US" dirty="0"/>
              <a:t>If this is not the case, choose random state</a:t>
            </a:r>
          </a:p>
          <a:p>
            <a:pPr marL="457200" lvl="1" indent="0">
              <a:buNone/>
            </a:pPr>
            <a:r>
              <a:rPr lang="en-US" dirty="0"/>
              <a:t>13. Repeat step 12 until state allocation is optimized for last internal terminal node</a:t>
            </a:r>
          </a:p>
          <a:p>
            <a:pPr marL="457200" lvl="1" indent="0">
              <a:buNone/>
            </a:pPr>
            <a:r>
              <a:rPr lang="en-US" dirty="0"/>
              <a:t>14. If last character was optimized continue with step 15, otherwise repeat step 13 with next character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19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407959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25" name="Grafik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450" y="2924810"/>
            <a:ext cx="2311045" cy="3333838"/>
          </a:xfrm>
          <a:prstGeom prst="rect">
            <a:avLst/>
          </a:prstGeom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692479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  <p:sp>
        <p:nvSpPr>
          <p:cNvPr id="4" name="Ellipse 3"/>
          <p:cNvSpPr/>
          <p:nvPr/>
        </p:nvSpPr>
        <p:spPr>
          <a:xfrm>
            <a:off x="7171237" y="5506678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/>
          <p:cNvSpPr/>
          <p:nvPr/>
        </p:nvSpPr>
        <p:spPr>
          <a:xfrm>
            <a:off x="7592718" y="4985184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/>
          <p:cNvSpPr/>
          <p:nvPr/>
        </p:nvSpPr>
        <p:spPr>
          <a:xfrm>
            <a:off x="7995760" y="4453227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/>
          <p:cNvSpPr/>
          <p:nvPr/>
        </p:nvSpPr>
        <p:spPr>
          <a:xfrm>
            <a:off x="8303832" y="3916941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325883" y="5619549"/>
            <a:ext cx="91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= root</a:t>
            </a:r>
            <a:endParaRPr lang="de-DE" dirty="0"/>
          </a:p>
        </p:txBody>
      </p:sp>
      <p:sp>
        <p:nvSpPr>
          <p:cNvPr id="29" name="Textfeld 28"/>
          <p:cNvSpPr txBox="1"/>
          <p:nvPr/>
        </p:nvSpPr>
        <p:spPr>
          <a:xfrm>
            <a:off x="7754155" y="50605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de-DE" dirty="0"/>
          </a:p>
        </p:txBody>
      </p:sp>
      <p:sp>
        <p:nvSpPr>
          <p:cNvPr id="30" name="Textfeld 29"/>
          <p:cNvSpPr txBox="1"/>
          <p:nvPr/>
        </p:nvSpPr>
        <p:spPr>
          <a:xfrm>
            <a:off x="8176851" y="45513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de-DE" dirty="0"/>
          </a:p>
        </p:txBody>
      </p:sp>
      <p:sp>
        <p:nvSpPr>
          <p:cNvPr id="31" name="Textfeld 30"/>
          <p:cNvSpPr txBox="1"/>
          <p:nvPr/>
        </p:nvSpPr>
        <p:spPr>
          <a:xfrm>
            <a:off x="8445432" y="40248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70538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11. observe the shortest tree</a:t>
            </a:r>
          </a:p>
          <a:p>
            <a:pPr marL="457200" lvl="1" indent="0">
              <a:buNone/>
            </a:pPr>
            <a:r>
              <a:rPr lang="en-US" dirty="0"/>
              <a:t>12. starting with the first character, find the node nearest to the basis (but not the root) for which the state was not optimized yet</a:t>
            </a:r>
          </a:p>
          <a:p>
            <a:pPr lvl="2"/>
            <a:r>
              <a:rPr lang="en-US" dirty="0"/>
              <a:t>If state of direct ancestor is included into set of states of the examined node, then state examined node = state ancestral node </a:t>
            </a:r>
          </a:p>
          <a:p>
            <a:pPr lvl="2"/>
            <a:r>
              <a:rPr lang="en-US" dirty="0"/>
              <a:t>If this is not the case, choose random state</a:t>
            </a:r>
          </a:p>
          <a:p>
            <a:pPr marL="457200" lvl="1" indent="0">
              <a:buNone/>
            </a:pPr>
            <a:r>
              <a:rPr lang="en-US" dirty="0"/>
              <a:t>13. Repeat step 12 until state allocation is optimized for last internal terminal node</a:t>
            </a:r>
          </a:p>
          <a:p>
            <a:pPr marL="457200" lvl="1" indent="0">
              <a:buNone/>
            </a:pPr>
            <a:r>
              <a:rPr lang="en-US" dirty="0"/>
              <a:t>14. If last character was optimized continue with step 15, otherwise repeat step 13 with next character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19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407959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25" name="Grafik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450" y="2924810"/>
            <a:ext cx="2311045" cy="3333838"/>
          </a:xfrm>
          <a:prstGeom prst="rect">
            <a:avLst/>
          </a:prstGeom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632684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  <p:sp>
        <p:nvSpPr>
          <p:cNvPr id="4" name="Ellipse 3"/>
          <p:cNvSpPr/>
          <p:nvPr/>
        </p:nvSpPr>
        <p:spPr>
          <a:xfrm>
            <a:off x="7171237" y="5506678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/>
          <p:cNvSpPr/>
          <p:nvPr/>
        </p:nvSpPr>
        <p:spPr>
          <a:xfrm>
            <a:off x="7592718" y="4985184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/>
          <p:cNvSpPr/>
          <p:nvPr/>
        </p:nvSpPr>
        <p:spPr>
          <a:xfrm>
            <a:off x="7995760" y="4453227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/>
          <p:cNvSpPr/>
          <p:nvPr/>
        </p:nvSpPr>
        <p:spPr>
          <a:xfrm>
            <a:off x="8303832" y="3916941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325883" y="5619549"/>
            <a:ext cx="91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= root</a:t>
            </a:r>
            <a:endParaRPr lang="de-DE" dirty="0"/>
          </a:p>
        </p:txBody>
      </p:sp>
      <p:sp>
        <p:nvSpPr>
          <p:cNvPr id="29" name="Textfeld 28"/>
          <p:cNvSpPr txBox="1"/>
          <p:nvPr/>
        </p:nvSpPr>
        <p:spPr>
          <a:xfrm>
            <a:off x="7754155" y="50605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de-DE" dirty="0"/>
          </a:p>
        </p:txBody>
      </p:sp>
      <p:sp>
        <p:nvSpPr>
          <p:cNvPr id="30" name="Textfeld 29"/>
          <p:cNvSpPr txBox="1"/>
          <p:nvPr/>
        </p:nvSpPr>
        <p:spPr>
          <a:xfrm>
            <a:off x="8176851" y="45513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de-DE" dirty="0"/>
          </a:p>
        </p:txBody>
      </p:sp>
      <p:sp>
        <p:nvSpPr>
          <p:cNvPr id="31" name="Textfeld 30"/>
          <p:cNvSpPr txBox="1"/>
          <p:nvPr/>
        </p:nvSpPr>
        <p:spPr>
          <a:xfrm>
            <a:off x="8445432" y="40248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70542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11. observe the shortest tree</a:t>
            </a:r>
          </a:p>
          <a:p>
            <a:pPr marL="457200" lvl="1" indent="0">
              <a:buNone/>
            </a:pPr>
            <a:r>
              <a:rPr lang="en-US" dirty="0"/>
              <a:t>12. starting with the first character, find the node nearest to the basis (but not the root) for which the state was not optimized yet</a:t>
            </a:r>
          </a:p>
          <a:p>
            <a:pPr lvl="2"/>
            <a:r>
              <a:rPr lang="en-US" dirty="0"/>
              <a:t>If state of direct ancestor is included into set of states of the examined node, then state examined node = state ancestral node </a:t>
            </a:r>
          </a:p>
          <a:p>
            <a:pPr lvl="2"/>
            <a:r>
              <a:rPr lang="en-US" dirty="0"/>
              <a:t>If this is not the case, choose random state</a:t>
            </a:r>
          </a:p>
          <a:p>
            <a:pPr marL="457200" lvl="1" indent="0">
              <a:buNone/>
            </a:pPr>
            <a:r>
              <a:rPr lang="en-US" dirty="0"/>
              <a:t>13. Repeat step 12 until state allocation is optimized for last internal terminal node</a:t>
            </a:r>
          </a:p>
          <a:p>
            <a:pPr marL="457200" lvl="1" indent="0">
              <a:buNone/>
            </a:pPr>
            <a:r>
              <a:rPr lang="en-US" dirty="0"/>
              <a:t>14. If last character was optimized continue with step 15, otherwise repeat step 13 with next character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19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407959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25" name="Grafik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450" y="2924810"/>
            <a:ext cx="2311045" cy="3333838"/>
          </a:xfrm>
          <a:prstGeom prst="rect">
            <a:avLst/>
          </a:prstGeom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891749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  <p:sp>
        <p:nvSpPr>
          <p:cNvPr id="4" name="Ellipse 3"/>
          <p:cNvSpPr/>
          <p:nvPr/>
        </p:nvSpPr>
        <p:spPr>
          <a:xfrm>
            <a:off x="7171237" y="5506678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/>
          <p:cNvSpPr/>
          <p:nvPr/>
        </p:nvSpPr>
        <p:spPr>
          <a:xfrm>
            <a:off x="7592718" y="4985184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/>
          <p:cNvSpPr/>
          <p:nvPr/>
        </p:nvSpPr>
        <p:spPr>
          <a:xfrm>
            <a:off x="7995760" y="4453227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/>
          <p:cNvSpPr/>
          <p:nvPr/>
        </p:nvSpPr>
        <p:spPr>
          <a:xfrm>
            <a:off x="8303832" y="3916941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325883" y="5619549"/>
            <a:ext cx="91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= root</a:t>
            </a:r>
            <a:endParaRPr lang="de-DE" dirty="0"/>
          </a:p>
        </p:txBody>
      </p:sp>
      <p:sp>
        <p:nvSpPr>
          <p:cNvPr id="29" name="Textfeld 28"/>
          <p:cNvSpPr txBox="1"/>
          <p:nvPr/>
        </p:nvSpPr>
        <p:spPr>
          <a:xfrm>
            <a:off x="7754155" y="50605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de-DE" dirty="0"/>
          </a:p>
        </p:txBody>
      </p:sp>
      <p:sp>
        <p:nvSpPr>
          <p:cNvPr id="30" name="Textfeld 29"/>
          <p:cNvSpPr txBox="1"/>
          <p:nvPr/>
        </p:nvSpPr>
        <p:spPr>
          <a:xfrm>
            <a:off x="8176851" y="45513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de-DE" dirty="0"/>
          </a:p>
        </p:txBody>
      </p:sp>
      <p:sp>
        <p:nvSpPr>
          <p:cNvPr id="31" name="Textfeld 30"/>
          <p:cNvSpPr txBox="1"/>
          <p:nvPr/>
        </p:nvSpPr>
        <p:spPr>
          <a:xfrm>
            <a:off x="8445432" y="40248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60743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11. observe the shortest tree</a:t>
            </a:r>
          </a:p>
          <a:p>
            <a:pPr marL="457200" lvl="1" indent="0">
              <a:buNone/>
            </a:pPr>
            <a:r>
              <a:rPr lang="en-US" dirty="0"/>
              <a:t>12. starting with the first character, find the node nearest to the basis (but not the root) for which the state was not optimized yet</a:t>
            </a:r>
          </a:p>
          <a:p>
            <a:pPr lvl="2"/>
            <a:r>
              <a:rPr lang="en-US" dirty="0"/>
              <a:t>If state of direct ancestor is included into set of states of the examined node, then state examined node = state ancestral node </a:t>
            </a:r>
          </a:p>
          <a:p>
            <a:pPr lvl="2"/>
            <a:r>
              <a:rPr lang="en-US" dirty="0"/>
              <a:t>If this is not the case, choose random state</a:t>
            </a:r>
          </a:p>
          <a:p>
            <a:pPr marL="457200" lvl="1" indent="0">
              <a:buNone/>
            </a:pPr>
            <a:r>
              <a:rPr lang="en-US" dirty="0"/>
              <a:t>13. Repeat step 12 until state allocation is optimized for last internal terminal node</a:t>
            </a:r>
          </a:p>
          <a:p>
            <a:pPr marL="457200" lvl="1" indent="0">
              <a:buNone/>
            </a:pPr>
            <a:r>
              <a:rPr lang="en-US" dirty="0"/>
              <a:t>14. If last character was optimized continue with step 15, otherwise repeat step 13 with next character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19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407959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25" name="Grafik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450" y="2924810"/>
            <a:ext cx="2311045" cy="3333838"/>
          </a:xfrm>
          <a:prstGeom prst="rect">
            <a:avLst/>
          </a:prstGeom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621960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  <p:sp>
        <p:nvSpPr>
          <p:cNvPr id="4" name="Ellipse 3"/>
          <p:cNvSpPr/>
          <p:nvPr/>
        </p:nvSpPr>
        <p:spPr>
          <a:xfrm>
            <a:off x="7171237" y="5506678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/>
          <p:cNvSpPr/>
          <p:nvPr/>
        </p:nvSpPr>
        <p:spPr>
          <a:xfrm>
            <a:off x="7592718" y="4985184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/>
          <p:cNvSpPr/>
          <p:nvPr/>
        </p:nvSpPr>
        <p:spPr>
          <a:xfrm>
            <a:off x="7995760" y="4453227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/>
          <p:cNvSpPr/>
          <p:nvPr/>
        </p:nvSpPr>
        <p:spPr>
          <a:xfrm>
            <a:off x="8303832" y="3916941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325883" y="5619549"/>
            <a:ext cx="91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= root</a:t>
            </a:r>
            <a:endParaRPr lang="de-DE" dirty="0"/>
          </a:p>
        </p:txBody>
      </p:sp>
      <p:sp>
        <p:nvSpPr>
          <p:cNvPr id="29" name="Textfeld 28"/>
          <p:cNvSpPr txBox="1"/>
          <p:nvPr/>
        </p:nvSpPr>
        <p:spPr>
          <a:xfrm>
            <a:off x="7754155" y="50605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de-DE" dirty="0"/>
          </a:p>
        </p:txBody>
      </p:sp>
      <p:sp>
        <p:nvSpPr>
          <p:cNvPr id="30" name="Textfeld 29"/>
          <p:cNvSpPr txBox="1"/>
          <p:nvPr/>
        </p:nvSpPr>
        <p:spPr>
          <a:xfrm>
            <a:off x="8176851" y="45513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de-DE" dirty="0"/>
          </a:p>
        </p:txBody>
      </p:sp>
      <p:sp>
        <p:nvSpPr>
          <p:cNvPr id="31" name="Textfeld 30"/>
          <p:cNvSpPr txBox="1"/>
          <p:nvPr/>
        </p:nvSpPr>
        <p:spPr>
          <a:xfrm>
            <a:off x="8445432" y="40248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958098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11. observe the shortest tree</a:t>
            </a:r>
          </a:p>
          <a:p>
            <a:pPr marL="457200" lvl="1" indent="0">
              <a:buNone/>
            </a:pPr>
            <a:r>
              <a:rPr lang="en-US" dirty="0"/>
              <a:t>12. starting with the first character, find the node nearest to the basis (but not the root) for which the state was not optimized yet</a:t>
            </a:r>
          </a:p>
          <a:p>
            <a:pPr lvl="2"/>
            <a:r>
              <a:rPr lang="en-US" dirty="0"/>
              <a:t>If state of direct ancestor is included into set of states of the examined node, then state examined node = state ancestral node </a:t>
            </a:r>
          </a:p>
          <a:p>
            <a:pPr lvl="2"/>
            <a:r>
              <a:rPr lang="en-US" dirty="0"/>
              <a:t>If this is not the case, choose random state</a:t>
            </a:r>
          </a:p>
          <a:p>
            <a:pPr marL="457200" lvl="1" indent="0">
              <a:buNone/>
            </a:pPr>
            <a:r>
              <a:rPr lang="en-US" dirty="0"/>
              <a:t>13. Repeat step 12 until state allocation is optimized for last internal terminal node</a:t>
            </a:r>
          </a:p>
          <a:p>
            <a:pPr marL="457200" lvl="1" indent="0">
              <a:buNone/>
            </a:pPr>
            <a:r>
              <a:rPr lang="en-US" dirty="0"/>
              <a:t>14. If last character was optimized continue with step 15, otherwise repeat step 13 with next character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19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407959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25" name="Grafik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450" y="2924810"/>
            <a:ext cx="2311045" cy="3333838"/>
          </a:xfrm>
          <a:prstGeom prst="rect">
            <a:avLst/>
          </a:prstGeom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820600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  <p:sp>
        <p:nvSpPr>
          <p:cNvPr id="4" name="Ellipse 3"/>
          <p:cNvSpPr/>
          <p:nvPr/>
        </p:nvSpPr>
        <p:spPr>
          <a:xfrm>
            <a:off x="7171237" y="5506678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/>
          <p:cNvSpPr/>
          <p:nvPr/>
        </p:nvSpPr>
        <p:spPr>
          <a:xfrm>
            <a:off x="7592718" y="4985184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/>
          <p:cNvSpPr/>
          <p:nvPr/>
        </p:nvSpPr>
        <p:spPr>
          <a:xfrm>
            <a:off x="7995760" y="4453227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/>
          <p:cNvSpPr/>
          <p:nvPr/>
        </p:nvSpPr>
        <p:spPr>
          <a:xfrm>
            <a:off x="8303832" y="3916941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325883" y="5619549"/>
            <a:ext cx="91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= root</a:t>
            </a:r>
            <a:endParaRPr lang="de-DE" dirty="0"/>
          </a:p>
        </p:txBody>
      </p:sp>
      <p:sp>
        <p:nvSpPr>
          <p:cNvPr id="29" name="Textfeld 28"/>
          <p:cNvSpPr txBox="1"/>
          <p:nvPr/>
        </p:nvSpPr>
        <p:spPr>
          <a:xfrm>
            <a:off x="7754155" y="50605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de-DE" dirty="0"/>
          </a:p>
        </p:txBody>
      </p:sp>
      <p:sp>
        <p:nvSpPr>
          <p:cNvPr id="30" name="Textfeld 29"/>
          <p:cNvSpPr txBox="1"/>
          <p:nvPr/>
        </p:nvSpPr>
        <p:spPr>
          <a:xfrm>
            <a:off x="8176851" y="45513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de-DE" dirty="0"/>
          </a:p>
        </p:txBody>
      </p:sp>
      <p:sp>
        <p:nvSpPr>
          <p:cNvPr id="31" name="Textfeld 30"/>
          <p:cNvSpPr txBox="1"/>
          <p:nvPr/>
        </p:nvSpPr>
        <p:spPr>
          <a:xfrm>
            <a:off x="8445432" y="40248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29842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11. observe the shortest tree</a:t>
            </a:r>
          </a:p>
          <a:p>
            <a:pPr marL="457200" lvl="1" indent="0">
              <a:buNone/>
            </a:pPr>
            <a:r>
              <a:rPr lang="en-US" dirty="0"/>
              <a:t>12. starting with the first character, find the node nearest to the basis (but not the root) for which the state was not optimized yet</a:t>
            </a:r>
          </a:p>
          <a:p>
            <a:pPr lvl="2"/>
            <a:r>
              <a:rPr lang="en-US" dirty="0"/>
              <a:t>If state of direct ancestor is included into set of states of the examined node, then state examined node = state ancestral node </a:t>
            </a:r>
          </a:p>
          <a:p>
            <a:pPr lvl="2"/>
            <a:r>
              <a:rPr lang="en-US" dirty="0"/>
              <a:t>If this is not the case, choose random state</a:t>
            </a:r>
          </a:p>
          <a:p>
            <a:pPr marL="457200" lvl="1" indent="0">
              <a:buNone/>
            </a:pPr>
            <a:r>
              <a:rPr lang="en-US" dirty="0"/>
              <a:t>13. Repeat step 12 until state allocation is optimized for last internal terminal node</a:t>
            </a:r>
          </a:p>
          <a:p>
            <a:pPr marL="457200" lvl="1" indent="0">
              <a:buNone/>
            </a:pPr>
            <a:r>
              <a:rPr lang="en-US" dirty="0"/>
              <a:t>14. If last character was optimized continue with step 15, otherwise repeat step 13 with next character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19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407959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25" name="Grafik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450" y="2924810"/>
            <a:ext cx="2311045" cy="3333838"/>
          </a:xfrm>
          <a:prstGeom prst="rect">
            <a:avLst/>
          </a:prstGeom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459904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  <p:sp>
        <p:nvSpPr>
          <p:cNvPr id="4" name="Ellipse 3"/>
          <p:cNvSpPr/>
          <p:nvPr/>
        </p:nvSpPr>
        <p:spPr>
          <a:xfrm>
            <a:off x="7171237" y="5506678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/>
          <p:cNvSpPr/>
          <p:nvPr/>
        </p:nvSpPr>
        <p:spPr>
          <a:xfrm>
            <a:off x="7592718" y="4985184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/>
          <p:cNvSpPr/>
          <p:nvPr/>
        </p:nvSpPr>
        <p:spPr>
          <a:xfrm>
            <a:off x="7995760" y="4453227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/>
          <p:cNvSpPr/>
          <p:nvPr/>
        </p:nvSpPr>
        <p:spPr>
          <a:xfrm>
            <a:off x="8303832" y="3916941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325883" y="5619549"/>
            <a:ext cx="91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= root</a:t>
            </a:r>
            <a:endParaRPr lang="de-DE" dirty="0"/>
          </a:p>
        </p:txBody>
      </p:sp>
      <p:sp>
        <p:nvSpPr>
          <p:cNvPr id="29" name="Textfeld 28"/>
          <p:cNvSpPr txBox="1"/>
          <p:nvPr/>
        </p:nvSpPr>
        <p:spPr>
          <a:xfrm>
            <a:off x="7754155" y="50605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de-DE" dirty="0"/>
          </a:p>
        </p:txBody>
      </p:sp>
      <p:sp>
        <p:nvSpPr>
          <p:cNvPr id="30" name="Textfeld 29"/>
          <p:cNvSpPr txBox="1"/>
          <p:nvPr/>
        </p:nvSpPr>
        <p:spPr>
          <a:xfrm>
            <a:off x="8176851" y="45513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de-DE" dirty="0"/>
          </a:p>
        </p:txBody>
      </p:sp>
      <p:sp>
        <p:nvSpPr>
          <p:cNvPr id="31" name="Textfeld 30"/>
          <p:cNvSpPr txBox="1"/>
          <p:nvPr/>
        </p:nvSpPr>
        <p:spPr>
          <a:xfrm>
            <a:off x="8445432" y="40248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83218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11. observe the shortest tree</a:t>
            </a:r>
          </a:p>
          <a:p>
            <a:pPr marL="457200" lvl="1" indent="0">
              <a:buNone/>
            </a:pPr>
            <a:r>
              <a:rPr lang="en-US" dirty="0"/>
              <a:t>12. starting with the first character, find the node nearest to the basis (but not the root) for which the state was not optimized yet</a:t>
            </a:r>
          </a:p>
          <a:p>
            <a:pPr lvl="2"/>
            <a:r>
              <a:rPr lang="en-US" dirty="0"/>
              <a:t>If state of direct ancestor is included into set of states of the examined node, then state examined node = state ancestral node </a:t>
            </a:r>
          </a:p>
          <a:p>
            <a:pPr lvl="2"/>
            <a:r>
              <a:rPr lang="en-US" dirty="0"/>
              <a:t>If this is not the case, choose random state</a:t>
            </a:r>
          </a:p>
          <a:p>
            <a:pPr marL="457200" lvl="1" indent="0">
              <a:buNone/>
            </a:pPr>
            <a:r>
              <a:rPr lang="en-US" dirty="0"/>
              <a:t>13. Repeat step 12 until state allocation is optimized for last internal terminal node</a:t>
            </a:r>
          </a:p>
          <a:p>
            <a:pPr marL="457200" lvl="1" indent="0">
              <a:buNone/>
            </a:pPr>
            <a:r>
              <a:rPr lang="en-US" dirty="0"/>
              <a:t>14. If last character was optimized continue with step 15, otherwise repeat step 13 with next character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19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407959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25" name="Grafik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450" y="2924810"/>
            <a:ext cx="2311045" cy="3333838"/>
          </a:xfrm>
          <a:prstGeom prst="rect">
            <a:avLst/>
          </a:prstGeom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505185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  <p:sp>
        <p:nvSpPr>
          <p:cNvPr id="4" name="Ellipse 3"/>
          <p:cNvSpPr/>
          <p:nvPr/>
        </p:nvSpPr>
        <p:spPr>
          <a:xfrm>
            <a:off x="7171237" y="5506678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/>
          <p:cNvSpPr/>
          <p:nvPr/>
        </p:nvSpPr>
        <p:spPr>
          <a:xfrm>
            <a:off x="7592718" y="4985184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/>
          <p:cNvSpPr/>
          <p:nvPr/>
        </p:nvSpPr>
        <p:spPr>
          <a:xfrm>
            <a:off x="7995760" y="4453227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/>
          <p:cNvSpPr/>
          <p:nvPr/>
        </p:nvSpPr>
        <p:spPr>
          <a:xfrm>
            <a:off x="8303832" y="3916941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325883" y="5619549"/>
            <a:ext cx="91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= root</a:t>
            </a:r>
            <a:endParaRPr lang="de-DE" dirty="0"/>
          </a:p>
        </p:txBody>
      </p:sp>
      <p:sp>
        <p:nvSpPr>
          <p:cNvPr id="29" name="Textfeld 28"/>
          <p:cNvSpPr txBox="1"/>
          <p:nvPr/>
        </p:nvSpPr>
        <p:spPr>
          <a:xfrm>
            <a:off x="7754155" y="50605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de-DE" dirty="0"/>
          </a:p>
        </p:txBody>
      </p:sp>
      <p:sp>
        <p:nvSpPr>
          <p:cNvPr id="30" name="Textfeld 29"/>
          <p:cNvSpPr txBox="1"/>
          <p:nvPr/>
        </p:nvSpPr>
        <p:spPr>
          <a:xfrm>
            <a:off x="8176851" y="45513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de-DE" dirty="0"/>
          </a:p>
        </p:txBody>
      </p:sp>
      <p:sp>
        <p:nvSpPr>
          <p:cNvPr id="31" name="Textfeld 30"/>
          <p:cNvSpPr txBox="1"/>
          <p:nvPr/>
        </p:nvSpPr>
        <p:spPr>
          <a:xfrm>
            <a:off x="8445432" y="40248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20642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Step-by-step guide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11. observe the shortest tree</a:t>
            </a:r>
          </a:p>
          <a:p>
            <a:pPr marL="457200" lvl="1" indent="0">
              <a:buNone/>
            </a:pPr>
            <a:r>
              <a:rPr lang="en-US" dirty="0"/>
              <a:t>12. starting with the first character, find the node nearest to the basis (but not the root) for which the state was not optimized yet</a:t>
            </a:r>
          </a:p>
          <a:p>
            <a:pPr lvl="2"/>
            <a:r>
              <a:rPr lang="en-US" dirty="0"/>
              <a:t>If state of direct ancestor is included into set of states of the examined node, then state examined node = state ancestral node </a:t>
            </a:r>
          </a:p>
          <a:p>
            <a:pPr lvl="2"/>
            <a:r>
              <a:rPr lang="en-US" dirty="0"/>
              <a:t>If this is not the case, choose random state</a:t>
            </a:r>
          </a:p>
          <a:p>
            <a:pPr marL="457200" lvl="1" indent="0">
              <a:buNone/>
            </a:pPr>
            <a:r>
              <a:rPr lang="en-US" dirty="0"/>
              <a:t>13. Repeat step 12 until state allocation is optimized for last internal terminal node</a:t>
            </a:r>
          </a:p>
          <a:p>
            <a:pPr marL="457200" lvl="1" indent="0">
              <a:buNone/>
            </a:pPr>
            <a:r>
              <a:rPr lang="en-US" dirty="0"/>
              <a:t>14. If last character was optimized continue with step 15, otherwise repeat step 13 with next character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19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407959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25" name="Grafik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450" y="2924810"/>
            <a:ext cx="2311045" cy="3333838"/>
          </a:xfrm>
          <a:prstGeom prst="rect">
            <a:avLst/>
          </a:prstGeom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152032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  <p:sp>
        <p:nvSpPr>
          <p:cNvPr id="4" name="Ellipse 3"/>
          <p:cNvSpPr/>
          <p:nvPr/>
        </p:nvSpPr>
        <p:spPr>
          <a:xfrm>
            <a:off x="7171237" y="5506678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/>
          <p:cNvSpPr/>
          <p:nvPr/>
        </p:nvSpPr>
        <p:spPr>
          <a:xfrm>
            <a:off x="7592718" y="4985184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/>
          <p:cNvSpPr/>
          <p:nvPr/>
        </p:nvSpPr>
        <p:spPr>
          <a:xfrm>
            <a:off x="7995760" y="4453227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/>
          <p:cNvSpPr/>
          <p:nvPr/>
        </p:nvSpPr>
        <p:spPr>
          <a:xfrm>
            <a:off x="8303832" y="3916941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325883" y="5619549"/>
            <a:ext cx="91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= root</a:t>
            </a:r>
            <a:endParaRPr lang="de-DE" dirty="0"/>
          </a:p>
        </p:txBody>
      </p:sp>
      <p:sp>
        <p:nvSpPr>
          <p:cNvPr id="29" name="Textfeld 28"/>
          <p:cNvSpPr txBox="1"/>
          <p:nvPr/>
        </p:nvSpPr>
        <p:spPr>
          <a:xfrm>
            <a:off x="7754155" y="50605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de-DE" dirty="0"/>
          </a:p>
        </p:txBody>
      </p:sp>
      <p:sp>
        <p:nvSpPr>
          <p:cNvPr id="30" name="Textfeld 29"/>
          <p:cNvSpPr txBox="1"/>
          <p:nvPr/>
        </p:nvSpPr>
        <p:spPr>
          <a:xfrm>
            <a:off x="8176851" y="45513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de-DE" dirty="0"/>
          </a:p>
        </p:txBody>
      </p:sp>
      <p:sp>
        <p:nvSpPr>
          <p:cNvPr id="31" name="Textfeld 30"/>
          <p:cNvSpPr txBox="1"/>
          <p:nvPr/>
        </p:nvSpPr>
        <p:spPr>
          <a:xfrm>
            <a:off x="8445432" y="40248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4889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b="1" dirty="0"/>
              <a:t>Step-by-step guide</a:t>
            </a:r>
            <a:endParaRPr lang="de-DE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15. If examined tree was last shortest tree, then character reconstruction is finished. Otherwise, return to step 12 and examine the next equally short tree. 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19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407959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25" name="Grafik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450" y="2924810"/>
            <a:ext cx="2311045" cy="3333838"/>
          </a:xfrm>
          <a:prstGeom prst="rect">
            <a:avLst/>
          </a:prstGeom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152032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  <p:sp>
        <p:nvSpPr>
          <p:cNvPr id="4" name="Ellipse 3"/>
          <p:cNvSpPr/>
          <p:nvPr/>
        </p:nvSpPr>
        <p:spPr>
          <a:xfrm>
            <a:off x="7171237" y="5506678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/>
          <p:cNvSpPr/>
          <p:nvPr/>
        </p:nvSpPr>
        <p:spPr>
          <a:xfrm>
            <a:off x="7592718" y="4985184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/>
          <p:cNvSpPr/>
          <p:nvPr/>
        </p:nvSpPr>
        <p:spPr>
          <a:xfrm>
            <a:off x="7995760" y="4453227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/>
          <p:cNvSpPr/>
          <p:nvPr/>
        </p:nvSpPr>
        <p:spPr>
          <a:xfrm>
            <a:off x="8303832" y="3916941"/>
            <a:ext cx="230909" cy="2124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325883" y="5619549"/>
            <a:ext cx="91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= root</a:t>
            </a:r>
            <a:endParaRPr lang="de-DE" dirty="0"/>
          </a:p>
        </p:txBody>
      </p:sp>
      <p:sp>
        <p:nvSpPr>
          <p:cNvPr id="29" name="Textfeld 28"/>
          <p:cNvSpPr txBox="1"/>
          <p:nvPr/>
        </p:nvSpPr>
        <p:spPr>
          <a:xfrm>
            <a:off x="7754155" y="50605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de-DE" dirty="0"/>
          </a:p>
        </p:txBody>
      </p:sp>
      <p:sp>
        <p:nvSpPr>
          <p:cNvPr id="30" name="Textfeld 29"/>
          <p:cNvSpPr txBox="1"/>
          <p:nvPr/>
        </p:nvSpPr>
        <p:spPr>
          <a:xfrm>
            <a:off x="8176851" y="45513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de-DE" dirty="0"/>
          </a:p>
        </p:txBody>
      </p:sp>
      <p:sp>
        <p:nvSpPr>
          <p:cNvPr id="31" name="Textfeld 30"/>
          <p:cNvSpPr txBox="1"/>
          <p:nvPr/>
        </p:nvSpPr>
        <p:spPr>
          <a:xfrm>
            <a:off x="8445432" y="40248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07601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Conclusions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Where did character states change?</a:t>
            </a:r>
          </a:p>
          <a:p>
            <a:pPr lvl="2"/>
            <a:r>
              <a:rPr lang="en-US" dirty="0"/>
              <a:t>two possibilities for characters 1 and 2</a:t>
            </a:r>
          </a:p>
          <a:p>
            <a:pPr lvl="2"/>
            <a:r>
              <a:rPr lang="en-US" dirty="0"/>
              <a:t>Either character of Taxon A (0) or Taxon B (1) was ancestral state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19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781446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399632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635" y="2559685"/>
            <a:ext cx="5390890" cy="335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39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Conclusions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Where did character states change?</a:t>
            </a:r>
          </a:p>
          <a:p>
            <a:pPr lvl="2"/>
            <a:r>
              <a:rPr lang="en-US" dirty="0"/>
              <a:t>two possibilities for characters 1 and 2</a:t>
            </a:r>
          </a:p>
          <a:p>
            <a:pPr lvl="2"/>
            <a:r>
              <a:rPr lang="en-US" dirty="0"/>
              <a:t>Either character of Taxon A (0) or Taxon B (1) was ancestral state</a:t>
            </a:r>
          </a:p>
          <a:p>
            <a:pPr lvl="2"/>
            <a:r>
              <a:rPr lang="en-US" dirty="0"/>
              <a:t>Just one possibility for the rest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19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8724202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682" y="3043567"/>
            <a:ext cx="2723943" cy="3287517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730551" y="4219575"/>
            <a:ext cx="190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characters 3 and 4</a:t>
            </a:r>
            <a:endParaRPr lang="de-DE" dirty="0"/>
          </a:p>
        </p:txBody>
      </p:sp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857969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70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Conclusions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Where did character states change?</a:t>
            </a:r>
          </a:p>
          <a:p>
            <a:pPr lvl="2"/>
            <a:r>
              <a:rPr lang="en-US" dirty="0"/>
              <a:t>two possibilities for characters 1 and 2</a:t>
            </a:r>
          </a:p>
          <a:p>
            <a:pPr lvl="2"/>
            <a:r>
              <a:rPr lang="en-US" dirty="0"/>
              <a:t>Either character of Taxon A (0) or Taxon B (1) was ancestral state</a:t>
            </a:r>
          </a:p>
          <a:p>
            <a:pPr lvl="2"/>
            <a:r>
              <a:rPr lang="en-US" dirty="0"/>
              <a:t>Just one possibility for the rest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Textfeld 4"/>
          <p:cNvSpPr txBox="1"/>
          <p:nvPr/>
        </p:nvSpPr>
        <p:spPr>
          <a:xfrm>
            <a:off x="730551" y="4219575"/>
            <a:ext cx="190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characters 5 and 6</a:t>
            </a:r>
            <a:endParaRPr lang="de-DE" dirty="0"/>
          </a:p>
        </p:txBody>
      </p:sp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240807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  <p:graphicFrame>
        <p:nvGraphicFramePr>
          <p:cNvPr id="12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7047408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3" name="Grafik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775" y="3135815"/>
            <a:ext cx="2457041" cy="320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945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Conclusions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Where did character states change?</a:t>
            </a:r>
          </a:p>
          <a:p>
            <a:pPr lvl="2"/>
            <a:r>
              <a:rPr lang="en-US" dirty="0"/>
              <a:t>two possibilities for characters 1 and 2</a:t>
            </a:r>
          </a:p>
          <a:p>
            <a:pPr lvl="2"/>
            <a:r>
              <a:rPr lang="en-US" dirty="0"/>
              <a:t>Either character of Taxon A (0) or Taxon B (1) was ancestral state</a:t>
            </a:r>
          </a:p>
          <a:p>
            <a:pPr lvl="2"/>
            <a:r>
              <a:rPr lang="en-US" dirty="0"/>
              <a:t>Just one possibility for the rest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Textfeld 4"/>
          <p:cNvSpPr txBox="1"/>
          <p:nvPr/>
        </p:nvSpPr>
        <p:spPr>
          <a:xfrm>
            <a:off x="730551" y="4219575"/>
            <a:ext cx="126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Character 7</a:t>
            </a:r>
            <a:endParaRPr lang="de-DE" dirty="0"/>
          </a:p>
        </p:txBody>
      </p:sp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60376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309" y="3069879"/>
            <a:ext cx="2456241" cy="3230661"/>
          </a:xfrm>
          <a:prstGeom prst="rect">
            <a:avLst/>
          </a:prstGeom>
        </p:spPr>
      </p:pic>
      <p:graphicFrame>
        <p:nvGraphicFramePr>
          <p:cNvPr id="13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3932395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12715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Conclusions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Where did character states change?</a:t>
            </a:r>
          </a:p>
          <a:p>
            <a:pPr lvl="2"/>
            <a:r>
              <a:rPr lang="en-US" dirty="0"/>
              <a:t>two possibilities for characters 1 and 2</a:t>
            </a:r>
          </a:p>
          <a:p>
            <a:pPr lvl="2"/>
            <a:r>
              <a:rPr lang="en-US" dirty="0"/>
              <a:t>Either character of Taxon A (0) or Taxon B (1) was ancestral state</a:t>
            </a:r>
          </a:p>
          <a:p>
            <a:pPr lvl="2"/>
            <a:r>
              <a:rPr lang="en-US" dirty="0"/>
              <a:t>Just one possibility for the rest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Textfeld 4"/>
          <p:cNvSpPr txBox="1"/>
          <p:nvPr/>
        </p:nvSpPr>
        <p:spPr>
          <a:xfrm>
            <a:off x="730551" y="4219575"/>
            <a:ext cx="126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Character 8</a:t>
            </a:r>
            <a:endParaRPr lang="de-DE" dirty="0"/>
          </a:p>
        </p:txBody>
      </p:sp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688886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  <p:graphicFrame>
        <p:nvGraphicFramePr>
          <p:cNvPr id="12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9757568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171" y="3052644"/>
            <a:ext cx="2262179" cy="330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4681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Conclusions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Where did character states change?</a:t>
            </a:r>
          </a:p>
          <a:p>
            <a:pPr lvl="2"/>
            <a:r>
              <a:rPr lang="en-US" dirty="0"/>
              <a:t>two possibilities for characters 1 and 2</a:t>
            </a:r>
          </a:p>
          <a:p>
            <a:pPr lvl="2"/>
            <a:r>
              <a:rPr lang="en-US" dirty="0"/>
              <a:t>Either character of Taxon A (0) or Taxon B (1) was ancestral state</a:t>
            </a:r>
          </a:p>
          <a:p>
            <a:pPr lvl="2"/>
            <a:r>
              <a:rPr lang="en-US" dirty="0"/>
              <a:t>Just one possibility for the rest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Textfeld 4"/>
          <p:cNvSpPr txBox="1"/>
          <p:nvPr/>
        </p:nvSpPr>
        <p:spPr>
          <a:xfrm>
            <a:off x="730551" y="4219575"/>
            <a:ext cx="126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Character 9</a:t>
            </a:r>
            <a:endParaRPr lang="de-DE" dirty="0"/>
          </a:p>
        </p:txBody>
      </p:sp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387692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293" y="3032764"/>
            <a:ext cx="2189762" cy="3272786"/>
          </a:xfrm>
          <a:prstGeom prst="rect">
            <a:avLst/>
          </a:prstGeom>
        </p:spPr>
      </p:pic>
      <p:graphicFrame>
        <p:nvGraphicFramePr>
          <p:cNvPr id="13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6756932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4958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Conclusions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Where did character states change?</a:t>
            </a:r>
          </a:p>
          <a:p>
            <a:pPr lvl="2"/>
            <a:r>
              <a:rPr lang="en-US" dirty="0"/>
              <a:t>two possibilities for characters 1 and 2</a:t>
            </a:r>
          </a:p>
          <a:p>
            <a:pPr lvl="2"/>
            <a:r>
              <a:rPr lang="en-US" dirty="0"/>
              <a:t>Either character of Taxon A (0) or Taxon B (1) was ancestral state</a:t>
            </a:r>
          </a:p>
          <a:p>
            <a:pPr lvl="2"/>
            <a:r>
              <a:rPr lang="en-US" dirty="0"/>
              <a:t>Just one possibility for the rest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Textfeld 4"/>
          <p:cNvSpPr txBox="1"/>
          <p:nvPr/>
        </p:nvSpPr>
        <p:spPr>
          <a:xfrm>
            <a:off x="730551" y="4219575"/>
            <a:ext cx="1381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Character 10</a:t>
            </a:r>
            <a:endParaRPr lang="de-DE" dirty="0"/>
          </a:p>
        </p:txBody>
      </p:sp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102437"/>
              </p:ext>
            </p:extLst>
          </p:nvPr>
        </p:nvGraphicFramePr>
        <p:xfrm>
          <a:off x="9463232" y="2746575"/>
          <a:ext cx="225367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77">
                  <a:extLst>
                    <a:ext uri="{9D8B030D-6E8A-4147-A177-3AD203B41FA5}">
                      <a16:colId xmlns:a16="http://schemas.microsoft.com/office/drawing/2014/main" val="1383263174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64830496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1518836312"/>
                    </a:ext>
                  </a:extLst>
                </a:gridCol>
                <a:gridCol w="415637">
                  <a:extLst>
                    <a:ext uri="{9D8B030D-6E8A-4147-A177-3AD203B41FA5}">
                      <a16:colId xmlns:a16="http://schemas.microsoft.com/office/drawing/2014/main" val="2628700375"/>
                    </a:ext>
                  </a:extLst>
                </a:gridCol>
                <a:gridCol w="420832">
                  <a:extLst>
                    <a:ext uri="{9D8B030D-6E8A-4147-A177-3AD203B41FA5}">
                      <a16:colId xmlns:a16="http://schemas.microsoft.com/office/drawing/2014/main" val="2706816957"/>
                    </a:ext>
                  </a:extLst>
                </a:gridCol>
              </a:tblGrid>
              <a:tr h="32912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5388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272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399873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754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6542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4583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69266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71870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067847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526136"/>
                  </a:ext>
                </a:extLst>
              </a:tr>
              <a:tr h="3291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de-D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de-DE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280184"/>
                  </a:ext>
                </a:extLst>
              </a:tr>
            </a:tbl>
          </a:graphicData>
        </a:graphic>
      </p:graphicFrame>
      <p:pic>
        <p:nvPicPr>
          <p:cNvPr id="3" name="Grafik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273" y="2981325"/>
            <a:ext cx="2186414" cy="3356268"/>
          </a:xfrm>
          <a:prstGeom prst="rect">
            <a:avLst/>
          </a:prstGeom>
        </p:spPr>
      </p:pic>
      <p:graphicFrame>
        <p:nvGraphicFramePr>
          <p:cNvPr id="12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1090842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13590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Maximum Parsimony</a:t>
            </a:r>
            <a:endParaRPr lang="de-DE" sz="4000" b="1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would call this method outdated</a:t>
            </a:r>
          </a:p>
          <a:p>
            <a:pPr lvl="1"/>
            <a:r>
              <a:rPr lang="en-US" dirty="0"/>
              <a:t>However, still commonly used (but not alone)</a:t>
            </a:r>
          </a:p>
          <a:p>
            <a:r>
              <a:rPr lang="en-US" dirty="0"/>
              <a:t>“Quick and dirty”</a:t>
            </a:r>
          </a:p>
          <a:p>
            <a:r>
              <a:rPr lang="en-US" dirty="0"/>
              <a:t>Implemented in numerous program packages</a:t>
            </a:r>
          </a:p>
          <a:p>
            <a:pPr lvl="1"/>
            <a:r>
              <a:rPr lang="en-US" dirty="0"/>
              <a:t>PAUP</a:t>
            </a:r>
          </a:p>
          <a:p>
            <a:pPr lvl="1"/>
            <a:r>
              <a:rPr lang="en-US" dirty="0"/>
              <a:t>PHYLIP</a:t>
            </a:r>
          </a:p>
          <a:p>
            <a:pPr lvl="1"/>
            <a:r>
              <a:rPr lang="en-US" dirty="0"/>
              <a:t>MEGA </a:t>
            </a:r>
            <a:r>
              <a:rPr lang="en-DE" dirty="0"/>
              <a:t>–</a:t>
            </a:r>
            <a:r>
              <a:rPr lang="en-US" dirty="0"/>
              <a:t> not recommended </a:t>
            </a:r>
          </a:p>
          <a:p>
            <a:pPr lvl="1"/>
            <a:endParaRPr lang="en-US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762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Maximum Parsimony</a:t>
            </a:r>
            <a:endParaRPr lang="de-DE" sz="4000" b="1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Construction of all trees = exhaustive search</a:t>
            </a:r>
          </a:p>
          <a:p>
            <a:pPr lvl="1"/>
            <a:r>
              <a:rPr lang="en-US" dirty="0"/>
              <a:t>Difficult for larger taxon samples due to exponentially growing number of trees</a:t>
            </a:r>
          </a:p>
          <a:p>
            <a:r>
              <a:rPr lang="en-US" dirty="0"/>
              <a:t>Solution: Stepwise addition, followed by branch-and-bound or heuristic search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5591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Stepwise addition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0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1. “Star” including 3 random (or chosen) taxa is build</a:t>
            </a:r>
          </a:p>
          <a:p>
            <a:pPr lvl="1"/>
            <a:r>
              <a:rPr lang="en-US" dirty="0"/>
              <a:t>2. addition of fourth taxon at random branch, followed by tree length calculation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19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407959"/>
              </p:ext>
            </p:extLst>
          </p:nvPr>
        </p:nvGraphicFramePr>
        <p:xfrm>
          <a:off x="7562531" y="36512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109" y="3303198"/>
            <a:ext cx="2923591" cy="2229238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398" y="3303198"/>
            <a:ext cx="3162278" cy="2229238"/>
          </a:xfrm>
          <a:prstGeom prst="rect">
            <a:avLst/>
          </a:prstGeom>
        </p:spPr>
      </p:pic>
      <p:sp>
        <p:nvSpPr>
          <p:cNvPr id="7" name="Pfeil nach rechts 6"/>
          <p:cNvSpPr/>
          <p:nvPr/>
        </p:nvSpPr>
        <p:spPr>
          <a:xfrm>
            <a:off x="3629025" y="4248150"/>
            <a:ext cx="657225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830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Stepwise addition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-352425" y="662781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3.1 branch-and-bound search </a:t>
            </a:r>
          </a:p>
          <a:p>
            <a:pPr lvl="2"/>
            <a:r>
              <a:rPr lang="en-US" dirty="0"/>
              <a:t>Random tree (1) is generated as reference</a:t>
            </a:r>
          </a:p>
          <a:p>
            <a:pPr lvl="2"/>
            <a:r>
              <a:rPr lang="en-US" dirty="0"/>
              <a:t>Afterwards another tree (2) is generated via stepwise addition</a:t>
            </a:r>
          </a:p>
          <a:p>
            <a:pPr lvl="2"/>
            <a:r>
              <a:rPr lang="en-US" dirty="0"/>
              <a:t>tree length </a:t>
            </a:r>
            <a:r>
              <a:rPr lang="en-US" dirty="0" err="1"/>
              <a:t>comparision</a:t>
            </a:r>
            <a:endParaRPr lang="en-US" dirty="0"/>
          </a:p>
          <a:p>
            <a:pPr lvl="2"/>
            <a:r>
              <a:rPr lang="en-US" dirty="0"/>
              <a:t>If tree (2) is shorter than tree (1), another taxon is added to tree (2) without checking if there is a shorter 4-taxon-tree</a:t>
            </a:r>
          </a:p>
          <a:p>
            <a:pPr lvl="2"/>
            <a:r>
              <a:rPr lang="en-US" dirty="0"/>
              <a:t>If at some point tree (2) becomes longer than tree (1), the tree will be discarded, and the previous step will be repeated.</a:t>
            </a:r>
          </a:p>
          <a:p>
            <a:pPr lvl="2"/>
            <a:r>
              <a:rPr lang="en-US" dirty="0"/>
              <a:t>When all taxa were added tree (2) is compared to tree (1). If tree (2) is shorter than tree (1), tree (2) becomes new reference</a:t>
            </a:r>
          </a:p>
          <a:p>
            <a:pPr lvl="2"/>
            <a:r>
              <a:rPr lang="en-US" dirty="0"/>
              <a:t>Process ends when </a:t>
            </a:r>
            <a:r>
              <a:rPr lang="en-US" b="1" dirty="0"/>
              <a:t>all</a:t>
            </a:r>
            <a:r>
              <a:rPr lang="en-US" dirty="0"/>
              <a:t> possible topologies were tested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5353050" y="658812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3.2 heuristic search</a:t>
            </a:r>
          </a:p>
          <a:p>
            <a:pPr lvl="2"/>
            <a:r>
              <a:rPr lang="en-US" dirty="0"/>
              <a:t>Taxa will be added to each possible branch</a:t>
            </a:r>
          </a:p>
          <a:p>
            <a:pPr lvl="2"/>
            <a:r>
              <a:rPr lang="en-US" dirty="0"/>
              <a:t>Test: which addition needs the least possible number of additional steps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12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2222466"/>
              </p:ext>
            </p:extLst>
          </p:nvPr>
        </p:nvGraphicFramePr>
        <p:xfrm>
          <a:off x="6933881" y="251777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13" name="Grafik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998" y="4778057"/>
            <a:ext cx="2681277" cy="1890158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9322" y="4843921"/>
            <a:ext cx="2520842" cy="182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1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Stepwise addition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-352425" y="662781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3.1 branch-and-bound search </a:t>
            </a:r>
          </a:p>
          <a:p>
            <a:pPr lvl="2"/>
            <a:r>
              <a:rPr lang="en-US" dirty="0"/>
              <a:t>Random tree (1) is generated as reference</a:t>
            </a:r>
          </a:p>
          <a:p>
            <a:pPr lvl="2"/>
            <a:r>
              <a:rPr lang="en-US" dirty="0"/>
              <a:t>Afterwards another tree (2) is generated via stepwise addition</a:t>
            </a:r>
          </a:p>
          <a:p>
            <a:pPr lvl="2"/>
            <a:r>
              <a:rPr lang="en-US" dirty="0"/>
              <a:t>tree length </a:t>
            </a:r>
            <a:r>
              <a:rPr lang="en-US" dirty="0" err="1"/>
              <a:t>comparision</a:t>
            </a:r>
            <a:endParaRPr lang="en-US" dirty="0"/>
          </a:p>
          <a:p>
            <a:pPr lvl="2"/>
            <a:r>
              <a:rPr lang="en-US" dirty="0"/>
              <a:t>If tree (2) is shorter than tree (1), another taxon is added to tree (2) without checking is there is a shorter 4-taxon-tree</a:t>
            </a:r>
          </a:p>
          <a:p>
            <a:pPr lvl="2"/>
            <a:r>
              <a:rPr lang="en-US" dirty="0"/>
              <a:t>If at some point tree (2) becomes longer than tree (1), the tree will be discarded and the previous step will be repeated.</a:t>
            </a:r>
          </a:p>
          <a:p>
            <a:pPr lvl="2"/>
            <a:r>
              <a:rPr lang="en-US" dirty="0"/>
              <a:t>When all taxa were added tree (2) is compared to tree (1). If tree (2) is shorter than tree (1), tree (2) becomes new reference</a:t>
            </a:r>
          </a:p>
          <a:p>
            <a:pPr lvl="2"/>
            <a:r>
              <a:rPr lang="en-US" dirty="0"/>
              <a:t>Process ends when </a:t>
            </a:r>
            <a:r>
              <a:rPr lang="en-US" b="1" dirty="0"/>
              <a:t>all</a:t>
            </a:r>
            <a:r>
              <a:rPr lang="en-US" dirty="0"/>
              <a:t> possible topologies were tested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5353050" y="658812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3.2 heuristic search</a:t>
            </a:r>
          </a:p>
          <a:p>
            <a:pPr lvl="2"/>
            <a:r>
              <a:rPr lang="en-US" dirty="0"/>
              <a:t>Taxa will be added to each possible branch</a:t>
            </a:r>
          </a:p>
          <a:p>
            <a:pPr lvl="2"/>
            <a:r>
              <a:rPr lang="en-US" dirty="0"/>
              <a:t>Test: which addition needs the least possible amount of additional steps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12" name="Tabelle 4">
            <a:extLst>
              <a:ext uri="{FF2B5EF4-FFF2-40B4-BE49-F238E27FC236}">
                <a16:creationId xmlns:a16="http://schemas.microsoft.com/office/drawing/2014/main" id="{473DD946-0B60-4E5F-8B65-CA55CA1D4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9209018"/>
              </p:ext>
            </p:extLst>
          </p:nvPr>
        </p:nvGraphicFramePr>
        <p:xfrm>
          <a:off x="6933881" y="2517775"/>
          <a:ext cx="4154374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31">
                  <a:extLst>
                    <a:ext uri="{9D8B030D-6E8A-4147-A177-3AD203B41FA5}">
                      <a16:colId xmlns:a16="http://schemas.microsoft.com/office/drawing/2014/main" val="4232615511"/>
                    </a:ext>
                  </a:extLst>
                </a:gridCol>
                <a:gridCol w="365142">
                  <a:extLst>
                    <a:ext uri="{9D8B030D-6E8A-4147-A177-3AD203B41FA5}">
                      <a16:colId xmlns:a16="http://schemas.microsoft.com/office/drawing/2014/main" val="2508947948"/>
                    </a:ext>
                  </a:extLst>
                </a:gridCol>
                <a:gridCol w="332246">
                  <a:extLst>
                    <a:ext uri="{9D8B030D-6E8A-4147-A177-3AD203B41FA5}">
                      <a16:colId xmlns:a16="http://schemas.microsoft.com/office/drawing/2014/main" val="3406060257"/>
                    </a:ext>
                  </a:extLst>
                </a:gridCol>
                <a:gridCol w="305063">
                  <a:extLst>
                    <a:ext uri="{9D8B030D-6E8A-4147-A177-3AD203B41FA5}">
                      <a16:colId xmlns:a16="http://schemas.microsoft.com/office/drawing/2014/main" val="1278176668"/>
                    </a:ext>
                  </a:extLst>
                </a:gridCol>
                <a:gridCol w="342478">
                  <a:extLst>
                    <a:ext uri="{9D8B030D-6E8A-4147-A177-3AD203B41FA5}">
                      <a16:colId xmlns:a16="http://schemas.microsoft.com/office/drawing/2014/main" val="4114138729"/>
                    </a:ext>
                  </a:extLst>
                </a:gridCol>
                <a:gridCol w="342740">
                  <a:extLst>
                    <a:ext uri="{9D8B030D-6E8A-4147-A177-3AD203B41FA5}">
                      <a16:colId xmlns:a16="http://schemas.microsoft.com/office/drawing/2014/main" val="69649554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941249238"/>
                    </a:ext>
                  </a:extLst>
                </a:gridCol>
                <a:gridCol w="314037">
                  <a:extLst>
                    <a:ext uri="{9D8B030D-6E8A-4147-A177-3AD203B41FA5}">
                      <a16:colId xmlns:a16="http://schemas.microsoft.com/office/drawing/2014/main" val="156779516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1020332586"/>
                    </a:ext>
                  </a:extLst>
                </a:gridCol>
                <a:gridCol w="312046">
                  <a:extLst>
                    <a:ext uri="{9D8B030D-6E8A-4147-A177-3AD203B41FA5}">
                      <a16:colId xmlns:a16="http://schemas.microsoft.com/office/drawing/2014/main" val="27167329"/>
                    </a:ext>
                  </a:extLst>
                </a:gridCol>
                <a:gridCol w="454891">
                  <a:extLst>
                    <a:ext uri="{9D8B030D-6E8A-4147-A177-3AD203B41FA5}">
                      <a16:colId xmlns:a16="http://schemas.microsoft.com/office/drawing/2014/main" val="2534434973"/>
                    </a:ext>
                  </a:extLst>
                </a:gridCol>
              </a:tblGrid>
              <a:tr h="348721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61826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2115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57344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C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750738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D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77992"/>
                  </a:ext>
                </a:extLst>
              </a:tr>
              <a:tr h="348721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Tx</a:t>
                      </a:r>
                      <a:r>
                        <a:rPr lang="de-DE" dirty="0"/>
                        <a:t> 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566021"/>
                  </a:ext>
                </a:extLst>
              </a:tr>
            </a:tbl>
          </a:graphicData>
        </a:graphic>
      </p:graphicFrame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987" y="4940449"/>
            <a:ext cx="2376162" cy="168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0052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Stepwise addition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-352425" y="662781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3.1 branch-and-bound search </a:t>
            </a:r>
          </a:p>
          <a:p>
            <a:pPr lvl="2"/>
            <a:r>
              <a:rPr lang="en-US" dirty="0"/>
              <a:t>Random tree (1) is generated as reference</a:t>
            </a:r>
          </a:p>
          <a:p>
            <a:pPr lvl="2"/>
            <a:r>
              <a:rPr lang="en-US" dirty="0"/>
              <a:t>Afterwards another tree (2) is generated via stepwise addition</a:t>
            </a:r>
          </a:p>
          <a:p>
            <a:pPr lvl="2"/>
            <a:r>
              <a:rPr lang="en-US" dirty="0"/>
              <a:t>tree length </a:t>
            </a:r>
            <a:r>
              <a:rPr lang="en-US" dirty="0" err="1"/>
              <a:t>comparision</a:t>
            </a:r>
            <a:endParaRPr lang="en-US" dirty="0"/>
          </a:p>
          <a:p>
            <a:pPr lvl="2"/>
            <a:r>
              <a:rPr lang="en-US" dirty="0"/>
              <a:t>If tree (2) is shorter than tree (1), another taxon is added to tree (2) without checking is there is a shorter 4-taxon-tree</a:t>
            </a:r>
          </a:p>
          <a:p>
            <a:pPr lvl="2"/>
            <a:r>
              <a:rPr lang="en-US" dirty="0"/>
              <a:t>If at some point tree (2) becomes longer than tree (1), the tree will be discarded and the previous step will be repeated.</a:t>
            </a:r>
          </a:p>
          <a:p>
            <a:pPr lvl="2"/>
            <a:r>
              <a:rPr lang="en-US" dirty="0"/>
              <a:t>When all taxa were added tree (2) is compared to tree (1). If tree (2) is shorter than tree (1), tree (2) becomes new reference</a:t>
            </a:r>
          </a:p>
          <a:p>
            <a:pPr lvl="2"/>
            <a:r>
              <a:rPr lang="en-US" dirty="0"/>
              <a:t>Process ends when </a:t>
            </a:r>
            <a:r>
              <a:rPr lang="en-US" b="1" dirty="0"/>
              <a:t>all</a:t>
            </a:r>
            <a:r>
              <a:rPr lang="en-US" dirty="0"/>
              <a:t> possible topologies were tested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5353050" y="658812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3.2 heuristic search</a:t>
            </a:r>
          </a:p>
          <a:p>
            <a:pPr lvl="2"/>
            <a:r>
              <a:rPr lang="en-US" dirty="0"/>
              <a:t>Taxa will be added to each possible branch</a:t>
            </a:r>
          </a:p>
          <a:p>
            <a:pPr lvl="2"/>
            <a:r>
              <a:rPr lang="en-US" dirty="0"/>
              <a:t>Test: which addition needs the least possible amount of additional steps</a:t>
            </a:r>
          </a:p>
          <a:p>
            <a:pPr lvl="2"/>
            <a:r>
              <a:rPr lang="en-US" dirty="0"/>
              <a:t>Process ends when all taxa are added</a:t>
            </a:r>
          </a:p>
          <a:p>
            <a:pPr lvl="2"/>
            <a:r>
              <a:rPr lang="en-US" dirty="0"/>
              <a:t>Finds local optimum but not necessarily overall shortest tree</a:t>
            </a:r>
          </a:p>
          <a:p>
            <a:pPr lvl="2"/>
            <a:r>
              <a:rPr lang="en-US" dirty="0"/>
              <a:t>Results depend on order of taxon addition</a:t>
            </a:r>
          </a:p>
          <a:p>
            <a:pPr lvl="3"/>
            <a:r>
              <a:rPr lang="en-US" dirty="0"/>
              <a:t>Different orders must be tried</a:t>
            </a:r>
          </a:p>
          <a:p>
            <a:pPr lvl="2"/>
            <a:r>
              <a:rPr lang="en-US" dirty="0"/>
              <a:t>Often resulting in different either equal or better solutions.</a:t>
            </a:r>
          </a:p>
          <a:p>
            <a:pPr lvl="3"/>
            <a:r>
              <a:rPr lang="en-US" dirty="0"/>
              <a:t>Inferred via branch swapping.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62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Branch swapping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-352425" y="662781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Branches are swapped in trees obtained from stepwise addition</a:t>
            </a:r>
          </a:p>
          <a:p>
            <a:pPr lvl="2"/>
            <a:r>
              <a:rPr lang="en-US" dirty="0"/>
              <a:t>If obtained tree is longer, it will be discarded</a:t>
            </a:r>
          </a:p>
          <a:p>
            <a:pPr lvl="2"/>
            <a:r>
              <a:rPr lang="en-US" dirty="0"/>
              <a:t>If obtained tree is shorter, it will be saved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NNI = nearest neighbor interchange</a:t>
            </a:r>
          </a:p>
          <a:p>
            <a:pPr lvl="2"/>
            <a:r>
              <a:rPr lang="en-US" dirty="0"/>
              <a:t>Swapping of branches on opposite sides of each internal node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025" y="1358469"/>
            <a:ext cx="5408217" cy="480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20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950" y="1094131"/>
            <a:ext cx="9258300" cy="5194857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Branch swapping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-352425" y="662781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SBR = subtree pruning and re-grafting</a:t>
            </a:r>
          </a:p>
          <a:p>
            <a:pPr lvl="2"/>
            <a:r>
              <a:rPr lang="en-US" dirty="0"/>
              <a:t>Subtrees are divided from their parental node</a:t>
            </a:r>
          </a:p>
          <a:p>
            <a:pPr lvl="3"/>
            <a:r>
              <a:rPr lang="en-US" dirty="0"/>
              <a:t>Node disappears</a:t>
            </a:r>
          </a:p>
          <a:p>
            <a:pPr lvl="1"/>
            <a:r>
              <a:rPr lang="en-US" dirty="0"/>
              <a:t>Subtree is added to each branch</a:t>
            </a:r>
          </a:p>
          <a:p>
            <a:pPr lvl="1"/>
            <a:r>
              <a:rPr lang="en-US" dirty="0"/>
              <a:t>Tree length is calculated for each possible addition</a:t>
            </a:r>
          </a:p>
          <a:p>
            <a:pPr lvl="2"/>
            <a:r>
              <a:rPr lang="en-US" dirty="0"/>
              <a:t>If obtained tree is longer, it will be discarded</a:t>
            </a:r>
          </a:p>
          <a:p>
            <a:pPr lvl="2"/>
            <a:r>
              <a:rPr lang="en-US" dirty="0"/>
              <a:t>If obtained tree is shorter, it will be saved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87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1865589"/>
            <a:ext cx="8791575" cy="4788383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Branch swapping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-352425" y="662781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TBR = tree bisection and reconnection</a:t>
            </a:r>
          </a:p>
          <a:p>
            <a:pPr lvl="1"/>
            <a:r>
              <a:rPr lang="en-US" dirty="0"/>
              <a:t>Every internal branch is dissolved</a:t>
            </a:r>
          </a:p>
          <a:p>
            <a:pPr lvl="2"/>
            <a:r>
              <a:rPr lang="en-US" dirty="0"/>
              <a:t>Two nodes disappear</a:t>
            </a:r>
          </a:p>
          <a:p>
            <a:pPr lvl="1"/>
            <a:r>
              <a:rPr lang="en-US" dirty="0"/>
              <a:t>Trees are reconnected in every possible manner</a:t>
            </a:r>
          </a:p>
          <a:p>
            <a:pPr lvl="2"/>
            <a:r>
              <a:rPr lang="en-US" dirty="0"/>
              <a:t>Two new nodes are constructed</a:t>
            </a:r>
          </a:p>
          <a:p>
            <a:pPr lvl="2"/>
            <a:r>
              <a:rPr lang="en-US" dirty="0"/>
              <a:t>If obtained tree is longer, it will be discarded</a:t>
            </a:r>
          </a:p>
          <a:p>
            <a:pPr lvl="2"/>
            <a:r>
              <a:rPr lang="en-US" dirty="0"/>
              <a:t>If obtained tree is shorter, it will be saved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08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Consensus- Trees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-352425" y="662781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Real datasets often result in numerous equally parsimonious trees </a:t>
            </a:r>
          </a:p>
          <a:p>
            <a:pPr lvl="2"/>
            <a:r>
              <a:rPr lang="en-US" dirty="0"/>
              <a:t>Not enough information (few mutations)</a:t>
            </a:r>
          </a:p>
          <a:p>
            <a:pPr lvl="2"/>
            <a:r>
              <a:rPr lang="en-US" dirty="0"/>
              <a:t>Too much </a:t>
            </a:r>
            <a:r>
              <a:rPr lang="en-US" dirty="0" err="1"/>
              <a:t>homoplasie</a:t>
            </a:r>
            <a:r>
              <a:rPr lang="en-US" dirty="0"/>
              <a:t> (parallelism, reversions)</a:t>
            </a:r>
          </a:p>
          <a:p>
            <a:pPr lvl="2"/>
            <a:r>
              <a:rPr lang="en-US" dirty="0"/>
              <a:t>Faulty alignment or wrong taxon (contamination?)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What are the similarities among the trees?</a:t>
            </a:r>
          </a:p>
          <a:p>
            <a:pPr lvl="2"/>
            <a:r>
              <a:rPr lang="en-US" dirty="0"/>
              <a:t>Consensus trees!</a:t>
            </a:r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576" y="780652"/>
            <a:ext cx="3451294" cy="380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25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6278"/>
            <a:ext cx="12192000" cy="5825443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Strict Consensus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-352425" y="662781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Only shows groups retrieved in </a:t>
            </a:r>
            <a:r>
              <a:rPr lang="en-US" b="1" dirty="0"/>
              <a:t>all</a:t>
            </a:r>
            <a:r>
              <a:rPr lang="en-US" dirty="0"/>
              <a:t> trees</a:t>
            </a:r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8586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2051"/>
            <a:ext cx="12192000" cy="5833898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Strict Consensus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-352425" y="662781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Only shows groups retrieved in </a:t>
            </a:r>
            <a:r>
              <a:rPr lang="en-US" b="1" dirty="0"/>
              <a:t>all</a:t>
            </a:r>
            <a:r>
              <a:rPr lang="en-US" dirty="0"/>
              <a:t> trees</a:t>
            </a:r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9283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5624"/>
            <a:ext cx="12192000" cy="5846752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Strict Consensus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-352425" y="662781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Only shows groups retrieved in </a:t>
            </a:r>
            <a:r>
              <a:rPr lang="en-US" b="1" dirty="0"/>
              <a:t>all</a:t>
            </a:r>
            <a:r>
              <a:rPr lang="en-US" dirty="0"/>
              <a:t> trees</a:t>
            </a:r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4017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130"/>
            <a:ext cx="12192000" cy="635773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Strict Consensus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-352425" y="662781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Only shows groups retrieved in </a:t>
            </a:r>
            <a:r>
              <a:rPr lang="en-US" b="1" dirty="0"/>
              <a:t>all</a:t>
            </a:r>
            <a:r>
              <a:rPr lang="en-US" dirty="0"/>
              <a:t> trees</a:t>
            </a:r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9661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520" y="662781"/>
            <a:ext cx="9523809" cy="5685714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Majority consensus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-352425" y="662781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Shows groups retrieved in the </a:t>
            </a:r>
            <a:r>
              <a:rPr lang="en-US" b="1" dirty="0"/>
              <a:t>majority</a:t>
            </a:r>
            <a:r>
              <a:rPr lang="en-US" dirty="0"/>
              <a:t> of the trees</a:t>
            </a:r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0433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487" y="425589"/>
            <a:ext cx="8595738" cy="6288695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Majority consensus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-352425" y="662781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Shows groups retrieved in the </a:t>
            </a:r>
            <a:r>
              <a:rPr lang="en-US" b="1" dirty="0"/>
              <a:t>majority</a:t>
            </a:r>
            <a:r>
              <a:rPr lang="en-US" dirty="0"/>
              <a:t> of the trees</a:t>
            </a:r>
          </a:p>
          <a:p>
            <a:pPr lvl="1"/>
            <a:r>
              <a:rPr lang="en-US" dirty="0"/>
              <a:t>Majority-values </a:t>
            </a:r>
            <a:r>
              <a:rPr lang="en-US" b="1" dirty="0"/>
              <a:t>must not </a:t>
            </a:r>
            <a:r>
              <a:rPr lang="en-US" dirty="0"/>
              <a:t>be viewed as statistical support </a:t>
            </a:r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1338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905" y="886562"/>
            <a:ext cx="8390895" cy="517094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Adams consensus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-352425" y="662781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r>
              <a:rPr lang="en-US" dirty="0"/>
              <a:t>Shows nodes retrieved in all trees, even if groups are not identical</a:t>
            </a:r>
          </a:p>
          <a:p>
            <a:pPr lvl="1"/>
            <a:r>
              <a:rPr lang="en-US" dirty="0"/>
              <a:t>Taxa with uncertain position will be placed at the basis</a:t>
            </a:r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6202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5C2E5-1BF7-4D0F-A860-73EDBD14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Maximum Parsimony - Variants</a:t>
            </a:r>
            <a:endParaRPr lang="de-DE" sz="4000" b="1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-352425" y="662781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/>
              <a:t>Fitch parsimony</a:t>
            </a:r>
          </a:p>
          <a:p>
            <a:pPr lvl="1"/>
            <a:r>
              <a:rPr lang="en-US" dirty="0"/>
              <a:t>Transition between character states with equal probability</a:t>
            </a:r>
          </a:p>
          <a:p>
            <a:pPr lvl="1"/>
            <a:r>
              <a:rPr lang="en-US" dirty="0"/>
              <a:t>Multistate characters are disordered</a:t>
            </a:r>
          </a:p>
          <a:p>
            <a:pPr lvl="1"/>
            <a:r>
              <a:rPr lang="en-US" dirty="0"/>
              <a:t>Symmetrical probability of mutation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Wegner parsimony</a:t>
            </a:r>
          </a:p>
          <a:p>
            <a:pPr lvl="1"/>
            <a:r>
              <a:rPr lang="en-US" dirty="0"/>
              <a:t>Symmetrical probability of mutation</a:t>
            </a:r>
          </a:p>
          <a:p>
            <a:pPr lvl="1"/>
            <a:r>
              <a:rPr lang="en-US" dirty="0"/>
              <a:t>Multistate characters are ordered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 err="1"/>
              <a:t>Dollo</a:t>
            </a:r>
            <a:r>
              <a:rPr lang="en-US" dirty="0"/>
              <a:t> </a:t>
            </a:r>
            <a:r>
              <a:rPr lang="en-US" dirty="0" err="1"/>
              <a:t>pasrimony</a:t>
            </a:r>
            <a:endParaRPr lang="en-US" dirty="0"/>
          </a:p>
          <a:p>
            <a:pPr lvl="1"/>
            <a:r>
              <a:rPr lang="en-US" dirty="0" err="1"/>
              <a:t>Assymetrical</a:t>
            </a:r>
            <a:r>
              <a:rPr lang="en-US" dirty="0"/>
              <a:t> probability of mutation</a:t>
            </a:r>
          </a:p>
          <a:p>
            <a:pPr lvl="2"/>
            <a:r>
              <a:rPr lang="en-US" dirty="0"/>
              <a:t>Return to ancestral state possible</a:t>
            </a:r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5F233DF-2A83-4EA1-B344-3A56C158B130}"/>
              </a:ext>
            </a:extLst>
          </p:cNvPr>
          <p:cNvSpPr txBox="1">
            <a:spLocks/>
          </p:cNvSpPr>
          <p:nvPr/>
        </p:nvSpPr>
        <p:spPr>
          <a:xfrm>
            <a:off x="5081588" y="662780"/>
            <a:ext cx="6648450" cy="619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marL="457200" lvl="1" indent="0">
              <a:buNone/>
            </a:pPr>
            <a:r>
              <a:rPr lang="en-US" dirty="0" err="1"/>
              <a:t>Camin-Sokal</a:t>
            </a:r>
            <a:r>
              <a:rPr lang="en-US" dirty="0"/>
              <a:t> parsimony</a:t>
            </a:r>
          </a:p>
          <a:p>
            <a:pPr lvl="1"/>
            <a:r>
              <a:rPr lang="en-US" dirty="0"/>
              <a:t>Asymmetrical probability of mutation</a:t>
            </a:r>
          </a:p>
          <a:p>
            <a:pPr lvl="2"/>
            <a:r>
              <a:rPr lang="en-US" dirty="0"/>
              <a:t>Return to ancestral state impossible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 err="1"/>
              <a:t>Transversion</a:t>
            </a:r>
            <a:r>
              <a:rPr lang="en-US" dirty="0"/>
              <a:t> parsimony</a:t>
            </a:r>
          </a:p>
          <a:p>
            <a:pPr lvl="1"/>
            <a:r>
              <a:rPr lang="en-US" dirty="0"/>
              <a:t>Change of character states without equal probability </a:t>
            </a:r>
          </a:p>
          <a:p>
            <a:pPr lvl="2"/>
            <a:r>
              <a:rPr lang="en-US" dirty="0"/>
              <a:t>A-G and C-T much more common than transversion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Generalized parsimony </a:t>
            </a:r>
          </a:p>
          <a:p>
            <a:pPr lvl="1"/>
            <a:r>
              <a:rPr lang="en-US" dirty="0"/>
              <a:t>Change of character state independently chosen for each kind of change </a:t>
            </a:r>
          </a:p>
          <a:p>
            <a:pPr lvl="2"/>
            <a:r>
              <a:rPr lang="en-US" dirty="0"/>
              <a:t>Example: </a:t>
            </a:r>
            <a:r>
              <a:rPr lang="en-US" dirty="0" err="1"/>
              <a:t>Tranisitions</a:t>
            </a:r>
            <a:r>
              <a:rPr lang="en-US" dirty="0"/>
              <a:t> 5x more probable than Transversions</a:t>
            </a:r>
          </a:p>
          <a:p>
            <a:pPr lvl="2"/>
            <a:r>
              <a:rPr lang="en-US" dirty="0"/>
              <a:t>coding for example in step matrix </a:t>
            </a:r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5481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77FD0A-BBC9-45F0-B09C-E2CD13EE7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 err="1"/>
              <a:t>step</a:t>
            </a:r>
            <a:r>
              <a:rPr lang="de-DE" sz="4000" b="1" dirty="0"/>
              <a:t>-matrix </a:t>
            </a:r>
            <a:r>
              <a:rPr lang="de-DE" sz="4000" b="1" dirty="0" err="1"/>
              <a:t>parsimony</a:t>
            </a:r>
            <a:endParaRPr lang="de-DE" sz="4000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0FD945-20C3-4A10-ABB1-C992B19E5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 </a:t>
            </a:r>
            <a:r>
              <a:rPr lang="de-DE" dirty="0" err="1"/>
              <a:t>parsimony</a:t>
            </a:r>
            <a:r>
              <a:rPr lang="de-DE" dirty="0"/>
              <a:t> </a:t>
            </a:r>
            <a:r>
              <a:rPr lang="de-DE" dirty="0" err="1"/>
              <a:t>analyses</a:t>
            </a:r>
            <a:r>
              <a:rPr lang="de-DE" dirty="0"/>
              <a:t> </a:t>
            </a:r>
            <a:r>
              <a:rPr lang="de-DE" dirty="0" err="1"/>
              <a:t>depends</a:t>
            </a:r>
            <a:r>
              <a:rPr lang="de-DE" dirty="0"/>
              <a:t> on </a:t>
            </a:r>
            <a:r>
              <a:rPr lang="de-DE" dirty="0" err="1"/>
              <a:t>background</a:t>
            </a:r>
            <a:r>
              <a:rPr lang="de-DE" dirty="0"/>
              <a:t> </a:t>
            </a:r>
            <a:r>
              <a:rPr lang="de-DE" dirty="0" err="1"/>
              <a:t>assumption</a:t>
            </a:r>
            <a:r>
              <a:rPr lang="de-DE" dirty="0"/>
              <a:t> (e.g. </a:t>
            </a:r>
            <a:r>
              <a:rPr lang="de-DE" dirty="0" err="1"/>
              <a:t>probability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substitutions</a:t>
            </a:r>
            <a:r>
              <a:rPr lang="de-DE" dirty="0"/>
              <a:t>) </a:t>
            </a:r>
          </a:p>
          <a:p>
            <a:pPr lvl="1"/>
            <a:r>
              <a:rPr lang="de-DE" dirty="0"/>
              <a:t>„</a:t>
            </a:r>
            <a:r>
              <a:rPr lang="de-DE" dirty="0" err="1"/>
              <a:t>costs</a:t>
            </a:r>
            <a:r>
              <a:rPr lang="de-DE" dirty="0"/>
              <a:t>“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type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character</a:t>
            </a:r>
            <a:r>
              <a:rPr lang="de-DE" dirty="0"/>
              <a:t>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coded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matrix</a:t>
            </a:r>
            <a:r>
              <a:rPr lang="de-DE" dirty="0"/>
              <a:t> </a:t>
            </a:r>
          </a:p>
          <a:p>
            <a:r>
              <a:rPr lang="de-DE" dirty="0" err="1"/>
              <a:t>determination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parsimonious</a:t>
            </a:r>
            <a:r>
              <a:rPr lang="de-DE" dirty="0"/>
              <a:t> </a:t>
            </a:r>
            <a:r>
              <a:rPr lang="de-DE" dirty="0" err="1"/>
              <a:t>assigment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ancestral</a:t>
            </a:r>
            <a:r>
              <a:rPr lang="de-DE" dirty="0"/>
              <a:t> </a:t>
            </a:r>
            <a:r>
              <a:rPr lang="de-DE" dirty="0" err="1"/>
              <a:t>states</a:t>
            </a:r>
            <a:r>
              <a:rPr lang="de-DE" dirty="0"/>
              <a:t> on </a:t>
            </a:r>
            <a:r>
              <a:rPr lang="de-DE" dirty="0" err="1"/>
              <a:t>given</a:t>
            </a:r>
            <a:r>
              <a:rPr lang="de-DE" dirty="0"/>
              <a:t> </a:t>
            </a:r>
            <a:r>
              <a:rPr lang="de-DE" dirty="0" err="1"/>
              <a:t>tree</a:t>
            </a:r>
            <a:endParaRPr lang="de-DE" dirty="0"/>
          </a:p>
          <a:p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determination</a:t>
            </a:r>
            <a:r>
              <a:rPr lang="de-DE" dirty="0"/>
              <a:t>,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trait</a:t>
            </a:r>
            <a:r>
              <a:rPr lang="de-DE" dirty="0"/>
              <a:t> was </a:t>
            </a:r>
            <a:r>
              <a:rPr lang="de-DE" dirty="0" err="1"/>
              <a:t>independently</a:t>
            </a:r>
            <a:r>
              <a:rPr lang="de-DE" dirty="0"/>
              <a:t> </a:t>
            </a:r>
            <a:r>
              <a:rPr lang="de-DE" dirty="0" err="1"/>
              <a:t>gained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secondarily</a:t>
            </a:r>
            <a:r>
              <a:rPr lang="de-DE" dirty="0"/>
              <a:t> lost</a:t>
            </a:r>
          </a:p>
          <a:p>
            <a:pPr lvl="1"/>
            <a:r>
              <a:rPr lang="de-DE" dirty="0" err="1"/>
              <a:t>Which</a:t>
            </a:r>
            <a:r>
              <a:rPr lang="de-DE" dirty="0"/>
              <a:t> „</a:t>
            </a:r>
            <a:r>
              <a:rPr lang="de-DE" dirty="0" err="1"/>
              <a:t>direction</a:t>
            </a:r>
            <a:r>
              <a:rPr lang="de-DE" dirty="0"/>
              <a:t>“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likely</a:t>
            </a:r>
            <a:r>
              <a:rPr lang="de-D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57418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7776</Words>
  <Application>Microsoft Office PowerPoint</Application>
  <PresentationFormat>Breitbild</PresentationFormat>
  <Paragraphs>4224</Paragraphs>
  <Slides>61</Slides>
  <Notes>51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61</vt:i4>
      </vt:variant>
    </vt:vector>
  </HeadingPairs>
  <TitlesOfParts>
    <vt:vector size="65" baseType="lpstr">
      <vt:lpstr>Arial</vt:lpstr>
      <vt:lpstr>Calibri</vt:lpstr>
      <vt:lpstr>Calibri Light</vt:lpstr>
      <vt:lpstr>Office</vt:lpstr>
      <vt:lpstr>Maximum Parsimony</vt:lpstr>
      <vt:lpstr>Optimality Methods</vt:lpstr>
      <vt:lpstr>Number of possible topologies….</vt:lpstr>
      <vt:lpstr>Rooting</vt:lpstr>
      <vt:lpstr>Outgroups</vt:lpstr>
      <vt:lpstr>Maximum Parsimony (“größtmögliche Sparsamkeit”)</vt:lpstr>
      <vt:lpstr>PowerPoint-Präsentation</vt:lpstr>
      <vt:lpstr>PowerPoint-Präsentation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Step-by-step guide</vt:lpstr>
      <vt:lpstr>Conclusions</vt:lpstr>
      <vt:lpstr>Conclusions</vt:lpstr>
      <vt:lpstr>Conclusions</vt:lpstr>
      <vt:lpstr>Conclusions</vt:lpstr>
      <vt:lpstr>Conclusions</vt:lpstr>
      <vt:lpstr>Conclusions</vt:lpstr>
      <vt:lpstr>Conclusions</vt:lpstr>
      <vt:lpstr>Maximum Parsimony</vt:lpstr>
      <vt:lpstr>Maximum Parsimony</vt:lpstr>
      <vt:lpstr>Stepwise addition</vt:lpstr>
      <vt:lpstr>Stepwise addition</vt:lpstr>
      <vt:lpstr>Stepwise addition</vt:lpstr>
      <vt:lpstr>Stepwise addition</vt:lpstr>
      <vt:lpstr>Branch swapping</vt:lpstr>
      <vt:lpstr>Branch swapping</vt:lpstr>
      <vt:lpstr>Branch swapping</vt:lpstr>
      <vt:lpstr>Consensus- Trees</vt:lpstr>
      <vt:lpstr>Strict Consensus</vt:lpstr>
      <vt:lpstr>Strict Consensus</vt:lpstr>
      <vt:lpstr>Strict Consensus</vt:lpstr>
      <vt:lpstr>Strict Consensus</vt:lpstr>
      <vt:lpstr>Majority consensus</vt:lpstr>
      <vt:lpstr>Majority consensus</vt:lpstr>
      <vt:lpstr>Adams consensus</vt:lpstr>
      <vt:lpstr>Maximum Parsimony - Variants</vt:lpstr>
      <vt:lpstr>step-matrix parsimony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Christoph Nehrke</dc:creator>
  <cp:lastModifiedBy>Christoph Nehrke</cp:lastModifiedBy>
  <cp:revision>95</cp:revision>
  <dcterms:created xsi:type="dcterms:W3CDTF">2021-12-04T12:54:49Z</dcterms:created>
  <dcterms:modified xsi:type="dcterms:W3CDTF">2021-12-13T06:38:52Z</dcterms:modified>
</cp:coreProperties>
</file>
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handoutMasterIdLst>
    <p:handoutMasterId r:id="rId21"/>
  </p:handoutMasterIdLst>
  <p:sldIdLst>
    <p:sldId id="273" r:id="rId5"/>
    <p:sldId id="276" r:id="rId6"/>
    <p:sldId id="291" r:id="rId7"/>
    <p:sldId id="292" r:id="rId8"/>
    <p:sldId id="293" r:id="rId9"/>
    <p:sldId id="294" r:id="rId10"/>
    <p:sldId id="297" r:id="rId11"/>
    <p:sldId id="295" r:id="rId12"/>
    <p:sldId id="296" r:id="rId13"/>
    <p:sldId id="298" r:id="rId14"/>
    <p:sldId id="300" r:id="rId15"/>
    <p:sldId id="299" r:id="rId16"/>
    <p:sldId id="301" r:id="rId17"/>
    <p:sldId id="302" r:id="rId18"/>
    <p:sldId id="30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59" autoAdjust="0"/>
    <p:restoredTop sz="94660"/>
  </p:normalViewPr>
  <p:slideViewPr>
    <p:cSldViewPr showGuides="1">
      <p:cViewPr varScale="1">
        <p:scale>
          <a:sx n="150" d="100"/>
          <a:sy n="150" d="100"/>
        </p:scale>
        <p:origin x="138" y="264"/>
      </p:cViewPr>
      <p:guideLst/>
    </p:cSldViewPr>
  </p:slideViewPr>
  <p:notesTextViewPr>
    <p:cViewPr>
      <p:scale>
        <a:sx n="3" d="2"/>
        <a:sy n="3" d="2"/>
      </p:scale>
      <p:origin x="0" y="0"/>
    </p:cViewPr>
  </p:notesTextViewPr>
  <p:sorterViewPr>
    <p:cViewPr>
      <p:scale>
        <a:sx n="100" d="100"/>
        <a:sy n="100" d="100"/>
      </p:scale>
      <p:origin x="0" y="0"/>
    </p:cViewPr>
  </p:sorterViewPr>
  <p:notesViewPr>
    <p:cSldViewPr showGuides="1">
      <p:cViewPr varScale="1">
        <p:scale>
          <a:sx n="121" d="100"/>
          <a:sy n="121" d="100"/>
        </p:scale>
        <p:origin x="4938"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52B97DA8-8E6C-4064-8555-1AB8580FC5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603A4DB5-C154-4FD3-A336-A980009B15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144539-BE40-4D76-BE24-73DA343E3F8A}" type="datetimeFigureOut">
              <a:rPr lang="de-DE" smtClean="0"/>
              <a:t>16.04.2024</a:t>
            </a:fld>
            <a:endParaRPr lang="de-DE"/>
          </a:p>
        </p:txBody>
      </p:sp>
      <p:sp>
        <p:nvSpPr>
          <p:cNvPr id="4" name="Fußzeilenplatzhalter 3">
            <a:extLst>
              <a:ext uri="{FF2B5EF4-FFF2-40B4-BE49-F238E27FC236}">
                <a16:creationId xmlns:a16="http://schemas.microsoft.com/office/drawing/2014/main" id="{6C913036-6DEF-43C7-9422-9C904683CF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55D172E-3B7F-4B35-8E38-6D92867A5B0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FE627C-7C34-4443-AA3A-CB9806E781BA}" type="slidenum">
              <a:rPr lang="de-DE" smtClean="0"/>
              <a:t>‹Nr.›</a:t>
            </a:fld>
            <a:endParaRPr lang="de-DE"/>
          </a:p>
        </p:txBody>
      </p:sp>
    </p:spTree>
    <p:extLst>
      <p:ext uri="{BB962C8B-B14F-4D97-AF65-F5344CB8AC3E}">
        <p14:creationId xmlns:p14="http://schemas.microsoft.com/office/powerpoint/2010/main" val="372188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EB229A-CF15-496D-915A-3C3AC47BA8F3}" type="datetimeFigureOut">
              <a:rPr lang="de-DE" smtClean="0"/>
              <a:t>16.04.2024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FFE915-6F63-475F-AEF3-292EDAD54A09}" type="slidenum">
              <a:rPr lang="de-DE" smtClean="0"/>
              <a:t>‹Nr.›</a:t>
            </a:fld>
            <a:endParaRPr lang="de-DE"/>
          </a:p>
        </p:txBody>
      </p:sp>
    </p:spTree>
    <p:extLst>
      <p:ext uri="{BB962C8B-B14F-4D97-AF65-F5344CB8AC3E}">
        <p14:creationId xmlns:p14="http://schemas.microsoft.com/office/powerpoint/2010/main" val="1425214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tx2"/>
        </a:solidFill>
        <a:effectLst/>
      </p:bgPr>
    </p:bg>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F3AA6084-5A17-4DF0-99FA-9B12FE16AC92}"/>
              </a:ext>
            </a:extLst>
          </p:cNvPr>
          <p:cNvSpPr/>
          <p:nvPr userDrawn="1"/>
        </p:nvSpPr>
        <p:spPr>
          <a:xfrm>
            <a:off x="4770534" y="2024845"/>
            <a:ext cx="7421467" cy="4833157"/>
          </a:xfrm>
          <a:custGeom>
            <a:avLst/>
            <a:gdLst>
              <a:gd name="connsiteX0" fmla="*/ 7411942 w 7421467"/>
              <a:gd name="connsiteY0" fmla="*/ 0 h 4833157"/>
              <a:gd name="connsiteX1" fmla="*/ 7421467 w 7421467"/>
              <a:gd name="connsiteY1" fmla="*/ 241 h 4833157"/>
              <a:gd name="connsiteX2" fmla="*/ 7421467 w 7421467"/>
              <a:gd name="connsiteY2" fmla="*/ 4833157 h 4833157"/>
              <a:gd name="connsiteX3" fmla="*/ 0 w 7421467"/>
              <a:gd name="connsiteY3" fmla="*/ 4833157 h 4833157"/>
              <a:gd name="connsiteX4" fmla="*/ 110690 w 7421467"/>
              <a:gd name="connsiteY4" fmla="*/ 4588316 h 4833157"/>
              <a:gd name="connsiteX5" fmla="*/ 7411942 w 7421467"/>
              <a:gd name="connsiteY5" fmla="*/ 0 h 483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467" h="4833157">
                <a:moveTo>
                  <a:pt x="7411942" y="0"/>
                </a:moveTo>
                <a:lnTo>
                  <a:pt x="7421467" y="241"/>
                </a:lnTo>
                <a:lnTo>
                  <a:pt x="7421467" y="4833157"/>
                </a:lnTo>
                <a:lnTo>
                  <a:pt x="0" y="4833157"/>
                </a:lnTo>
                <a:lnTo>
                  <a:pt x="110690" y="4588316"/>
                </a:lnTo>
                <a:cubicBezTo>
                  <a:pt x="1418845" y="1873453"/>
                  <a:pt x="4196610" y="0"/>
                  <a:pt x="741194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10000"/>
              </a:lnSpc>
            </a:pPr>
            <a:endParaRPr lang="de-DE" sz="1700" spc="30" dirty="0" err="1"/>
          </a:p>
        </p:txBody>
      </p:sp>
      <p:sp>
        <p:nvSpPr>
          <p:cNvPr id="2" name="Title 1"/>
          <p:cNvSpPr>
            <a:spLocks noGrp="1"/>
          </p:cNvSpPr>
          <p:nvPr>
            <p:ph type="ctrTitle"/>
          </p:nvPr>
        </p:nvSpPr>
        <p:spPr>
          <a:xfrm>
            <a:off x="443373" y="2295098"/>
            <a:ext cx="7992888" cy="1469814"/>
          </a:xfrm>
        </p:spPr>
        <p:txBody>
          <a:bodyPr anchor="t"/>
          <a:lstStyle>
            <a:lvl1pPr algn="l">
              <a:spcBef>
                <a:spcPts val="0"/>
              </a:spcBef>
              <a:spcAft>
                <a:spcPts val="0"/>
              </a:spcAft>
              <a:defRPr sz="4400" spc="80" baseline="0">
                <a:solidFill>
                  <a:schemeClr val="bg1"/>
                </a:solidFill>
              </a:defRPr>
            </a:lvl1pPr>
          </a:lstStyle>
          <a:p>
            <a:r>
              <a:rPr lang="de-DE"/>
              <a:t>Mastertitelformat bearbeiten</a:t>
            </a:r>
            <a:endParaRPr lang="en-US" dirty="0"/>
          </a:p>
        </p:txBody>
      </p:sp>
      <p:sp>
        <p:nvSpPr>
          <p:cNvPr id="3" name="Subtitle 2"/>
          <p:cNvSpPr>
            <a:spLocks noGrp="1"/>
          </p:cNvSpPr>
          <p:nvPr>
            <p:ph type="subTitle" idx="1"/>
          </p:nvPr>
        </p:nvSpPr>
        <p:spPr>
          <a:xfrm>
            <a:off x="443373" y="3915278"/>
            <a:ext cx="6433129" cy="929754"/>
          </a:xfrm>
        </p:spPr>
        <p:txBody>
          <a:bodyPr/>
          <a:lstStyle>
            <a:lvl1pPr marL="0" indent="0" algn="l">
              <a:spcBef>
                <a:spcPts val="0"/>
              </a:spcBef>
              <a:spcAft>
                <a:spcPts val="0"/>
              </a:spcAft>
              <a:buNone/>
              <a:defRPr sz="2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9" name="Textplatzhalter 8">
            <a:extLst>
              <a:ext uri="{FF2B5EF4-FFF2-40B4-BE49-F238E27FC236}">
                <a16:creationId xmlns:a16="http://schemas.microsoft.com/office/drawing/2014/main" id="{25F13FFA-4861-486F-A58D-D9EB08D64FE1}"/>
              </a:ext>
            </a:extLst>
          </p:cNvPr>
          <p:cNvSpPr>
            <a:spLocks noGrp="1"/>
          </p:cNvSpPr>
          <p:nvPr>
            <p:ph type="body" sz="quarter" idx="10"/>
          </p:nvPr>
        </p:nvSpPr>
        <p:spPr>
          <a:xfrm>
            <a:off x="443374" y="5013177"/>
            <a:ext cx="4968550" cy="1152674"/>
          </a:xfrm>
        </p:spPr>
        <p:txBody>
          <a:bodyPr/>
          <a:lstStyle>
            <a:lvl1pPr marL="0" indent="0">
              <a:spcBef>
                <a:spcPts val="0"/>
              </a:spcBef>
              <a:spcAft>
                <a:spcPts val="0"/>
              </a:spcAft>
              <a:buNone/>
              <a:defRPr>
                <a:solidFill>
                  <a:schemeClr val="bg1"/>
                </a:solidFill>
              </a:defRPr>
            </a:lvl1pPr>
          </a:lstStyle>
          <a:p>
            <a:pPr lvl="0"/>
            <a:r>
              <a:rPr lang="de-DE"/>
              <a:t>Mastertextformat bearbeiten</a:t>
            </a:r>
          </a:p>
        </p:txBody>
      </p:sp>
      <p:pic>
        <p:nvPicPr>
          <p:cNvPr id="7" name="Grafik 6">
            <a:extLst>
              <a:ext uri="{FF2B5EF4-FFF2-40B4-BE49-F238E27FC236}">
                <a16:creationId xmlns:a16="http://schemas.microsoft.com/office/drawing/2014/main" id="{1BD6141A-43A8-45D6-B5D6-DB3F5A24278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77302" y="466757"/>
            <a:ext cx="1772132" cy="1150111"/>
          </a:xfrm>
          <a:prstGeom prst="rect">
            <a:avLst/>
          </a:prstGeom>
        </p:spPr>
      </p:pic>
    </p:spTree>
    <p:extLst>
      <p:ext uri="{BB962C8B-B14F-4D97-AF65-F5344CB8AC3E}">
        <p14:creationId xmlns:p14="http://schemas.microsoft.com/office/powerpoint/2010/main" val="2738054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bg>
      <p:bgPr>
        <a:solidFill>
          <a:schemeClr val="tx2"/>
        </a:solidFill>
        <a:effectLst/>
      </p:bgPr>
    </p:bg>
    <p:spTree>
      <p:nvGrpSpPr>
        <p:cNvPr id="1" name=""/>
        <p:cNvGrpSpPr/>
        <p:nvPr/>
      </p:nvGrpSpPr>
      <p:grpSpPr>
        <a:xfrm>
          <a:off x="0" y="0"/>
          <a:ext cx="0" cy="0"/>
          <a:chOff x="0" y="0"/>
          <a:chExt cx="0" cy="0"/>
        </a:xfrm>
      </p:grpSpPr>
      <p:sp>
        <p:nvSpPr>
          <p:cNvPr id="10" name="Bildplatzhalter 9">
            <a:extLst>
              <a:ext uri="{FF2B5EF4-FFF2-40B4-BE49-F238E27FC236}">
                <a16:creationId xmlns:a16="http://schemas.microsoft.com/office/drawing/2014/main" id="{DBC08468-0CA3-47F9-BB7C-6D01CE3C7998}"/>
              </a:ext>
            </a:extLst>
          </p:cNvPr>
          <p:cNvSpPr>
            <a:spLocks noGrp="1"/>
          </p:cNvSpPr>
          <p:nvPr>
            <p:ph type="pic" sz="quarter" idx="11"/>
          </p:nvPr>
        </p:nvSpPr>
        <p:spPr>
          <a:xfrm>
            <a:off x="4770535" y="2024846"/>
            <a:ext cx="7421466" cy="4833155"/>
          </a:xfrm>
          <a:custGeom>
            <a:avLst/>
            <a:gdLst>
              <a:gd name="connsiteX0" fmla="*/ 7411941 w 7421466"/>
              <a:gd name="connsiteY0" fmla="*/ 0 h 4833155"/>
              <a:gd name="connsiteX1" fmla="*/ 7421466 w 7421466"/>
              <a:gd name="connsiteY1" fmla="*/ 241 h 4833155"/>
              <a:gd name="connsiteX2" fmla="*/ 7421466 w 7421466"/>
              <a:gd name="connsiteY2" fmla="*/ 4833155 h 4833155"/>
              <a:gd name="connsiteX3" fmla="*/ 0 w 7421466"/>
              <a:gd name="connsiteY3" fmla="*/ 4833155 h 4833155"/>
              <a:gd name="connsiteX4" fmla="*/ 110689 w 7421466"/>
              <a:gd name="connsiteY4" fmla="*/ 4588316 h 4833155"/>
              <a:gd name="connsiteX5" fmla="*/ 7411941 w 7421466"/>
              <a:gd name="connsiteY5" fmla="*/ 0 h 483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466" h="4833155">
                <a:moveTo>
                  <a:pt x="7411941" y="0"/>
                </a:moveTo>
                <a:lnTo>
                  <a:pt x="7421466" y="241"/>
                </a:lnTo>
                <a:lnTo>
                  <a:pt x="7421466" y="4833155"/>
                </a:lnTo>
                <a:lnTo>
                  <a:pt x="0" y="4833155"/>
                </a:lnTo>
                <a:lnTo>
                  <a:pt x="110689" y="4588316"/>
                </a:lnTo>
                <a:cubicBezTo>
                  <a:pt x="1418844" y="1873453"/>
                  <a:pt x="4196609" y="0"/>
                  <a:pt x="7411941" y="0"/>
                </a:cubicBezTo>
                <a:close/>
              </a:path>
            </a:pathLst>
          </a:custGeom>
          <a:solidFill>
            <a:schemeClr val="bg1">
              <a:lumMod val="85000"/>
            </a:schemeClr>
          </a:solidFill>
        </p:spPr>
        <p:txBody>
          <a:bodyPr wrap="square" anchor="ctr">
            <a:noAutofit/>
          </a:bodyPr>
          <a:lstStyle>
            <a:lvl1pPr marL="0" indent="0" algn="ctr">
              <a:buNone/>
              <a:defRPr sz="1400"/>
            </a:lvl1pPr>
          </a:lstStyle>
          <a:p>
            <a:r>
              <a:rPr lang="de-DE"/>
              <a:t>Bild durch Klicken auf Symbol hinzufügen</a:t>
            </a:r>
          </a:p>
        </p:txBody>
      </p:sp>
      <p:sp>
        <p:nvSpPr>
          <p:cNvPr id="2" name="Title 1"/>
          <p:cNvSpPr>
            <a:spLocks noGrp="1"/>
          </p:cNvSpPr>
          <p:nvPr>
            <p:ph type="ctrTitle"/>
          </p:nvPr>
        </p:nvSpPr>
        <p:spPr>
          <a:xfrm>
            <a:off x="443373" y="2295098"/>
            <a:ext cx="7992888" cy="1469814"/>
          </a:xfrm>
        </p:spPr>
        <p:txBody>
          <a:bodyPr anchor="t"/>
          <a:lstStyle>
            <a:lvl1pPr algn="l">
              <a:spcBef>
                <a:spcPts val="0"/>
              </a:spcBef>
              <a:spcAft>
                <a:spcPts val="0"/>
              </a:spcAft>
              <a:defRPr sz="4400" spc="80" baseline="0">
                <a:solidFill>
                  <a:schemeClr val="bg1"/>
                </a:solidFill>
              </a:defRPr>
            </a:lvl1pPr>
          </a:lstStyle>
          <a:p>
            <a:r>
              <a:rPr lang="de-DE"/>
              <a:t>Mastertitelformat bearbeiten</a:t>
            </a:r>
            <a:endParaRPr lang="en-US" dirty="0"/>
          </a:p>
        </p:txBody>
      </p:sp>
      <p:sp>
        <p:nvSpPr>
          <p:cNvPr id="3" name="Subtitle 2"/>
          <p:cNvSpPr>
            <a:spLocks noGrp="1"/>
          </p:cNvSpPr>
          <p:nvPr>
            <p:ph type="subTitle" idx="1"/>
          </p:nvPr>
        </p:nvSpPr>
        <p:spPr>
          <a:xfrm>
            <a:off x="443373" y="3915278"/>
            <a:ext cx="6433129" cy="929754"/>
          </a:xfrm>
        </p:spPr>
        <p:txBody>
          <a:bodyPr/>
          <a:lstStyle>
            <a:lvl1pPr marL="0" indent="0" algn="l">
              <a:spcBef>
                <a:spcPts val="0"/>
              </a:spcBef>
              <a:spcAft>
                <a:spcPts val="0"/>
              </a:spcAft>
              <a:buNone/>
              <a:defRPr sz="2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9" name="Textplatzhalter 8">
            <a:extLst>
              <a:ext uri="{FF2B5EF4-FFF2-40B4-BE49-F238E27FC236}">
                <a16:creationId xmlns:a16="http://schemas.microsoft.com/office/drawing/2014/main" id="{25F13FFA-4861-486F-A58D-D9EB08D64FE1}"/>
              </a:ext>
            </a:extLst>
          </p:cNvPr>
          <p:cNvSpPr>
            <a:spLocks noGrp="1"/>
          </p:cNvSpPr>
          <p:nvPr>
            <p:ph type="body" sz="quarter" idx="10"/>
          </p:nvPr>
        </p:nvSpPr>
        <p:spPr>
          <a:xfrm>
            <a:off x="443374" y="5013177"/>
            <a:ext cx="4968550" cy="1152674"/>
          </a:xfrm>
        </p:spPr>
        <p:txBody>
          <a:bodyPr/>
          <a:lstStyle>
            <a:lvl1pPr marL="0" indent="0">
              <a:spcBef>
                <a:spcPts val="0"/>
              </a:spcBef>
              <a:spcAft>
                <a:spcPts val="0"/>
              </a:spcAft>
              <a:buNone/>
              <a:defRPr>
                <a:solidFill>
                  <a:schemeClr val="bg1"/>
                </a:solidFill>
              </a:defRPr>
            </a:lvl1pPr>
          </a:lstStyle>
          <a:p>
            <a:pPr lvl="0"/>
            <a:r>
              <a:rPr lang="de-DE"/>
              <a:t>Mastertextformat bearbeiten</a:t>
            </a:r>
          </a:p>
        </p:txBody>
      </p:sp>
      <p:pic>
        <p:nvPicPr>
          <p:cNvPr id="7" name="Grafik 6">
            <a:extLst>
              <a:ext uri="{FF2B5EF4-FFF2-40B4-BE49-F238E27FC236}">
                <a16:creationId xmlns:a16="http://schemas.microsoft.com/office/drawing/2014/main" id="{1BD6141A-43A8-45D6-B5D6-DB3F5A24278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77302" y="466757"/>
            <a:ext cx="1772132" cy="1150111"/>
          </a:xfrm>
          <a:prstGeom prst="rect">
            <a:avLst/>
          </a:prstGeom>
        </p:spPr>
      </p:pic>
    </p:spTree>
    <p:extLst>
      <p:ext uri="{BB962C8B-B14F-4D97-AF65-F5344CB8AC3E}">
        <p14:creationId xmlns:p14="http://schemas.microsoft.com/office/powerpoint/2010/main" val="1200822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2" name="Title 1"/>
          <p:cNvSpPr>
            <a:spLocks noGrp="1"/>
          </p:cNvSpPr>
          <p:nvPr>
            <p:ph type="title"/>
          </p:nvPr>
        </p:nvSpPr>
        <p:spPr>
          <a:xfrm>
            <a:off x="2063750" y="1268760"/>
            <a:ext cx="8604250" cy="1476164"/>
          </a:xfrm>
        </p:spPr>
        <p:txBody>
          <a:bodyPr/>
          <a:lstStyle>
            <a:lvl1pPr>
              <a:defRPr sz="4400" spc="80" baseline="0"/>
            </a:lvl1pPr>
          </a:lstStyle>
          <a:p>
            <a:r>
              <a:rPr lang="de-DE"/>
              <a:t>Mastertitelformat bearbeiten</a:t>
            </a:r>
            <a:endParaRPr lang="en-US" dirty="0"/>
          </a:p>
        </p:txBody>
      </p:sp>
      <p:sp>
        <p:nvSpPr>
          <p:cNvPr id="7" name="Textplatzhalter 6">
            <a:extLst>
              <a:ext uri="{FF2B5EF4-FFF2-40B4-BE49-F238E27FC236}">
                <a16:creationId xmlns:a16="http://schemas.microsoft.com/office/drawing/2014/main" id="{660CC760-EBF5-4E69-B01B-A0CE7B6B933B}"/>
              </a:ext>
            </a:extLst>
          </p:cNvPr>
          <p:cNvSpPr>
            <a:spLocks noGrp="1"/>
          </p:cNvSpPr>
          <p:nvPr>
            <p:ph type="body" sz="quarter" idx="11"/>
          </p:nvPr>
        </p:nvSpPr>
        <p:spPr>
          <a:xfrm>
            <a:off x="2063750" y="2881610"/>
            <a:ext cx="8604250" cy="1231466"/>
          </a:xfrm>
        </p:spPr>
        <p:txBody>
          <a:bodyPr/>
          <a:lstStyle>
            <a:lvl1pPr marL="0" indent="0">
              <a:spcAft>
                <a:spcPts val="0"/>
              </a:spcAft>
              <a:buNone/>
              <a:defRPr sz="2400">
                <a:solidFill>
                  <a:schemeClr val="tx2"/>
                </a:solidFill>
              </a:defRPr>
            </a:lvl1pPr>
          </a:lstStyle>
          <a:p>
            <a:pPr lvl="0"/>
            <a:r>
              <a:rPr lang="de-DE"/>
              <a:t>Mastertextformat bearbeiten</a:t>
            </a:r>
          </a:p>
        </p:txBody>
      </p:sp>
    </p:spTree>
    <p:extLst>
      <p:ext uri="{BB962C8B-B14F-4D97-AF65-F5344CB8AC3E}">
        <p14:creationId xmlns:p14="http://schemas.microsoft.com/office/powerpoint/2010/main" val="178295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apiteltrenner mit Bild">
    <p:spTree>
      <p:nvGrpSpPr>
        <p:cNvPr id="1" name=""/>
        <p:cNvGrpSpPr/>
        <p:nvPr/>
      </p:nvGrpSpPr>
      <p:grpSpPr>
        <a:xfrm>
          <a:off x="0" y="0"/>
          <a:ext cx="0" cy="0"/>
          <a:chOff x="0" y="0"/>
          <a:chExt cx="0" cy="0"/>
        </a:xfrm>
      </p:grpSpPr>
      <p:sp>
        <p:nvSpPr>
          <p:cNvPr id="2" name="Title 1"/>
          <p:cNvSpPr>
            <a:spLocks noGrp="1"/>
          </p:cNvSpPr>
          <p:nvPr>
            <p:ph type="title"/>
          </p:nvPr>
        </p:nvSpPr>
        <p:spPr>
          <a:xfrm>
            <a:off x="2063751" y="812824"/>
            <a:ext cx="8604250" cy="558010"/>
          </a:xfrm>
        </p:spPr>
        <p:txBody>
          <a:bodyPr/>
          <a:lstStyle>
            <a:lvl1pPr>
              <a:defRPr sz="3400"/>
            </a:lvl1pPr>
          </a:lstStyle>
          <a:p>
            <a:r>
              <a:rPr lang="de-DE"/>
              <a:t>Mastertitelformat bearbeiten</a:t>
            </a:r>
            <a:endParaRPr lang="en-US" dirty="0"/>
          </a:p>
        </p:txBody>
      </p:sp>
      <p:sp>
        <p:nvSpPr>
          <p:cNvPr id="5" name="Bildplatzhalter 7">
            <a:extLst>
              <a:ext uri="{FF2B5EF4-FFF2-40B4-BE49-F238E27FC236}">
                <a16:creationId xmlns:a16="http://schemas.microsoft.com/office/drawing/2014/main" id="{AAA3DF5A-AAAE-4747-B95D-44DDC7CBEB39}"/>
              </a:ext>
            </a:extLst>
          </p:cNvPr>
          <p:cNvSpPr>
            <a:spLocks noGrp="1"/>
          </p:cNvSpPr>
          <p:nvPr>
            <p:ph type="pic" sz="quarter" idx="11"/>
          </p:nvPr>
        </p:nvSpPr>
        <p:spPr>
          <a:xfrm>
            <a:off x="2063750" y="1484784"/>
            <a:ext cx="10128251" cy="4176464"/>
          </a:xfrm>
          <a:solidFill>
            <a:schemeClr val="bg1">
              <a:lumMod val="85000"/>
            </a:schemeClr>
          </a:solidFill>
        </p:spPr>
        <p:txBody>
          <a:bodyPr anchor="ctr"/>
          <a:lstStyle>
            <a:lvl1pPr marL="0" indent="0" algn="ctr">
              <a:buNone/>
              <a:defRPr/>
            </a:lvl1pPr>
          </a:lstStyle>
          <a:p>
            <a:r>
              <a:rPr lang="de-DE"/>
              <a:t>Bild durch Klicken auf Symbol hinzufügen</a:t>
            </a:r>
          </a:p>
        </p:txBody>
      </p:sp>
    </p:spTree>
    <p:extLst>
      <p:ext uri="{BB962C8B-B14F-4D97-AF65-F5344CB8AC3E}">
        <p14:creationId xmlns:p14="http://schemas.microsoft.com/office/powerpoint/2010/main" val="3731981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653811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de-DE"/>
              <a:t>Mastertitelformat bearbeiten</a:t>
            </a:r>
            <a:endParaRPr lang="en-US" dirty="0"/>
          </a:p>
        </p:txBody>
      </p:sp>
      <p:sp>
        <p:nvSpPr>
          <p:cNvPr id="3" name="Content Placeholder 2"/>
          <p:cNvSpPr>
            <a:spLocks noGrp="1"/>
          </p:cNvSpPr>
          <p:nvPr>
            <p:ph sz="half" idx="1"/>
          </p:nvPr>
        </p:nvSpPr>
        <p:spPr>
          <a:xfrm>
            <a:off x="2063750" y="1557338"/>
            <a:ext cx="4104000" cy="460851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564052" y="1557338"/>
            <a:ext cx="4103949" cy="4608513"/>
          </a:xfrm>
        </p:spPr>
        <p:txBody>
          <a:bodyPr/>
          <a:lstStyle>
            <a:lvl1pPr>
              <a:defRPr spc="30" baseline="0"/>
            </a:lvl1pPr>
            <a:lvl2pPr>
              <a:defRPr spc="30" baseline="0"/>
            </a:lvl2pPr>
            <a:lvl3pPr>
              <a:defRPr spc="30" baseline="0"/>
            </a:lvl3pPr>
            <a:lvl4pPr>
              <a:defRPr spc="30" baseline="0"/>
            </a:lvl4pPr>
            <a:lvl5pPr>
              <a:defRPr spc="30" baseline="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526492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Inhalt und Bild (brei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de-DE"/>
              <a:t>Mastertitelformat bearbeiten</a:t>
            </a:r>
            <a:endParaRPr lang="en-US" dirty="0"/>
          </a:p>
        </p:txBody>
      </p:sp>
      <p:sp>
        <p:nvSpPr>
          <p:cNvPr id="3" name="Content Placeholder 2"/>
          <p:cNvSpPr>
            <a:spLocks noGrp="1"/>
          </p:cNvSpPr>
          <p:nvPr>
            <p:ph sz="half" idx="1"/>
          </p:nvPr>
        </p:nvSpPr>
        <p:spPr>
          <a:xfrm>
            <a:off x="2063750" y="1557338"/>
            <a:ext cx="4284278" cy="460851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Bildplatzhalter 7">
            <a:extLst>
              <a:ext uri="{FF2B5EF4-FFF2-40B4-BE49-F238E27FC236}">
                <a16:creationId xmlns:a16="http://schemas.microsoft.com/office/drawing/2014/main" id="{5CA90898-2F68-4C13-9E2E-E02AF4DD76F4}"/>
              </a:ext>
            </a:extLst>
          </p:cNvPr>
          <p:cNvSpPr>
            <a:spLocks noGrp="1"/>
          </p:cNvSpPr>
          <p:nvPr>
            <p:ph type="pic" sz="quarter" idx="11"/>
          </p:nvPr>
        </p:nvSpPr>
        <p:spPr>
          <a:xfrm>
            <a:off x="6600057" y="1557336"/>
            <a:ext cx="5591944" cy="3707868"/>
          </a:xfrm>
          <a:solidFill>
            <a:schemeClr val="bg1">
              <a:lumMod val="85000"/>
            </a:schemeClr>
          </a:solidFill>
        </p:spPr>
        <p:txBody>
          <a:bodyPr anchor="ctr"/>
          <a:lstStyle>
            <a:lvl1pPr marL="0" indent="0" algn="ctr">
              <a:buNone/>
              <a:defRPr/>
            </a:lvl1pPr>
          </a:lstStyle>
          <a:p>
            <a:r>
              <a:rPr lang="de-DE"/>
              <a:t>Bild durch Klicken auf Symbol hinzufügen</a:t>
            </a:r>
          </a:p>
        </p:txBody>
      </p:sp>
    </p:spTree>
    <p:extLst>
      <p:ext uri="{BB962C8B-B14F-4D97-AF65-F5344CB8AC3E}">
        <p14:creationId xmlns:p14="http://schemas.microsoft.com/office/powerpoint/2010/main" val="3674637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Inhalt und Bi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063750" y="1557338"/>
            <a:ext cx="5832450" cy="460851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8" name="Bildplatzhalter 7">
            <a:extLst>
              <a:ext uri="{FF2B5EF4-FFF2-40B4-BE49-F238E27FC236}">
                <a16:creationId xmlns:a16="http://schemas.microsoft.com/office/drawing/2014/main" id="{8448A72F-7758-4846-BF2E-9F2F2C0FDEAA}"/>
              </a:ext>
            </a:extLst>
          </p:cNvPr>
          <p:cNvSpPr>
            <a:spLocks noGrp="1"/>
          </p:cNvSpPr>
          <p:nvPr>
            <p:ph type="pic" sz="quarter" idx="11"/>
          </p:nvPr>
        </p:nvSpPr>
        <p:spPr>
          <a:xfrm>
            <a:off x="8220236" y="0"/>
            <a:ext cx="3971764" cy="6021288"/>
          </a:xfrm>
          <a:solidFill>
            <a:schemeClr val="bg1">
              <a:lumMod val="85000"/>
            </a:schemeClr>
          </a:solidFill>
        </p:spPr>
        <p:txBody>
          <a:bodyPr anchor="ctr"/>
          <a:lstStyle>
            <a:lvl1pPr marL="0" indent="0" algn="ctr">
              <a:buNone/>
              <a:defRPr/>
            </a:lvl1pPr>
          </a:lstStyle>
          <a:p>
            <a:r>
              <a:rPr lang="de-DE"/>
              <a:t>Bild durch Klicken auf Symbol hinzufügen</a:t>
            </a:r>
          </a:p>
        </p:txBody>
      </p:sp>
      <p:sp>
        <p:nvSpPr>
          <p:cNvPr id="4" name="Titel 3">
            <a:extLst>
              <a:ext uri="{FF2B5EF4-FFF2-40B4-BE49-F238E27FC236}">
                <a16:creationId xmlns:a16="http://schemas.microsoft.com/office/drawing/2014/main" id="{FBB88B8F-7465-465A-92A9-85A1AB072D62}"/>
              </a:ext>
            </a:extLst>
          </p:cNvPr>
          <p:cNvSpPr>
            <a:spLocks noGrp="1"/>
          </p:cNvSpPr>
          <p:nvPr>
            <p:ph type="title"/>
          </p:nvPr>
        </p:nvSpPr>
        <p:spPr>
          <a:xfrm>
            <a:off x="2062921" y="938374"/>
            <a:ext cx="5832450" cy="438398"/>
          </a:xfrm>
        </p:spPr>
        <p:txBody>
          <a:bodyPr/>
          <a:lstStyle>
            <a:lvl1pPr>
              <a:defRPr sz="2400"/>
            </a:lvl1pPr>
          </a:lstStyle>
          <a:p>
            <a:r>
              <a:rPr lang="de-DE"/>
              <a:t>Mastertitelformat bearbeiten</a:t>
            </a:r>
            <a:endParaRPr lang="de-DE" dirty="0"/>
          </a:p>
        </p:txBody>
      </p:sp>
    </p:spTree>
    <p:extLst>
      <p:ext uri="{BB962C8B-B14F-4D97-AF65-F5344CB8AC3E}">
        <p14:creationId xmlns:p14="http://schemas.microsoft.com/office/powerpoint/2010/main" val="2742726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Tree>
    <p:extLst>
      <p:ext uri="{BB962C8B-B14F-4D97-AF65-F5344CB8AC3E}">
        <p14:creationId xmlns:p14="http://schemas.microsoft.com/office/powerpoint/2010/main" val="3838300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64545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C9E07F4F-6376-4EE4-AB3E-76EA17C18ECD}"/>
              </a:ext>
            </a:extLst>
          </p:cNvPr>
          <p:cNvSpPr/>
          <p:nvPr userDrawn="1"/>
        </p:nvSpPr>
        <p:spPr>
          <a:xfrm>
            <a:off x="0" y="0"/>
            <a:ext cx="145097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de-DE" sz="1700" spc="30" dirty="0" err="1"/>
          </a:p>
        </p:txBody>
      </p:sp>
      <p:sp>
        <p:nvSpPr>
          <p:cNvPr id="15" name="Freihandform: Form 14">
            <a:extLst>
              <a:ext uri="{FF2B5EF4-FFF2-40B4-BE49-F238E27FC236}">
                <a16:creationId xmlns:a16="http://schemas.microsoft.com/office/drawing/2014/main" id="{172AF8F0-8DAD-4538-BC1D-E3B87187CF41}"/>
              </a:ext>
            </a:extLst>
          </p:cNvPr>
          <p:cNvSpPr/>
          <p:nvPr userDrawn="1"/>
        </p:nvSpPr>
        <p:spPr>
          <a:xfrm>
            <a:off x="0" y="2977768"/>
            <a:ext cx="1450975" cy="3880232"/>
          </a:xfrm>
          <a:custGeom>
            <a:avLst/>
            <a:gdLst>
              <a:gd name="connsiteX0" fmla="*/ 1450975 w 1450975"/>
              <a:gd name="connsiteY0" fmla="*/ 0 h 3880232"/>
              <a:gd name="connsiteX1" fmla="*/ 1450975 w 1450975"/>
              <a:gd name="connsiteY1" fmla="*/ 3880232 h 3880232"/>
              <a:gd name="connsiteX2" fmla="*/ 0 w 1450975"/>
              <a:gd name="connsiteY2" fmla="*/ 3880232 h 3880232"/>
              <a:gd name="connsiteX3" fmla="*/ 0 w 1450975"/>
              <a:gd name="connsiteY3" fmla="*/ 982332 h 3880232"/>
              <a:gd name="connsiteX4" fmla="*/ 80748 w 1450975"/>
              <a:gd name="connsiteY4" fmla="*/ 912387 h 3880232"/>
              <a:gd name="connsiteX5" fmla="*/ 1372159 w 1450975"/>
              <a:gd name="connsiteY5" fmla="*/ 40367 h 3880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0975" h="3880232">
                <a:moveTo>
                  <a:pt x="1450975" y="0"/>
                </a:moveTo>
                <a:lnTo>
                  <a:pt x="1450975" y="3880232"/>
                </a:lnTo>
                <a:lnTo>
                  <a:pt x="0" y="3880232"/>
                </a:lnTo>
                <a:lnTo>
                  <a:pt x="0" y="982332"/>
                </a:lnTo>
                <a:lnTo>
                  <a:pt x="80748" y="912387"/>
                </a:lnTo>
                <a:cubicBezTo>
                  <a:pt x="480793" y="582240"/>
                  <a:pt x="913073" y="289757"/>
                  <a:pt x="1372159" y="4036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10000"/>
              </a:lnSpc>
            </a:pPr>
            <a:endParaRPr lang="de-DE" sz="1700" spc="30" dirty="0" err="1"/>
          </a:p>
        </p:txBody>
      </p:sp>
      <p:sp>
        <p:nvSpPr>
          <p:cNvPr id="2" name="Title Placeholder 1"/>
          <p:cNvSpPr>
            <a:spLocks noGrp="1"/>
          </p:cNvSpPr>
          <p:nvPr>
            <p:ph type="title"/>
          </p:nvPr>
        </p:nvSpPr>
        <p:spPr>
          <a:xfrm>
            <a:off x="2062921" y="938374"/>
            <a:ext cx="8605080" cy="438398"/>
          </a:xfrm>
          <a:prstGeom prst="rect">
            <a:avLst/>
          </a:prstGeom>
        </p:spPr>
        <p:txBody>
          <a:bodyPr vert="horz" lIns="0" tIns="0" rIns="0" bIns="0" rtlCol="0" anchor="t" anchorCtr="0">
            <a:noAutofit/>
          </a:bodyPr>
          <a:lstStyle/>
          <a:p>
            <a:r>
              <a:rPr lang="de-DE" dirty="0"/>
              <a:t>Mastertitelformat bearbeiten</a:t>
            </a:r>
            <a:endParaRPr lang="en-US" dirty="0"/>
          </a:p>
        </p:txBody>
      </p:sp>
      <p:sp>
        <p:nvSpPr>
          <p:cNvPr id="3" name="Text Placeholder 2"/>
          <p:cNvSpPr>
            <a:spLocks noGrp="1"/>
          </p:cNvSpPr>
          <p:nvPr>
            <p:ph type="body" idx="1"/>
          </p:nvPr>
        </p:nvSpPr>
        <p:spPr>
          <a:xfrm>
            <a:off x="2063750" y="1557338"/>
            <a:ext cx="8604251" cy="4608512"/>
          </a:xfrm>
          <a:prstGeom prst="rect">
            <a:avLst/>
          </a:prstGeom>
        </p:spPr>
        <p:txBody>
          <a:bodyPr vert="horz" lIns="0" tIns="0" rIns="0" bIns="0" rtlCol="0" anchor="t" anchorCtr="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0" name="Rechteck 9">
            <a:extLst>
              <a:ext uri="{FF2B5EF4-FFF2-40B4-BE49-F238E27FC236}">
                <a16:creationId xmlns:a16="http://schemas.microsoft.com/office/drawing/2014/main" id="{5D872A42-BB1C-49BB-A53E-DC69F0F431DE}"/>
              </a:ext>
            </a:extLst>
          </p:cNvPr>
          <p:cNvSpPr/>
          <p:nvPr userDrawn="1"/>
        </p:nvSpPr>
        <p:spPr>
          <a:xfrm>
            <a:off x="299357" y="6302177"/>
            <a:ext cx="1044116" cy="151159"/>
          </a:xfrm>
          <a:prstGeom prst="rect">
            <a:avLst/>
          </a:prstGeom>
        </p:spPr>
        <p:txBody>
          <a:bodyPr wrap="none" lIns="0" tIns="0" rIns="0" bIns="0">
            <a:noAutofit/>
          </a:bodyPr>
          <a:lstStyle/>
          <a:p>
            <a:pPr>
              <a:lnSpc>
                <a:spcPts val="1200"/>
              </a:lnSpc>
            </a:pPr>
            <a:r>
              <a:rPr lang="de-DE" sz="900" b="1" spc="20" baseline="0" dirty="0">
                <a:solidFill>
                  <a:schemeClr val="bg1"/>
                </a:solidFill>
              </a:rPr>
              <a:t>Slide </a:t>
            </a:r>
            <a:fld id="{B68CA67E-C928-4610-8613-D29F25DDB709}" type="slidenum">
              <a:rPr lang="de-DE" sz="900" b="1" spc="20" baseline="0" smtClean="0">
                <a:solidFill>
                  <a:schemeClr val="bg1"/>
                </a:solidFill>
              </a:rPr>
              <a:t>‹Nr.›</a:t>
            </a:fld>
            <a:r>
              <a:rPr lang="de-DE" sz="900" b="1" spc="20" baseline="0" dirty="0">
                <a:solidFill>
                  <a:schemeClr val="bg1"/>
                </a:solidFill>
              </a:rPr>
              <a:t> </a:t>
            </a:r>
          </a:p>
        </p:txBody>
      </p:sp>
      <p:sp>
        <p:nvSpPr>
          <p:cNvPr id="11" name="Rechteck 10">
            <a:extLst>
              <a:ext uri="{FF2B5EF4-FFF2-40B4-BE49-F238E27FC236}">
                <a16:creationId xmlns:a16="http://schemas.microsoft.com/office/drawing/2014/main" id="{39396C9F-CB52-4AE4-A123-8AA538C7CCC4}"/>
              </a:ext>
            </a:extLst>
          </p:cNvPr>
          <p:cNvSpPr/>
          <p:nvPr userDrawn="1"/>
        </p:nvSpPr>
        <p:spPr>
          <a:xfrm>
            <a:off x="2063552" y="6302177"/>
            <a:ext cx="8604448" cy="365125"/>
          </a:xfrm>
          <a:prstGeom prst="rect">
            <a:avLst/>
          </a:prstGeom>
        </p:spPr>
        <p:txBody>
          <a:bodyPr wrap="none" lIns="0" tIns="0" rIns="0" bIns="0">
            <a:noAutofit/>
          </a:bodyPr>
          <a:lstStyle/>
          <a:p>
            <a:pPr>
              <a:lnSpc>
                <a:spcPts val="1200"/>
              </a:lnSpc>
            </a:pPr>
            <a:r>
              <a:rPr lang="nl-NL" sz="900" b="1" spc="20" baseline="0" dirty="0"/>
              <a:t>Introduction into bioinformatics </a:t>
            </a:r>
          </a:p>
          <a:p>
            <a:pPr>
              <a:lnSpc>
                <a:spcPts val="1200"/>
              </a:lnSpc>
            </a:pPr>
            <a:r>
              <a:rPr lang="de-DE" sz="900" u="none" dirty="0"/>
              <a:t>C. Nehrke, christoph.nehrke@uol.de</a:t>
            </a:r>
            <a:endParaRPr lang="de-DE" sz="900" dirty="0"/>
          </a:p>
        </p:txBody>
      </p:sp>
      <p:pic>
        <p:nvPicPr>
          <p:cNvPr id="13" name="Grafik 12">
            <a:extLst>
              <a:ext uri="{FF2B5EF4-FFF2-40B4-BE49-F238E27FC236}">
                <a16:creationId xmlns:a16="http://schemas.microsoft.com/office/drawing/2014/main" id="{A40C3931-080E-49C4-BBA5-6BE341C11BF2}"/>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254794" y="299033"/>
            <a:ext cx="911476" cy="591546"/>
          </a:xfrm>
          <a:prstGeom prst="rect">
            <a:avLst/>
          </a:prstGeom>
        </p:spPr>
      </p:pic>
      <p:sp>
        <p:nvSpPr>
          <p:cNvPr id="14" name="Rechteck 13">
            <a:extLst>
              <a:ext uri="{FF2B5EF4-FFF2-40B4-BE49-F238E27FC236}">
                <a16:creationId xmlns:a16="http://schemas.microsoft.com/office/drawing/2014/main" id="{4ACEC744-5975-4C66-8B94-18F60448BD0F}"/>
              </a:ext>
            </a:extLst>
          </p:cNvPr>
          <p:cNvSpPr/>
          <p:nvPr userDrawn="1"/>
        </p:nvSpPr>
        <p:spPr>
          <a:xfrm>
            <a:off x="299357" y="6459686"/>
            <a:ext cx="900411" cy="207615"/>
          </a:xfrm>
          <a:prstGeom prst="rect">
            <a:avLst/>
          </a:prstGeom>
        </p:spPr>
        <p:txBody>
          <a:bodyPr wrap="none" lIns="0" tIns="0" rIns="0" bIns="0">
            <a:noAutofit/>
          </a:bodyPr>
          <a:lstStyle/>
          <a:p>
            <a:pPr>
              <a:lnSpc>
                <a:spcPts val="1200"/>
              </a:lnSpc>
            </a:pPr>
            <a:fld id="{9DA6B11C-08A4-4714-94B2-B07C9C1922F9}" type="datetime1">
              <a:rPr lang="de-DE" sz="900" b="0" spc="20" baseline="0" smtClean="0">
                <a:solidFill>
                  <a:schemeClr val="bg1"/>
                </a:solidFill>
              </a:rPr>
              <a:t>16.04.2024</a:t>
            </a:fld>
            <a:endParaRPr lang="de-DE" sz="900" b="0" spc="20" baseline="0" dirty="0">
              <a:solidFill>
                <a:schemeClr val="bg1"/>
              </a:solidFill>
            </a:endParaRPr>
          </a:p>
        </p:txBody>
      </p:sp>
    </p:spTree>
    <p:extLst>
      <p:ext uri="{BB962C8B-B14F-4D97-AF65-F5344CB8AC3E}">
        <p14:creationId xmlns:p14="http://schemas.microsoft.com/office/powerpoint/2010/main" val="2587547491"/>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70" r:id="rId3"/>
    <p:sldLayoutId id="2147483669" r:id="rId4"/>
    <p:sldLayoutId id="2147483662" r:id="rId5"/>
    <p:sldLayoutId id="2147483664" r:id="rId6"/>
    <p:sldLayoutId id="2147483672" r:id="rId7"/>
    <p:sldLayoutId id="2147483668" r:id="rId8"/>
    <p:sldLayoutId id="2147483666" r:id="rId9"/>
    <p:sldLayoutId id="2147483667" r:id="rId10"/>
  </p:sldLayoutIdLst>
  <p:hf sldNum="0" hdr="0" ftr="0" dt="0"/>
  <p:txStyles>
    <p:titleStyle>
      <a:lvl1pPr algn="l" defTabSz="914400" rtl="0" eaLnBrk="1" latinLnBrk="0" hangingPunct="1">
        <a:lnSpc>
          <a:spcPct val="90000"/>
        </a:lnSpc>
        <a:spcBef>
          <a:spcPct val="0"/>
        </a:spcBef>
        <a:buNone/>
        <a:defRPr sz="2400" kern="1200" spc="50" baseline="0">
          <a:solidFill>
            <a:schemeClr val="tx2"/>
          </a:solidFill>
          <a:latin typeface="+mj-lt"/>
          <a:ea typeface="+mj-ea"/>
          <a:cs typeface="+mj-cs"/>
        </a:defRPr>
      </a:lvl1pPr>
    </p:titleStyle>
    <p:bodyStyle>
      <a:lvl1pPr marL="225425" indent="-225425" algn="l" defTabSz="914400" rtl="0" eaLnBrk="1" latinLnBrk="0" hangingPunct="1">
        <a:lnSpc>
          <a:spcPct val="110000"/>
        </a:lnSpc>
        <a:spcBef>
          <a:spcPts val="0"/>
        </a:spcBef>
        <a:spcAft>
          <a:spcPts val="1800"/>
        </a:spcAft>
        <a:buFont typeface="Arial" panose="020B0604020202020204" pitchFamily="34" charset="0"/>
        <a:buChar char="‒"/>
        <a:defRPr sz="1800" kern="1200" spc="30" baseline="0">
          <a:solidFill>
            <a:schemeClr val="tx1"/>
          </a:solidFill>
          <a:latin typeface="+mn-lt"/>
          <a:ea typeface="+mn-ea"/>
          <a:cs typeface="+mn-cs"/>
        </a:defRPr>
      </a:lvl1pPr>
      <a:lvl2pPr marL="628650" indent="-177800" algn="l" defTabSz="914400" rtl="0" eaLnBrk="1" latinLnBrk="0" hangingPunct="1">
        <a:lnSpc>
          <a:spcPct val="110000"/>
        </a:lnSpc>
        <a:spcBef>
          <a:spcPts val="0"/>
        </a:spcBef>
        <a:spcAft>
          <a:spcPts val="1800"/>
        </a:spcAft>
        <a:buFont typeface="Arial" panose="020B0604020202020204" pitchFamily="34" charset="0"/>
        <a:buChar char="‒"/>
        <a:defRPr sz="1800" kern="1200" spc="30" baseline="0">
          <a:solidFill>
            <a:schemeClr val="tx1"/>
          </a:solidFill>
          <a:latin typeface="+mn-lt"/>
          <a:ea typeface="+mn-ea"/>
          <a:cs typeface="+mn-cs"/>
        </a:defRPr>
      </a:lvl2pPr>
      <a:lvl3pPr marL="1079500" indent="-184150" algn="l" defTabSz="914400" rtl="0" eaLnBrk="1" latinLnBrk="0" hangingPunct="1">
        <a:lnSpc>
          <a:spcPct val="110000"/>
        </a:lnSpc>
        <a:spcBef>
          <a:spcPts val="0"/>
        </a:spcBef>
        <a:spcAft>
          <a:spcPts val="1800"/>
        </a:spcAft>
        <a:buFont typeface="Arial" panose="020B0604020202020204" pitchFamily="34" charset="0"/>
        <a:buChar char="‒"/>
        <a:defRPr sz="1800" kern="1200" spc="30" baseline="0">
          <a:solidFill>
            <a:schemeClr val="tx1"/>
          </a:solidFill>
          <a:latin typeface="+mn-lt"/>
          <a:ea typeface="+mn-ea"/>
          <a:cs typeface="+mn-cs"/>
        </a:defRPr>
      </a:lvl3pPr>
      <a:lvl4pPr marL="1524000" indent="-177800" algn="l" defTabSz="914400" rtl="0" eaLnBrk="1" latinLnBrk="0" hangingPunct="1">
        <a:lnSpc>
          <a:spcPct val="110000"/>
        </a:lnSpc>
        <a:spcBef>
          <a:spcPts val="0"/>
        </a:spcBef>
        <a:spcAft>
          <a:spcPts val="1800"/>
        </a:spcAft>
        <a:buFont typeface="Arial" panose="020B0604020202020204" pitchFamily="34" charset="0"/>
        <a:buChar char="‒"/>
        <a:defRPr sz="1800" kern="1200" spc="30" baseline="0">
          <a:solidFill>
            <a:schemeClr val="tx1"/>
          </a:solidFill>
          <a:latin typeface="+mn-lt"/>
          <a:ea typeface="+mn-ea"/>
          <a:cs typeface="+mn-cs"/>
        </a:defRPr>
      </a:lvl4pPr>
      <a:lvl5pPr marL="1974850" indent="-177800" algn="l" defTabSz="628650" rtl="0" eaLnBrk="1" latinLnBrk="0" hangingPunct="1">
        <a:lnSpc>
          <a:spcPct val="110000"/>
        </a:lnSpc>
        <a:spcBef>
          <a:spcPts val="0"/>
        </a:spcBef>
        <a:spcAft>
          <a:spcPts val="1800"/>
        </a:spcAft>
        <a:buFont typeface="Arial" panose="020B0604020202020204" pitchFamily="34" charset="0"/>
        <a:buChar char="‒"/>
        <a:defRPr sz="1800" kern="1200" spc="3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00" userDrawn="1">
          <p15:clr>
            <a:srgbClr val="F26B43"/>
          </p15:clr>
        </p15:guide>
        <p15:guide id="2" pos="6720" userDrawn="1">
          <p15:clr>
            <a:srgbClr val="F26B43"/>
          </p15:clr>
        </p15:guide>
        <p15:guide id="3" orient="horz" pos="981" userDrawn="1">
          <p15:clr>
            <a:srgbClr val="F26B43"/>
          </p15:clr>
        </p15:guide>
        <p15:guide id="4" orient="horz" pos="3884" userDrawn="1">
          <p15:clr>
            <a:srgbClr val="F26B43"/>
          </p15:clr>
        </p15:guide>
        <p15:guide id="5" pos="91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A2D7EF-B855-44BC-BBBF-9E54EB18F367}"/>
              </a:ext>
            </a:extLst>
          </p:cNvPr>
          <p:cNvSpPr>
            <a:spLocks noGrp="1"/>
          </p:cNvSpPr>
          <p:nvPr>
            <p:ph type="ctrTitle"/>
          </p:nvPr>
        </p:nvSpPr>
        <p:spPr/>
        <p:txBody>
          <a:bodyPr/>
          <a:lstStyle/>
          <a:p>
            <a:r>
              <a:rPr lang="nl-NL" dirty="0">
                <a:latin typeface="Times New Roman" panose="02020603050405020304" pitchFamily="18" charset="0"/>
                <a:cs typeface="Times New Roman" panose="02020603050405020304" pitchFamily="18" charset="0"/>
              </a:rPr>
              <a:t>Introduction into bioinformatics</a:t>
            </a:r>
            <a:endParaRPr lang="de-DE" i="1" dirty="0">
              <a:latin typeface="Times New Roman" panose="02020603050405020304" pitchFamily="18" charset="0"/>
              <a:cs typeface="Times New Roman" panose="02020603050405020304" pitchFamily="18" charset="0"/>
            </a:endParaRPr>
          </a:p>
        </p:txBody>
      </p:sp>
      <p:sp>
        <p:nvSpPr>
          <p:cNvPr id="3" name="Untertitel 2">
            <a:extLst>
              <a:ext uri="{FF2B5EF4-FFF2-40B4-BE49-F238E27FC236}">
                <a16:creationId xmlns:a16="http://schemas.microsoft.com/office/drawing/2014/main" id="{763B4205-E97E-4306-984B-C3F7660690C2}"/>
              </a:ext>
            </a:extLst>
          </p:cNvPr>
          <p:cNvSpPr>
            <a:spLocks noGrp="1"/>
          </p:cNvSpPr>
          <p:nvPr>
            <p:ph type="subTitle" idx="1"/>
          </p:nvPr>
        </p:nvSpPr>
        <p:spPr/>
        <p:txBody>
          <a:bodyPr/>
          <a:lstStyle/>
          <a:p>
            <a:r>
              <a:rPr lang="de-DE" dirty="0">
                <a:latin typeface="Times New Roman" panose="02020603050405020304" pitchFamily="18" charset="0"/>
                <a:cs typeface="Times New Roman" panose="02020603050405020304" pitchFamily="18" charset="0"/>
              </a:rPr>
              <a:t>Day 1- Central </a:t>
            </a:r>
            <a:r>
              <a:rPr lang="de-DE" dirty="0" err="1">
                <a:latin typeface="Times New Roman" panose="02020603050405020304" pitchFamily="18" charset="0"/>
                <a:cs typeface="Times New Roman" panose="02020603050405020304" pitchFamily="18" charset="0"/>
              </a:rPr>
              <a:t>dogma</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molecular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biologie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history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bioinformatics</a:t>
            </a:r>
            <a:r>
              <a:rPr lang="de-DE" dirty="0">
                <a:latin typeface="Times New Roman" panose="02020603050405020304" pitchFamily="18" charset="0"/>
                <a:cs typeface="Times New Roman" panose="02020603050405020304" pitchFamily="18" charset="0"/>
              </a:rPr>
              <a:t> and </a:t>
            </a:r>
            <a:r>
              <a:rPr lang="de-DE" dirty="0" err="1">
                <a:latin typeface="Times New Roman" panose="02020603050405020304" pitchFamily="18" charset="0"/>
                <a:cs typeface="Times New Roman" panose="02020603050405020304" pitchFamily="18" charset="0"/>
              </a:rPr>
              <a:t>command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line</a:t>
            </a:r>
            <a:r>
              <a:rPr lang="de-DE" dirty="0">
                <a:latin typeface="Times New Roman" panose="02020603050405020304" pitchFamily="18" charset="0"/>
                <a:cs typeface="Times New Roman" panose="02020603050405020304" pitchFamily="18" charset="0"/>
              </a:rPr>
              <a:t> interface</a:t>
            </a:r>
          </a:p>
        </p:txBody>
      </p:sp>
      <p:pic>
        <p:nvPicPr>
          <p:cNvPr id="17" name="Bildplatzhalter 16" descr="Ein Bild, das Text, Screenshot, Wasser, Türkis enthält.&#10;&#10;Automatisch generierte Beschreibung">
            <a:extLst>
              <a:ext uri="{FF2B5EF4-FFF2-40B4-BE49-F238E27FC236}">
                <a16:creationId xmlns:a16="http://schemas.microsoft.com/office/drawing/2014/main" id="{2C076DC6-70D1-5A74-0A53-94188A88C81E}"/>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17934" r="17934"/>
          <a:stretch>
            <a:fillRect/>
          </a:stretch>
        </p:blipFill>
        <p:spPr/>
      </p:pic>
    </p:spTree>
    <p:extLst>
      <p:ext uri="{BB962C8B-B14F-4D97-AF65-F5344CB8AC3E}">
        <p14:creationId xmlns:p14="http://schemas.microsoft.com/office/powerpoint/2010/main" val="4084680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err="1">
                <a:latin typeface="Times New Roman" panose="02020603050405020304" pitchFamily="18" charset="0"/>
                <a:cs typeface="Times New Roman" panose="02020603050405020304" pitchFamily="18" charset="0"/>
              </a:rPr>
              <a:t>What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does</a:t>
            </a:r>
            <a:r>
              <a:rPr lang="de-DE" dirty="0">
                <a:latin typeface="Times New Roman" panose="02020603050405020304" pitchFamily="18" charset="0"/>
                <a:cs typeface="Times New Roman" panose="02020603050405020304" pitchFamily="18" charset="0"/>
              </a:rPr>
              <a:t> a </a:t>
            </a:r>
            <a:r>
              <a:rPr lang="de-DE" dirty="0" err="1">
                <a:latin typeface="Times New Roman" panose="02020603050405020304" pitchFamily="18" charset="0"/>
                <a:cs typeface="Times New Roman" panose="02020603050405020304" pitchFamily="18" charset="0"/>
              </a:rPr>
              <a:t>bioinformatician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actually</a:t>
            </a:r>
            <a:r>
              <a:rPr lang="de-DE" dirty="0">
                <a:latin typeface="Times New Roman" panose="02020603050405020304" pitchFamily="18" charset="0"/>
                <a:cs typeface="Times New Roman" panose="02020603050405020304" pitchFamily="18" charset="0"/>
              </a:rPr>
              <a:t> do?</a:t>
            </a: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8928794" cy="4608513"/>
          </a:xfrm>
        </p:spPr>
        <p:txBody>
          <a:bodyPr/>
          <a:lstStyle/>
          <a:p>
            <a:pPr algn="l">
              <a:lnSpc>
                <a:spcPct val="110000"/>
              </a:lnSpc>
              <a:buFont typeface="Courier New" panose="02070309020205020404" pitchFamily="49" charset="0"/>
              <a:buChar char="o"/>
            </a:pPr>
            <a:r>
              <a:rPr lang="de-DE" spc="30" dirty="0" err="1">
                <a:latin typeface="Times New Roman" panose="02020603050405020304" pitchFamily="18" charset="0"/>
                <a:cs typeface="Times New Roman" panose="02020603050405020304" pitchFamily="18" charset="0"/>
              </a:rPr>
              <a:t>Bioinformaticians</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are</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rarely</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programming</a:t>
            </a:r>
            <a:r>
              <a:rPr lang="de-DE" spc="30" dirty="0">
                <a:latin typeface="Times New Roman" panose="02020603050405020304" pitchFamily="18" charset="0"/>
                <a:cs typeface="Times New Roman" panose="02020603050405020304" pitchFamily="18" charset="0"/>
              </a:rPr>
              <a:t>/</a:t>
            </a:r>
            <a:r>
              <a:rPr lang="de-DE" spc="30" dirty="0" err="1">
                <a:latin typeface="Times New Roman" panose="02020603050405020304" pitchFamily="18" charset="0"/>
                <a:cs typeface="Times New Roman" panose="02020603050405020304" pitchFamily="18" charset="0"/>
              </a:rPr>
              <a:t>coding</a:t>
            </a:r>
            <a:r>
              <a:rPr lang="de-DE" spc="30" dirty="0">
                <a:latin typeface="Times New Roman" panose="02020603050405020304" pitchFamily="18" charset="0"/>
                <a:cs typeface="Times New Roman" panose="02020603050405020304" pitchFamily="18" charset="0"/>
              </a:rPr>
              <a:t>.</a:t>
            </a:r>
          </a:p>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Most </a:t>
            </a:r>
            <a:r>
              <a:rPr lang="de-DE" dirty="0" err="1">
                <a:latin typeface="Times New Roman" panose="02020603050405020304" pitchFamily="18" charset="0"/>
                <a:cs typeface="Times New Roman" panose="02020603050405020304" pitchFamily="18" charset="0"/>
              </a:rPr>
              <a:t>bioinformaticians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are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either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biologists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embedded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into</a:t>
            </a:r>
            <a:r>
              <a:rPr lang="de-DE" dirty="0">
                <a:latin typeface="Times New Roman" panose="02020603050405020304" pitchFamily="18" charset="0"/>
                <a:cs typeface="Times New Roman" panose="02020603050405020304" pitchFamily="18" charset="0"/>
              </a:rPr>
              <a:t> a </a:t>
            </a:r>
            <a:r>
              <a:rPr lang="de-DE" dirty="0" err="1">
                <a:latin typeface="Times New Roman" panose="02020603050405020304" pitchFamily="18" charset="0"/>
                <a:cs typeface="Times New Roman" panose="02020603050405020304" pitchFamily="18" charset="0"/>
              </a:rPr>
              <a:t>life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science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working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group</a:t>
            </a:r>
            <a:r>
              <a:rPr lang="de-DE" dirty="0">
                <a:latin typeface="Times New Roman" panose="02020603050405020304" pitchFamily="18" charset="0"/>
                <a:cs typeface="Times New Roman" panose="02020603050405020304" pitchFamily="18" charset="0"/>
              </a:rPr>
              <a:t>.</a:t>
            </a:r>
          </a:p>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Many </a:t>
            </a:r>
            <a:r>
              <a:rPr lang="de-DE" dirty="0" err="1">
                <a:latin typeface="Times New Roman" panose="02020603050405020304" pitchFamily="18" charset="0"/>
                <a:cs typeface="Times New Roman" panose="02020603050405020304" pitchFamily="18" charset="0"/>
              </a:rPr>
              <a:t>molecular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biologists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know</a:t>
            </a:r>
            <a:r>
              <a:rPr lang="de-DE" dirty="0">
                <a:latin typeface="Times New Roman" panose="02020603050405020304" pitchFamily="18" charset="0"/>
                <a:cs typeface="Times New Roman" panose="02020603050405020304" pitchFamily="18" charset="0"/>
              </a:rPr>
              <a:t> a </a:t>
            </a:r>
            <a:r>
              <a:rPr lang="de-DE" dirty="0" err="1">
                <a:latin typeface="Times New Roman" panose="02020603050405020304" pitchFamily="18" charset="0"/>
                <a:cs typeface="Times New Roman" panose="02020603050405020304" pitchFamily="18" charset="0"/>
              </a:rPr>
              <a:t>lot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about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wetlab</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techniques</a:t>
            </a:r>
            <a:r>
              <a:rPr lang="de-DE" dirty="0">
                <a:latin typeface="Times New Roman" panose="02020603050405020304" pitchFamily="18" charset="0"/>
                <a:cs typeface="Times New Roman" panose="02020603050405020304" pitchFamily="18" charset="0"/>
              </a:rPr>
              <a:t> and </a:t>
            </a:r>
            <a:r>
              <a:rPr lang="de-DE" dirty="0" err="1">
                <a:latin typeface="Times New Roman" panose="02020603050405020304" pitchFamily="18" charset="0"/>
                <a:cs typeface="Times New Roman" panose="02020603050405020304" pitchFamily="18" charset="0"/>
              </a:rPr>
              <a:t>their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organisms</a:t>
            </a:r>
            <a:r>
              <a:rPr lang="de-DE" dirty="0">
                <a:latin typeface="Times New Roman" panose="02020603050405020304" pitchFamily="18" charset="0"/>
                <a:cs typeface="Times New Roman" panose="02020603050405020304" pitchFamily="18" charset="0"/>
              </a:rPr>
              <a:t>, but </a:t>
            </a:r>
            <a:r>
              <a:rPr lang="de-DE" dirty="0" err="1">
                <a:latin typeface="Times New Roman" panose="02020603050405020304" pitchFamily="18" charset="0"/>
                <a:cs typeface="Times New Roman" panose="02020603050405020304" pitchFamily="18" charset="0"/>
              </a:rPr>
              <a:t>missing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knowledge</a:t>
            </a:r>
            <a:r>
              <a:rPr lang="de-DE" dirty="0">
                <a:latin typeface="Times New Roman" panose="02020603050405020304" pitchFamily="18" charset="0"/>
                <a:cs typeface="Times New Roman" panose="02020603050405020304" pitchFamily="18" charset="0"/>
              </a:rPr>
              <a:t> in </a:t>
            </a:r>
            <a:r>
              <a:rPr lang="de-DE" dirty="0" err="1">
                <a:latin typeface="Times New Roman" panose="02020603050405020304" pitchFamily="18" charset="0"/>
                <a:cs typeface="Times New Roman" panose="02020603050405020304" pitchFamily="18" charset="0"/>
              </a:rPr>
              <a:t>actual</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data</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handling</a:t>
            </a: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A </a:t>
            </a:r>
            <a:r>
              <a:rPr lang="de-DE" dirty="0" err="1">
                <a:latin typeface="Times New Roman" panose="02020603050405020304" pitchFamily="18" charset="0"/>
                <a:cs typeface="Times New Roman" panose="02020603050405020304" pitchFamily="18" charset="0"/>
              </a:rPr>
              <a:t>Bioinformatician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uses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computer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science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tools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answer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biological</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questions</a:t>
            </a:r>
            <a:r>
              <a:rPr lang="de-DE" dirty="0">
                <a:latin typeface="Times New Roman" panose="02020603050405020304" pitchFamily="18" charset="0"/>
                <a:cs typeface="Times New Roman" panose="02020603050405020304" pitchFamily="18" charset="0"/>
              </a:rPr>
              <a:t>!</a:t>
            </a:r>
          </a:p>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The </a:t>
            </a:r>
            <a:r>
              <a:rPr lang="de-DE" dirty="0" err="1">
                <a:latin typeface="Times New Roman" panose="02020603050405020304" pitchFamily="18" charset="0"/>
                <a:cs typeface="Times New Roman" panose="02020603050405020304" pitchFamily="18" charset="0"/>
              </a:rPr>
              <a:t>field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is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growing</a:t>
            </a:r>
            <a:r>
              <a:rPr lang="de-DE" dirty="0">
                <a:latin typeface="Times New Roman" panose="02020603050405020304" pitchFamily="18" charset="0"/>
                <a:cs typeface="Times New Roman" panose="02020603050405020304" pitchFamily="18" charset="0"/>
              </a:rPr>
              <a:t> fast due </a:t>
            </a:r>
            <a:r>
              <a:rPr lang="de-DE" dirty="0" err="1">
                <a:latin typeface="Times New Roman" panose="02020603050405020304" pitchFamily="18" charset="0"/>
                <a:cs typeface="Times New Roman" panose="02020603050405020304" pitchFamily="18" charset="0"/>
              </a:rPr>
              <a:t>to</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avaiablity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cheaper</a:t>
            </a:r>
            <a:r>
              <a:rPr lang="de-DE" dirty="0">
                <a:latin typeface="Times New Roman" panose="02020603050405020304" pitchFamily="18" charset="0"/>
                <a:cs typeface="Times New Roman" panose="02020603050405020304" pitchFamily="18" charset="0"/>
              </a:rPr>
              <a:t> DNA/RNA </a:t>
            </a:r>
            <a:r>
              <a:rPr lang="de-DE" dirty="0" err="1">
                <a:latin typeface="Times New Roman" panose="02020603050405020304" pitchFamily="18" charset="0"/>
                <a:cs typeface="Times New Roman" panose="02020603050405020304" pitchFamily="18" charset="0"/>
              </a:rPr>
              <a:t>sequencing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techniques</a:t>
            </a:r>
            <a:r>
              <a:rPr lang="de-DE" dirty="0">
                <a:latin typeface="Times New Roman" panose="02020603050405020304" pitchFamily="18" charset="0"/>
                <a:cs typeface="Times New Roman" panose="02020603050405020304" pitchFamily="18" charset="0"/>
              </a:rPr>
              <a:t>.</a:t>
            </a: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r>
              <a:rPr lang="de-DE" b="1" dirty="0" err="1">
                <a:latin typeface="Times New Roman" panose="02020603050405020304" pitchFamily="18" charset="0"/>
                <a:cs typeface="Times New Roman" panose="02020603050405020304" pitchFamily="18" charset="0"/>
              </a:rPr>
              <a:t>What</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are</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your</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experiences</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with</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bioinformatics</a:t>
            </a:r>
            <a:r>
              <a:rPr lang="de-DE" b="1" dirty="0">
                <a:latin typeface="Times New Roman" panose="02020603050405020304" pitchFamily="18" charset="0"/>
                <a:cs typeface="Times New Roman" panose="02020603050405020304" pitchFamily="18" charset="0"/>
              </a:rPr>
              <a:t>?</a:t>
            </a: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960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A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history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computing</a:t>
            </a:r>
            <a:endParaRPr lang="de-DE"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8928794" cy="4608513"/>
          </a:xfrm>
        </p:spPr>
        <p:txBody>
          <a:bodyPr/>
          <a:lstStyle/>
          <a:p>
            <a:pPr algn="l">
              <a:lnSpc>
                <a:spcPct val="110000"/>
              </a:lnSpc>
              <a:buFont typeface="Courier New" panose="02070309020205020404" pitchFamily="49" charset="0"/>
              <a:buChar char="o"/>
            </a:pPr>
            <a:r>
              <a:rPr lang="de-DE" spc="30" dirty="0">
                <a:latin typeface="Times New Roman" panose="02020603050405020304" pitchFamily="18" charset="0"/>
                <a:cs typeface="Times New Roman" panose="02020603050405020304" pitchFamily="18" charset="0"/>
              </a:rPr>
              <a:t>Charles Babbage</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1791-1871</a:t>
            </a:r>
            <a:endParaRPr lang="de-DE" spc="30"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Invented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the</a:t>
            </a:r>
            <a:r>
              <a:rPr lang="de-DE" dirty="0">
                <a:latin typeface="Times New Roman" panose="02020603050405020304" pitchFamily="18" charset="0"/>
                <a:cs typeface="Times New Roman" panose="02020603050405020304" pitchFamily="18" charset="0"/>
              </a:rPr>
              <a:t> Analytical Engine</a:t>
            </a: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Solving</a:t>
            </a:r>
            <a:r>
              <a:rPr lang="de-DE" dirty="0">
                <a:latin typeface="Times New Roman" panose="02020603050405020304" pitchFamily="18" charset="0"/>
                <a:cs typeface="Times New Roman" panose="02020603050405020304" pitchFamily="18" charset="0"/>
              </a:rPr>
              <a:t> linear </a:t>
            </a:r>
            <a:r>
              <a:rPr lang="de-DE" dirty="0" err="1">
                <a:latin typeface="Times New Roman" panose="02020603050405020304" pitchFamily="18" charset="0"/>
                <a:cs typeface="Times New Roman" panose="02020603050405020304" pitchFamily="18" charset="0"/>
              </a:rPr>
              <a:t>equations</a:t>
            </a: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5" name="Grafik 4" descr="Ein Bild, das Menschliches Gesicht, Porträt, Handschrift, Mann enthält.&#10;&#10;Automatisch generierte Beschreibung">
            <a:extLst>
              <a:ext uri="{FF2B5EF4-FFF2-40B4-BE49-F238E27FC236}">
                <a16:creationId xmlns:a16="http://schemas.microsoft.com/office/drawing/2014/main" id="{5FD9235D-35B2-3EE1-9BEA-ACD5CF2F3F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2356" y="251725"/>
            <a:ext cx="2160240" cy="2855910"/>
          </a:xfrm>
          <a:prstGeom prst="rect">
            <a:avLst/>
          </a:prstGeom>
          <a:ln w="25400">
            <a:solidFill>
              <a:schemeClr val="accent1"/>
            </a:solidFill>
          </a:ln>
        </p:spPr>
      </p:pic>
      <p:pic>
        <p:nvPicPr>
          <p:cNvPr id="7" name="Grafik 6" descr="Ein Bild, das Bautechnik, Maschine, Metall, Im Haus enthält.&#10;&#10;Automatisch generierte Beschreibung">
            <a:extLst>
              <a:ext uri="{FF2B5EF4-FFF2-40B4-BE49-F238E27FC236}">
                <a16:creationId xmlns:a16="http://schemas.microsoft.com/office/drawing/2014/main" id="{A7A3E34D-6571-B017-B337-88ADF3B170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2596" y="3245300"/>
            <a:ext cx="3810000" cy="2980944"/>
          </a:xfrm>
          <a:prstGeom prst="rect">
            <a:avLst/>
          </a:prstGeom>
          <a:ln w="25400">
            <a:solidFill>
              <a:schemeClr val="accent1"/>
            </a:solidFill>
          </a:ln>
        </p:spPr>
      </p:pic>
    </p:spTree>
    <p:extLst>
      <p:ext uri="{BB962C8B-B14F-4D97-AF65-F5344CB8AC3E}">
        <p14:creationId xmlns:p14="http://schemas.microsoft.com/office/powerpoint/2010/main" val="139150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A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history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computing</a:t>
            </a:r>
            <a:endParaRPr lang="de-DE"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8928794" cy="4608513"/>
          </a:xfrm>
        </p:spPr>
        <p:txBody>
          <a:bodyPr/>
          <a:lstStyle/>
          <a:p>
            <a:pPr algn="l">
              <a:lnSpc>
                <a:spcPct val="110000"/>
              </a:lnSpc>
              <a:buFont typeface="Courier New" panose="02070309020205020404" pitchFamily="49" charset="0"/>
              <a:buChar char="o"/>
            </a:pPr>
            <a:r>
              <a:rPr lang="de-DE" spc="30" dirty="0">
                <a:latin typeface="Times New Roman" panose="02020603050405020304" pitchFamily="18" charset="0"/>
                <a:cs typeface="Times New Roman" panose="02020603050405020304" pitchFamily="18" charset="0"/>
              </a:rPr>
              <a:t>Charles Babbage</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1791-1871</a:t>
            </a:r>
            <a:endParaRPr lang="de-DE" spc="30"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Invented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the</a:t>
            </a:r>
            <a:r>
              <a:rPr lang="de-DE" dirty="0">
                <a:latin typeface="Times New Roman" panose="02020603050405020304" pitchFamily="18" charset="0"/>
                <a:cs typeface="Times New Roman" panose="02020603050405020304" pitchFamily="18" charset="0"/>
              </a:rPr>
              <a:t> Analytical Engine</a:t>
            </a: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Solving</a:t>
            </a:r>
            <a:r>
              <a:rPr lang="de-DE" dirty="0">
                <a:latin typeface="Times New Roman" panose="02020603050405020304" pitchFamily="18" charset="0"/>
                <a:cs typeface="Times New Roman" panose="02020603050405020304" pitchFamily="18" charset="0"/>
              </a:rPr>
              <a:t> linear </a:t>
            </a:r>
            <a:r>
              <a:rPr lang="de-DE" dirty="0" err="1">
                <a:latin typeface="Times New Roman" panose="02020603050405020304" pitchFamily="18" charset="0"/>
                <a:cs typeface="Times New Roman" panose="02020603050405020304" pitchFamily="18" charset="0"/>
              </a:rPr>
              <a:t>equations</a:t>
            </a:r>
            <a:endParaRPr lang="de-DE"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Ada Lovelace </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1815-1852</a:t>
            </a: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Wrote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the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first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algorithm</a:t>
            </a: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Worked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together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with</a:t>
            </a:r>
            <a:r>
              <a:rPr lang="de-DE" dirty="0">
                <a:latin typeface="Times New Roman" panose="02020603050405020304" pitchFamily="18" charset="0"/>
                <a:cs typeface="Times New Roman" panose="02020603050405020304" pitchFamily="18" charset="0"/>
              </a:rPr>
              <a:t> Charles Babbage</a:t>
            </a: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6" name="Grafik 5" descr="Ein Bild, das Menschliches Gesicht, Bild, Entwurf, Frau enthält.&#10;&#10;Automatisch generierte Beschreibung">
            <a:extLst>
              <a:ext uri="{FF2B5EF4-FFF2-40B4-BE49-F238E27FC236}">
                <a16:creationId xmlns:a16="http://schemas.microsoft.com/office/drawing/2014/main" id="{B405E1EB-8692-A72F-7203-B6486CE08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4192" y="2088232"/>
            <a:ext cx="2926221" cy="3645024"/>
          </a:xfrm>
          <a:prstGeom prst="rect">
            <a:avLst/>
          </a:prstGeom>
          <a:ln w="25400">
            <a:solidFill>
              <a:schemeClr val="accent1"/>
            </a:solidFill>
          </a:ln>
        </p:spPr>
      </p:pic>
    </p:spTree>
    <p:extLst>
      <p:ext uri="{BB962C8B-B14F-4D97-AF65-F5344CB8AC3E}">
        <p14:creationId xmlns:p14="http://schemas.microsoft.com/office/powerpoint/2010/main" val="411637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A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history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computing</a:t>
            </a:r>
            <a:endParaRPr lang="de-DE"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8928794" cy="4608513"/>
          </a:xfrm>
        </p:spPr>
        <p:txBody>
          <a:bodyPr/>
          <a:lstStyle/>
          <a:p>
            <a:pPr algn="l">
              <a:lnSpc>
                <a:spcPct val="110000"/>
              </a:lnSpc>
              <a:buFont typeface="Courier New" panose="02070309020205020404" pitchFamily="49" charset="0"/>
              <a:buChar char="o"/>
            </a:pPr>
            <a:r>
              <a:rPr lang="de-DE" spc="30" dirty="0">
                <a:latin typeface="Times New Roman" panose="02020603050405020304" pitchFamily="18" charset="0"/>
                <a:cs typeface="Times New Roman" panose="02020603050405020304" pitchFamily="18" charset="0"/>
              </a:rPr>
              <a:t>Alan Turing</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1912-1954</a:t>
            </a: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Theoretical</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foundations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modern </a:t>
            </a:r>
            <a:r>
              <a:rPr lang="de-DE" dirty="0" err="1">
                <a:latin typeface="Times New Roman" panose="02020603050405020304" pitchFamily="18" charset="0"/>
                <a:cs typeface="Times New Roman" panose="02020603050405020304" pitchFamily="18" charset="0"/>
              </a:rPr>
              <a:t>computer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sciences</a:t>
            </a:r>
            <a:r>
              <a:rPr lang="de-DE" dirty="0">
                <a:latin typeface="Times New Roman" panose="02020603050405020304" pitchFamily="18" charset="0"/>
                <a:cs typeface="Times New Roman" panose="02020603050405020304" pitchFamily="18" charset="0"/>
              </a:rPr>
              <a:t>.</a:t>
            </a:r>
          </a:p>
          <a:p>
            <a:pPr lvl="1">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5" name="Grafik 4" descr="Ein Bild, das Person, Kleidung, Menschliches Gesicht, Porträt enthält.&#10;&#10;Automatisch generierte Beschreibung">
            <a:extLst>
              <a:ext uri="{FF2B5EF4-FFF2-40B4-BE49-F238E27FC236}">
                <a16:creationId xmlns:a16="http://schemas.microsoft.com/office/drawing/2014/main" id="{9162DD31-9992-3635-AFAD-39D89C6D1F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6280" y="260648"/>
            <a:ext cx="2498718" cy="3063428"/>
          </a:xfrm>
          <a:prstGeom prst="rect">
            <a:avLst/>
          </a:prstGeom>
          <a:ln w="25400">
            <a:solidFill>
              <a:schemeClr val="accent1">
                <a:alpha val="98000"/>
              </a:schemeClr>
            </a:solidFill>
          </a:ln>
        </p:spPr>
      </p:pic>
      <p:pic>
        <p:nvPicPr>
          <p:cNvPr id="8" name="Grafik 7" descr="Ein Bild, das Schreibmaschine, Büroausstattung, Text, Im Haus enthält.&#10;&#10;Automatisch generierte Beschreibung">
            <a:extLst>
              <a:ext uri="{FF2B5EF4-FFF2-40B4-BE49-F238E27FC236}">
                <a16:creationId xmlns:a16="http://schemas.microsoft.com/office/drawing/2014/main" id="{0C6C269B-187D-72C5-69A4-DDAAF5CF59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680" y="2852936"/>
            <a:ext cx="2016224" cy="2936966"/>
          </a:xfrm>
          <a:prstGeom prst="rect">
            <a:avLst/>
          </a:prstGeom>
          <a:solidFill>
            <a:schemeClr val="bg2">
              <a:lumMod val="40000"/>
              <a:lumOff val="60000"/>
            </a:schemeClr>
          </a:solidFill>
          <a:ln w="25400">
            <a:solidFill>
              <a:schemeClr val="accent1"/>
            </a:solidFill>
          </a:ln>
        </p:spPr>
      </p:pic>
      <p:pic>
        <p:nvPicPr>
          <p:cNvPr id="10" name="Grafik 9" descr="Ein Bild, das Text, Kreuzworträtsel, Kalender enthält.&#10;&#10;Automatisch generierte Beschreibung">
            <a:extLst>
              <a:ext uri="{FF2B5EF4-FFF2-40B4-BE49-F238E27FC236}">
                <a16:creationId xmlns:a16="http://schemas.microsoft.com/office/drawing/2014/main" id="{EC1D550D-16D3-12FD-6140-CCB45FE96E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1984" y="2705990"/>
            <a:ext cx="2348282" cy="3230858"/>
          </a:xfrm>
          <a:prstGeom prst="rect">
            <a:avLst/>
          </a:prstGeom>
          <a:ln w="25400">
            <a:solidFill>
              <a:schemeClr val="accent1"/>
            </a:solidFill>
          </a:ln>
        </p:spPr>
      </p:pic>
    </p:spTree>
    <p:extLst>
      <p:ext uri="{BB962C8B-B14F-4D97-AF65-F5344CB8AC3E}">
        <p14:creationId xmlns:p14="http://schemas.microsoft.com/office/powerpoint/2010/main" val="303661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A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history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computing</a:t>
            </a:r>
            <a:endParaRPr lang="de-DE"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8928794" cy="4608513"/>
          </a:xfrm>
        </p:spPr>
        <p:txBody>
          <a:bodyPr/>
          <a:lstStyle/>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Konrad Zuse</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1910-1995</a:t>
            </a: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Invented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the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first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programmable</a:t>
            </a:r>
            <a:r>
              <a:rPr lang="de-DE" dirty="0">
                <a:latin typeface="Times New Roman" panose="02020603050405020304" pitchFamily="18" charset="0"/>
                <a:cs typeface="Times New Roman" panose="02020603050405020304" pitchFamily="18" charset="0"/>
              </a:rPr>
              <a:t> digital </a:t>
            </a:r>
            <a:r>
              <a:rPr lang="de-DE" dirty="0" err="1">
                <a:latin typeface="Times New Roman" panose="02020603050405020304" pitchFamily="18" charset="0"/>
                <a:cs typeface="Times New Roman" panose="02020603050405020304" pitchFamily="18" charset="0"/>
              </a:rPr>
              <a:t>computer</a:t>
            </a: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6" name="Grafik 5" descr="Ein Bild, das Person, Menschliches Gesicht, Kleidung, Krawatte enthält.&#10;&#10;Automatisch generierte Beschreibung">
            <a:extLst>
              <a:ext uri="{FF2B5EF4-FFF2-40B4-BE49-F238E27FC236}">
                <a16:creationId xmlns:a16="http://schemas.microsoft.com/office/drawing/2014/main" id="{D2BF3446-9A74-E195-C399-6A0A27C9FF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4272" y="404664"/>
            <a:ext cx="2571936" cy="3429248"/>
          </a:xfrm>
          <a:prstGeom prst="rect">
            <a:avLst/>
          </a:prstGeom>
          <a:ln w="25400">
            <a:solidFill>
              <a:schemeClr val="accent1"/>
            </a:solidFill>
          </a:ln>
        </p:spPr>
      </p:pic>
      <p:pic>
        <p:nvPicPr>
          <p:cNvPr id="9" name="Grafik 8" descr="Ein Bild, das Elektronik, Computerhardware, Text, Computer enthält.&#10;&#10;Automatisch generierte Beschreibung">
            <a:extLst>
              <a:ext uri="{FF2B5EF4-FFF2-40B4-BE49-F238E27FC236}">
                <a16:creationId xmlns:a16="http://schemas.microsoft.com/office/drawing/2014/main" id="{ACC6BD6A-EE70-DC38-7060-80EFE14D60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5720" y="2780928"/>
            <a:ext cx="3988048" cy="2763148"/>
          </a:xfrm>
          <a:prstGeom prst="rect">
            <a:avLst/>
          </a:prstGeom>
          <a:ln w="25400">
            <a:solidFill>
              <a:schemeClr val="accent1"/>
            </a:solidFill>
          </a:ln>
        </p:spPr>
      </p:pic>
    </p:spTree>
    <p:extLst>
      <p:ext uri="{BB962C8B-B14F-4D97-AF65-F5344CB8AC3E}">
        <p14:creationId xmlns:p14="http://schemas.microsoft.com/office/powerpoint/2010/main" val="100027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A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history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computing</a:t>
            </a:r>
            <a:endParaRPr lang="de-DE"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8928794" cy="4608513"/>
          </a:xfrm>
        </p:spPr>
        <p:txBody>
          <a:bodyPr/>
          <a:lstStyle/>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John von Neumann</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1903-1957</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1945: Invention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modern </a:t>
            </a:r>
            <a:r>
              <a:rPr lang="de-DE" dirty="0" err="1">
                <a:latin typeface="Times New Roman" panose="02020603050405020304" pitchFamily="18" charset="0"/>
                <a:cs typeface="Times New Roman" panose="02020603050405020304" pitchFamily="18" charset="0"/>
              </a:rPr>
              <a:t>computers</a:t>
            </a: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ALL modern Computers </a:t>
            </a:r>
            <a:r>
              <a:rPr lang="de-DE" dirty="0" err="1">
                <a:latin typeface="Times New Roman" panose="02020603050405020304" pitchFamily="18" charset="0"/>
                <a:cs typeface="Times New Roman" panose="02020603050405020304" pitchFamily="18" charset="0"/>
              </a:rPr>
              <a:t>are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basically</a:t>
            </a:r>
            <a:r>
              <a:rPr lang="de-DE" dirty="0">
                <a:latin typeface="Times New Roman" panose="02020603050405020304" pitchFamily="18" charset="0"/>
                <a:cs typeface="Times New Roman" panose="02020603050405020304" pitchFamily="18" charset="0"/>
              </a:rPr>
              <a:t> von Neumann </a:t>
            </a:r>
            <a:r>
              <a:rPr lang="de-DE" dirty="0" err="1">
                <a:latin typeface="Times New Roman" panose="02020603050405020304" pitchFamily="18" charset="0"/>
                <a:cs typeface="Times New Roman" panose="02020603050405020304" pitchFamily="18" charset="0"/>
              </a:rPr>
              <a:t>machines</a:t>
            </a: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5" name="Grafik 4" descr="Ein Bild, das Menschliches Gesicht, Person, Kleidung, Porträt enthält.&#10;&#10;Automatisch generierte Beschreibung">
            <a:extLst>
              <a:ext uri="{FF2B5EF4-FFF2-40B4-BE49-F238E27FC236}">
                <a16:creationId xmlns:a16="http://schemas.microsoft.com/office/drawing/2014/main" id="{432F489D-867D-69F0-0FF5-95FEFDA74D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2304" y="235838"/>
            <a:ext cx="2448272" cy="3538505"/>
          </a:xfrm>
          <a:prstGeom prst="rect">
            <a:avLst/>
          </a:prstGeom>
          <a:solidFill>
            <a:schemeClr val="bg2">
              <a:lumMod val="40000"/>
              <a:lumOff val="60000"/>
            </a:schemeClr>
          </a:solidFill>
          <a:ln w="25400">
            <a:solidFill>
              <a:schemeClr val="accent1"/>
            </a:solidFill>
          </a:ln>
        </p:spPr>
      </p:pic>
      <p:pic>
        <p:nvPicPr>
          <p:cNvPr id="8" name="Grafik 7">
            <a:extLst>
              <a:ext uri="{FF2B5EF4-FFF2-40B4-BE49-F238E27FC236}">
                <a16:creationId xmlns:a16="http://schemas.microsoft.com/office/drawing/2014/main" id="{0DA5BE65-3BB6-F1C3-3837-07660A8260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43672" y="3212976"/>
            <a:ext cx="4857750" cy="2809875"/>
          </a:xfrm>
          <a:prstGeom prst="rect">
            <a:avLst/>
          </a:prstGeom>
        </p:spPr>
      </p:pic>
    </p:spTree>
    <p:extLst>
      <p:ext uri="{BB962C8B-B14F-4D97-AF65-F5344CB8AC3E}">
        <p14:creationId xmlns:p14="http://schemas.microsoft.com/office/powerpoint/2010/main" val="156818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A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history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DNA-</a:t>
            </a:r>
            <a:r>
              <a:rPr lang="de-DE" dirty="0" err="1">
                <a:latin typeface="Times New Roman" panose="02020603050405020304" pitchFamily="18" charset="0"/>
                <a:cs typeface="Times New Roman" panose="02020603050405020304" pitchFamily="18" charset="0"/>
              </a:rPr>
              <a:t>sequencing</a:t>
            </a:r>
            <a:endParaRPr lang="de-DE"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8928794" cy="4608513"/>
          </a:xfrm>
        </p:spPr>
        <p:txBody>
          <a:bodyPr/>
          <a:lstStyle/>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Watson, Crick, Wilkins, Franklin</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1953: Discovery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DNA Double Helix</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1962: Nobel Prize</a:t>
            </a: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993377F3-BC63-291A-2A49-E918BB0516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746" y="3645024"/>
            <a:ext cx="7776864" cy="2416093"/>
          </a:xfrm>
          <a:prstGeom prst="rect">
            <a:avLst/>
          </a:prstGeom>
          <a:noFill/>
          <a:ln w="25400">
            <a:solidFill>
              <a:schemeClr val="accent1"/>
            </a:solidFill>
          </a:ln>
          <a:extLst>
            <a:ext uri="{909E8E84-426E-40DD-AFC4-6F175D3DCCD1}">
              <a14:hiddenFill xmlns:a14="http://schemas.microsoft.com/office/drawing/2010/main">
                <a:solidFill>
                  <a:srgbClr val="FFFFFF"/>
                </a:solidFill>
              </a14:hiddenFill>
            </a:ext>
          </a:extLst>
        </p:spPr>
      </p:pic>
      <p:pic>
        <p:nvPicPr>
          <p:cNvPr id="5" name="Grafik 4" descr="Ein Bild, das Kleidung, Person, Menschliches Gesicht, Krawatte enthält.&#10;&#10;Automatisch generierte Beschreibung">
            <a:extLst>
              <a:ext uri="{FF2B5EF4-FFF2-40B4-BE49-F238E27FC236}">
                <a16:creationId xmlns:a16="http://schemas.microsoft.com/office/drawing/2014/main" id="{8DCFF8EA-09B8-F7CE-8C8C-8369A3470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4192" y="392219"/>
            <a:ext cx="2924944" cy="2924944"/>
          </a:xfrm>
          <a:prstGeom prst="rect">
            <a:avLst/>
          </a:prstGeom>
          <a:ln w="25400">
            <a:solidFill>
              <a:schemeClr val="accent1"/>
            </a:solidFill>
          </a:ln>
        </p:spPr>
      </p:pic>
    </p:spTree>
    <p:extLst>
      <p:ext uri="{BB962C8B-B14F-4D97-AF65-F5344CB8AC3E}">
        <p14:creationId xmlns:p14="http://schemas.microsoft.com/office/powerpoint/2010/main" val="154458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Central </a:t>
            </a:r>
            <a:r>
              <a:rPr lang="de-DE" dirty="0" err="1">
                <a:latin typeface="Times New Roman" panose="02020603050405020304" pitchFamily="18" charset="0"/>
                <a:cs typeface="Times New Roman" panose="02020603050405020304" pitchFamily="18" charset="0"/>
              </a:rPr>
              <a:t>dogma</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molecular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biology</a:t>
            </a:r>
            <a:endParaRPr lang="de-DE"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5051366" cy="4608513"/>
          </a:xfrm>
        </p:spPr>
        <p:txBody>
          <a:bodyPr/>
          <a:lstStyle/>
          <a:p>
            <a:pPr algn="l">
              <a:lnSpc>
                <a:spcPct val="110000"/>
              </a:lnSpc>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Postulated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by</a:t>
            </a:r>
            <a:r>
              <a:rPr lang="de-DE" dirty="0">
                <a:latin typeface="Times New Roman" panose="02020603050405020304" pitchFamily="18" charset="0"/>
                <a:cs typeface="Times New Roman" panose="02020603050405020304" pitchFamily="18" charset="0"/>
              </a:rPr>
              <a:t> Francis Crick in 1957.</a:t>
            </a:r>
          </a:p>
        </p:txBody>
      </p:sp>
      <p:sp>
        <p:nvSpPr>
          <p:cNvPr id="14" name="Textfeld 13">
            <a:extLst>
              <a:ext uri="{FF2B5EF4-FFF2-40B4-BE49-F238E27FC236}">
                <a16:creationId xmlns:a16="http://schemas.microsoft.com/office/drawing/2014/main" id="{05157C6F-7A90-8599-1235-A4286A44CB86}"/>
              </a:ext>
            </a:extLst>
          </p:cNvPr>
          <p:cNvSpPr txBox="1"/>
          <p:nvPr/>
        </p:nvSpPr>
        <p:spPr>
          <a:xfrm>
            <a:off x="2207568" y="1700808"/>
            <a:ext cx="9793088" cy="1477328"/>
          </a:xfrm>
          <a:prstGeom prst="rect">
            <a:avLst/>
          </a:prstGeom>
          <a:noFill/>
        </p:spPr>
        <p:txBody>
          <a:bodyPr wrap="square">
            <a:spAutoFit/>
          </a:bodyPr>
          <a:lstStyle/>
          <a:p>
            <a:r>
              <a:rPr lang="en-US" i="1" dirty="0"/>
              <a:t>The Central Dogma. This states that once "information" has passed into protein it cannot get out again. In more detail, the transfer of information from nucleic acid to nucleic acid, or from nucleic acid to protein may be possible, but transfer from protein to protein, or from protein to nucleic acid is impossible. Information here means the precise determination of sequence, either of bases in the nucleic acid or of amino acid residues in the protein.</a:t>
            </a:r>
            <a:endParaRPr lang="de-DE" i="1" dirty="0"/>
          </a:p>
        </p:txBody>
      </p:sp>
      <p:pic>
        <p:nvPicPr>
          <p:cNvPr id="16" name="Grafik 15" descr="Ein Bild, das Text, Schrift, Logo, Screenshot enthält.&#10;&#10;Automatisch generierte Beschreibung">
            <a:extLst>
              <a:ext uri="{FF2B5EF4-FFF2-40B4-BE49-F238E27FC236}">
                <a16:creationId xmlns:a16="http://schemas.microsoft.com/office/drawing/2014/main" id="{545B3F01-9AF1-AD33-A822-AEA69138D1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6926" y="3251062"/>
            <a:ext cx="3229554" cy="3229554"/>
          </a:xfrm>
          <a:prstGeom prst="rect">
            <a:avLst/>
          </a:prstGeom>
        </p:spPr>
      </p:pic>
      <p:pic>
        <p:nvPicPr>
          <p:cNvPr id="18" name="Grafik 17" descr="Ein Bild, das Text, Screenshot, Diagramm, Schrift enthält.&#10;&#10;Automatisch generierte Beschreibung">
            <a:extLst>
              <a:ext uri="{FF2B5EF4-FFF2-40B4-BE49-F238E27FC236}">
                <a16:creationId xmlns:a16="http://schemas.microsoft.com/office/drawing/2014/main" id="{15ADFEF8-EBC7-BF49-3DB1-485FFD18D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7648" y="3280158"/>
            <a:ext cx="3096344" cy="2790352"/>
          </a:xfrm>
          <a:prstGeom prst="rect">
            <a:avLst/>
          </a:prstGeom>
        </p:spPr>
      </p:pic>
    </p:spTree>
    <p:extLst>
      <p:ext uri="{BB962C8B-B14F-4D97-AF65-F5344CB8AC3E}">
        <p14:creationId xmlns:p14="http://schemas.microsoft.com/office/powerpoint/2010/main" val="1935359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A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history</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DNA-</a:t>
            </a:r>
            <a:r>
              <a:rPr lang="de-DE" dirty="0" err="1">
                <a:latin typeface="Times New Roman" panose="02020603050405020304" pitchFamily="18" charset="0"/>
                <a:cs typeface="Times New Roman" panose="02020603050405020304" pitchFamily="18" charset="0"/>
              </a:rPr>
              <a:t>sequencing</a:t>
            </a:r>
            <a:endParaRPr lang="de-DE" dirty="0">
              <a:latin typeface="Times New Roman" panose="02020603050405020304" pitchFamily="18" charset="0"/>
              <a:cs typeface="Times New Roman" panose="02020603050405020304" pitchFamily="18" charset="0"/>
            </a:endParaRP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5051366" cy="4608513"/>
          </a:xfrm>
        </p:spPr>
        <p:txBody>
          <a:bodyPr/>
          <a:lstStyle/>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Frederick Sanger</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1918-2013</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1977: DNA </a:t>
            </a:r>
            <a:r>
              <a:rPr lang="de-DE" dirty="0" err="1">
                <a:latin typeface="Times New Roman" panose="02020603050405020304" pitchFamily="18" charset="0"/>
                <a:cs typeface="Times New Roman" panose="02020603050405020304" pitchFamily="18" charset="0"/>
              </a:rPr>
              <a:t>sequencing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with</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chain-terminating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inhibitors</a:t>
            </a: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1980: Nobel Prize </a:t>
            </a:r>
            <a:r>
              <a:rPr lang="de-DE" dirty="0" err="1">
                <a:latin typeface="Times New Roman" panose="02020603050405020304" pitchFamily="18" charset="0"/>
                <a:cs typeface="Times New Roman" panose="02020603050405020304" pitchFamily="18" charset="0"/>
              </a:rPr>
              <a:t>for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decoding</a:t>
            </a:r>
            <a:r>
              <a:rPr lang="de-DE" dirty="0">
                <a:latin typeface="Times New Roman" panose="02020603050405020304" pitchFamily="18" charset="0"/>
                <a:cs typeface="Times New Roman" panose="02020603050405020304" pitchFamily="18" charset="0"/>
              </a:rPr>
              <a:t> DNA </a:t>
            </a:r>
            <a:r>
              <a:rPr lang="de-DE" dirty="0" err="1">
                <a:latin typeface="Times New Roman" panose="02020603050405020304" pitchFamily="18" charset="0"/>
                <a:cs typeface="Times New Roman" panose="02020603050405020304" pitchFamily="18" charset="0"/>
              </a:rPr>
              <a:t>sequence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is</a:t>
            </a:r>
            <a:r>
              <a:rPr lang="de-DE" dirty="0">
                <a:latin typeface="Times New Roman" panose="02020603050405020304" pitchFamily="18" charset="0"/>
                <a:cs typeface="Times New Roman" panose="02020603050405020304" pitchFamily="18" charset="0"/>
              </a:rPr>
              <a:t> Insulin</a:t>
            </a: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Father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DNA-</a:t>
            </a:r>
            <a:r>
              <a:rPr lang="de-DE" dirty="0" err="1">
                <a:latin typeface="Times New Roman" panose="02020603050405020304" pitchFamily="18" charset="0"/>
                <a:cs typeface="Times New Roman" panose="02020603050405020304" pitchFamily="18" charset="0"/>
              </a:rPr>
              <a:t>sequencing</a:t>
            </a:r>
            <a:r>
              <a:rPr lang="de-DE" dirty="0">
                <a:latin typeface="Times New Roman" panose="02020603050405020304" pitchFamily="18" charset="0"/>
                <a:cs typeface="Times New Roman" panose="02020603050405020304" pitchFamily="18" charset="0"/>
              </a:rPr>
              <a:t>.</a:t>
            </a:r>
          </a:p>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Method </a:t>
            </a:r>
            <a:r>
              <a:rPr lang="de-DE" dirty="0" err="1">
                <a:latin typeface="Times New Roman" panose="02020603050405020304" pitchFamily="18" charset="0"/>
                <a:cs typeface="Times New Roman" panose="02020603050405020304" pitchFamily="18" charset="0"/>
              </a:rPr>
              <a:t>is</a:t>
            </a:r>
            <a:r>
              <a:rPr lang="de-DE" dirty="0">
                <a:latin typeface="Times New Roman" panose="02020603050405020304" pitchFamily="18" charset="0"/>
                <a:cs typeface="Times New Roman" panose="02020603050405020304" pitchFamily="18" charset="0"/>
              </a:rPr>
              <a:t> still </a:t>
            </a:r>
            <a:r>
              <a:rPr lang="de-DE" dirty="0" err="1">
                <a:latin typeface="Times New Roman" panose="02020603050405020304" pitchFamily="18" charset="0"/>
                <a:cs typeface="Times New Roman" panose="02020603050405020304" pitchFamily="18" charset="0"/>
              </a:rPr>
              <a:t>used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today</a:t>
            </a:r>
            <a:r>
              <a:rPr lang="de-DE" dirty="0">
                <a:latin typeface="Times New Roman" panose="02020603050405020304" pitchFamily="18" charset="0"/>
                <a:cs typeface="Times New Roman" panose="02020603050405020304" pitchFamily="18" charset="0"/>
              </a:rPr>
              <a:t>.</a:t>
            </a:r>
          </a:p>
        </p:txBody>
      </p:sp>
      <p:pic>
        <p:nvPicPr>
          <p:cNvPr id="6" name="Grafik 5" descr="Ein Bild, das Menschliches Gesicht, Porträt, Kleidung, Person enthält.&#10;&#10;Automatisch generierte Beschreibung">
            <a:extLst>
              <a:ext uri="{FF2B5EF4-FFF2-40B4-BE49-F238E27FC236}">
                <a16:creationId xmlns:a16="http://schemas.microsoft.com/office/drawing/2014/main" id="{47F6539E-1DB1-9CA4-4C7A-1C03735B2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8248" y="250337"/>
            <a:ext cx="2232248" cy="2976331"/>
          </a:xfrm>
          <a:prstGeom prst="rect">
            <a:avLst/>
          </a:prstGeom>
          <a:ln w="25400">
            <a:solidFill>
              <a:schemeClr val="accent1"/>
            </a:solidFill>
          </a:ln>
        </p:spPr>
      </p:pic>
      <p:pic>
        <p:nvPicPr>
          <p:cNvPr id="8" name="Grafik 7" descr="Ein Bild, das Text, Reihe, Screenshot enthält.&#10;&#10;Automatisch generierte Beschreibung">
            <a:extLst>
              <a:ext uri="{FF2B5EF4-FFF2-40B4-BE49-F238E27FC236}">
                <a16:creationId xmlns:a16="http://schemas.microsoft.com/office/drawing/2014/main" id="{EE980D79-D861-CFEA-7317-126B0C2458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149080"/>
            <a:ext cx="5051366" cy="1366602"/>
          </a:xfrm>
          <a:prstGeom prst="rect">
            <a:avLst/>
          </a:prstGeom>
          <a:ln w="25400">
            <a:solidFill>
              <a:schemeClr val="accent1"/>
            </a:solidFill>
          </a:ln>
        </p:spPr>
      </p:pic>
    </p:spTree>
    <p:extLst>
      <p:ext uri="{BB962C8B-B14F-4D97-AF65-F5344CB8AC3E}">
        <p14:creationId xmlns:p14="http://schemas.microsoft.com/office/powerpoint/2010/main" val="1418989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Sanger </a:t>
            </a:r>
            <a:r>
              <a:rPr lang="de-DE" dirty="0" err="1">
                <a:latin typeface="Times New Roman" panose="02020603050405020304" pitchFamily="18" charset="0"/>
                <a:cs typeface="Times New Roman" panose="02020603050405020304" pitchFamily="18" charset="0"/>
              </a:rPr>
              <a:t>sequencing</a:t>
            </a:r>
            <a:endParaRPr lang="de-DE" dirty="0">
              <a:latin typeface="Times New Roman" panose="02020603050405020304" pitchFamily="18" charset="0"/>
              <a:cs typeface="Times New Roman" panose="02020603050405020304" pitchFamily="18" charset="0"/>
            </a:endParaRPr>
          </a:p>
        </p:txBody>
      </p:sp>
      <p:pic>
        <p:nvPicPr>
          <p:cNvPr id="5" name="Grafik 4" descr="Ein Bild, das Text, Screenshot, Schrift, Diagramm enthält.&#10;&#10;Automatisch generierte Beschreibung">
            <a:extLst>
              <a:ext uri="{FF2B5EF4-FFF2-40B4-BE49-F238E27FC236}">
                <a16:creationId xmlns:a16="http://schemas.microsoft.com/office/drawing/2014/main" id="{A6137CE6-97A9-3F66-0C7B-E8895BBDC9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1544" y="1196751"/>
            <a:ext cx="6408712" cy="3991259"/>
          </a:xfrm>
          <a:prstGeom prst="rect">
            <a:avLst/>
          </a:prstGeom>
          <a:ln w="25400">
            <a:solidFill>
              <a:schemeClr val="accent1"/>
            </a:solidFill>
          </a:ln>
        </p:spPr>
      </p:pic>
      <p:sp>
        <p:nvSpPr>
          <p:cNvPr id="7" name="Inhaltsplatzhalter 3">
            <a:extLst>
              <a:ext uri="{FF2B5EF4-FFF2-40B4-BE49-F238E27FC236}">
                <a16:creationId xmlns:a16="http://schemas.microsoft.com/office/drawing/2014/main" id="{A53EB01D-F401-3C49-F08D-73876FC5F5C7}"/>
              </a:ext>
            </a:extLst>
          </p:cNvPr>
          <p:cNvSpPr>
            <a:spLocks noGrp="1"/>
          </p:cNvSpPr>
          <p:nvPr>
            <p:ph sz="half" idx="1"/>
          </p:nvPr>
        </p:nvSpPr>
        <p:spPr>
          <a:xfrm>
            <a:off x="8544272" y="1206052"/>
            <a:ext cx="3456384" cy="3456384"/>
          </a:xfrm>
        </p:spPr>
        <p:txBody>
          <a:bodyPr/>
          <a:lstStyle/>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Very </a:t>
            </a:r>
            <a:r>
              <a:rPr lang="de-DE" dirty="0" err="1">
                <a:latin typeface="Times New Roman" panose="02020603050405020304" pitchFamily="18" charset="0"/>
                <a:cs typeface="Times New Roman" panose="02020603050405020304" pitchFamily="18" charset="0"/>
              </a:rPr>
              <a:t>precise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DNA-</a:t>
            </a:r>
            <a:r>
              <a:rPr lang="de-DE" dirty="0" err="1">
                <a:latin typeface="Times New Roman" panose="02020603050405020304" pitchFamily="18" charset="0"/>
                <a:cs typeface="Times New Roman" panose="02020603050405020304" pitchFamily="18" charset="0"/>
              </a:rPr>
              <a:t>sequences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approx</a:t>
            </a:r>
            <a:r>
              <a:rPr lang="de-DE" dirty="0">
                <a:latin typeface="Times New Roman" panose="02020603050405020304" pitchFamily="18" charset="0"/>
                <a:cs typeface="Times New Roman" panose="02020603050405020304" pitchFamily="18" charset="0"/>
              </a:rPr>
              <a:t>. 1.000 bp)</a:t>
            </a:r>
          </a:p>
          <a:p>
            <a:pPr algn="l">
              <a:lnSpc>
                <a:spcPct val="110000"/>
              </a:lnSpc>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Unreliable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longer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fragments</a:t>
            </a: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Signal </a:t>
            </a:r>
            <a:r>
              <a:rPr lang="de-DE" dirty="0" err="1">
                <a:latin typeface="Times New Roman" panose="02020603050405020304" pitchFamily="18" charset="0"/>
                <a:cs typeface="Times New Roman" panose="02020603050405020304" pitchFamily="18" charset="0"/>
              </a:rPr>
              <a:t>strength</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decreases</a:t>
            </a:r>
            <a:r>
              <a:rPr lang="de-DE" dirty="0">
                <a:latin typeface="Times New Roman" panose="02020603050405020304" pitchFamily="18" charset="0"/>
                <a:cs typeface="Times New Roman" panose="02020603050405020304" pitchFamily="18" charset="0"/>
              </a:rPr>
              <a:t> at ‚</a:t>
            </a:r>
            <a:r>
              <a:rPr lang="de-DE" dirty="0" err="1">
                <a:latin typeface="Times New Roman" panose="02020603050405020304" pitchFamily="18" charset="0"/>
                <a:cs typeface="Times New Roman" panose="02020603050405020304" pitchFamily="18" charset="0"/>
              </a:rPr>
              <a:t>later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bases</a:t>
            </a:r>
            <a:r>
              <a:rPr lang="de-DE"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239672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High </a:t>
            </a:r>
            <a:r>
              <a:rPr lang="de-DE" dirty="0" err="1">
                <a:latin typeface="Times New Roman" panose="02020603050405020304" pitchFamily="18" charset="0"/>
                <a:cs typeface="Times New Roman" panose="02020603050405020304" pitchFamily="18" charset="0"/>
              </a:rPr>
              <a:t>throughput</a:t>
            </a:r>
            <a:r>
              <a:rPr lang="de-DE" dirty="0">
                <a:latin typeface="Times New Roman" panose="02020603050405020304" pitchFamily="18" charset="0"/>
                <a:cs typeface="Times New Roman" panose="02020603050405020304" pitchFamily="18" charset="0"/>
              </a:rPr>
              <a:t> DNA </a:t>
            </a:r>
            <a:r>
              <a:rPr lang="de-DE" dirty="0" err="1">
                <a:latin typeface="Times New Roman" panose="02020603050405020304" pitchFamily="18" charset="0"/>
                <a:cs typeface="Times New Roman" panose="02020603050405020304" pitchFamily="18" charset="0"/>
              </a:rPr>
              <a:t>sequencing</a:t>
            </a:r>
            <a:r>
              <a:rPr lang="de-DE" dirty="0">
                <a:latin typeface="Times New Roman" panose="02020603050405020304" pitchFamily="18" charset="0"/>
                <a:cs typeface="Times New Roman" panose="02020603050405020304" pitchFamily="18" charset="0"/>
              </a:rPr>
              <a:t> (2nd </a:t>
            </a:r>
            <a:r>
              <a:rPr lang="de-DE" dirty="0" err="1">
                <a:latin typeface="Times New Roman" panose="02020603050405020304" pitchFamily="18" charset="0"/>
                <a:cs typeface="Times New Roman" panose="02020603050405020304" pitchFamily="18" charset="0"/>
              </a:rPr>
              <a:t>generation</a:t>
            </a:r>
            <a:r>
              <a:rPr lang="de-DE" dirty="0">
                <a:latin typeface="Times New Roman" panose="02020603050405020304" pitchFamily="18" charset="0"/>
                <a:cs typeface="Times New Roman" panose="02020603050405020304" pitchFamily="18" charset="0"/>
              </a:rPr>
              <a:t>)</a:t>
            </a:r>
          </a:p>
        </p:txBody>
      </p:sp>
      <p:pic>
        <p:nvPicPr>
          <p:cNvPr id="7" name="Grafik 6">
            <a:extLst>
              <a:ext uri="{FF2B5EF4-FFF2-40B4-BE49-F238E27FC236}">
                <a16:creationId xmlns:a16="http://schemas.microsoft.com/office/drawing/2014/main" id="{F12785D8-3DB0-A155-66EA-25E0BA8959DA}"/>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919536" y="1377264"/>
            <a:ext cx="5112568" cy="2832575"/>
          </a:xfrm>
          <a:prstGeom prst="rect">
            <a:avLst/>
          </a:prstGeom>
          <a:ln w="25400">
            <a:solidFill>
              <a:schemeClr val="accent1">
                <a:alpha val="99000"/>
              </a:schemeClr>
            </a:solidFill>
          </a:ln>
        </p:spPr>
      </p:pic>
      <p:sp>
        <p:nvSpPr>
          <p:cNvPr id="9" name="Inhaltsplatzhalter 3">
            <a:extLst>
              <a:ext uri="{FF2B5EF4-FFF2-40B4-BE49-F238E27FC236}">
                <a16:creationId xmlns:a16="http://schemas.microsoft.com/office/drawing/2014/main" id="{EEB43DB8-ED18-B7D3-063E-7145411C866D}"/>
              </a:ext>
            </a:extLst>
          </p:cNvPr>
          <p:cNvSpPr>
            <a:spLocks noGrp="1"/>
          </p:cNvSpPr>
          <p:nvPr>
            <p:ph sz="half" idx="1"/>
          </p:nvPr>
        </p:nvSpPr>
        <p:spPr>
          <a:xfrm>
            <a:off x="7176120" y="1412776"/>
            <a:ext cx="4752528" cy="3456384"/>
          </a:xfrm>
        </p:spPr>
        <p:txBody>
          <a:bodyPr/>
          <a:lstStyle/>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Cutting DNA </a:t>
            </a:r>
            <a:r>
              <a:rPr lang="de-DE" dirty="0" err="1">
                <a:latin typeface="Times New Roman" panose="02020603050405020304" pitchFamily="18" charset="0"/>
                <a:cs typeface="Times New Roman" panose="02020603050405020304" pitchFamily="18" charset="0"/>
              </a:rPr>
              <a:t>into</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fragments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using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restriction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enzymes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sonication</a:t>
            </a:r>
            <a:r>
              <a:rPr lang="de-DE" dirty="0">
                <a:latin typeface="Times New Roman" panose="02020603050405020304" pitchFamily="18" charset="0"/>
                <a:cs typeface="Times New Roman" panose="02020603050405020304" pitchFamily="18" charset="0"/>
              </a:rPr>
              <a:t>.</a:t>
            </a:r>
          </a:p>
          <a:p>
            <a:pPr algn="l">
              <a:lnSpc>
                <a:spcPct val="110000"/>
              </a:lnSpc>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Amplification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fragments</a:t>
            </a:r>
            <a:r>
              <a:rPr lang="de-DE" dirty="0">
                <a:latin typeface="Times New Roman" panose="02020603050405020304" pitchFamily="18" charset="0"/>
                <a:cs typeface="Times New Roman" panose="02020603050405020304" pitchFamily="18" charset="0"/>
              </a:rPr>
              <a:t>.</a:t>
            </a:r>
          </a:p>
          <a:p>
            <a:pPr algn="l">
              <a:lnSpc>
                <a:spcPct val="110000"/>
              </a:lnSpc>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Sequencing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amplified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short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fragments</a:t>
            </a:r>
            <a:r>
              <a:rPr lang="de-DE" dirty="0">
                <a:latin typeface="Times New Roman" panose="02020603050405020304" pitchFamily="18" charset="0"/>
                <a:cs typeface="Times New Roman" panose="02020603050405020304" pitchFamily="18" charset="0"/>
              </a:rPr>
              <a:t>.</a:t>
            </a: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11" name="Grafik 10" descr="Ein Bild, das Text, Diagramm, Screenshot, Plan enthält.&#10;&#10;Automatisch generierte Beschreibung">
            <a:extLst>
              <a:ext uri="{FF2B5EF4-FFF2-40B4-BE49-F238E27FC236}">
                <a16:creationId xmlns:a16="http://schemas.microsoft.com/office/drawing/2014/main" id="{03FECA71-9A57-A1DD-CDEE-E4406D71BA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4152" y="3212976"/>
            <a:ext cx="3456384" cy="3456384"/>
          </a:xfrm>
          <a:prstGeom prst="rect">
            <a:avLst/>
          </a:prstGeom>
          <a:ln w="25400">
            <a:solidFill>
              <a:schemeClr val="accent1">
                <a:alpha val="99000"/>
              </a:schemeClr>
            </a:solidFill>
          </a:ln>
        </p:spPr>
      </p:pic>
    </p:spTree>
    <p:extLst>
      <p:ext uri="{BB962C8B-B14F-4D97-AF65-F5344CB8AC3E}">
        <p14:creationId xmlns:p14="http://schemas.microsoft.com/office/powerpoint/2010/main" val="683759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High </a:t>
            </a:r>
            <a:r>
              <a:rPr lang="de-DE" dirty="0" err="1">
                <a:latin typeface="Times New Roman" panose="02020603050405020304" pitchFamily="18" charset="0"/>
                <a:cs typeface="Times New Roman" panose="02020603050405020304" pitchFamily="18" charset="0"/>
              </a:rPr>
              <a:t>throughput</a:t>
            </a:r>
            <a:r>
              <a:rPr lang="de-DE" dirty="0">
                <a:latin typeface="Times New Roman" panose="02020603050405020304" pitchFamily="18" charset="0"/>
                <a:cs typeface="Times New Roman" panose="02020603050405020304" pitchFamily="18" charset="0"/>
              </a:rPr>
              <a:t> DNA </a:t>
            </a:r>
            <a:r>
              <a:rPr lang="de-DE" dirty="0" err="1">
                <a:latin typeface="Times New Roman" panose="02020603050405020304" pitchFamily="18" charset="0"/>
                <a:cs typeface="Times New Roman" panose="02020603050405020304" pitchFamily="18" charset="0"/>
              </a:rPr>
              <a:t>sequencing</a:t>
            </a:r>
            <a:r>
              <a:rPr lang="de-DE" dirty="0">
                <a:latin typeface="Times New Roman" panose="02020603050405020304" pitchFamily="18" charset="0"/>
                <a:cs typeface="Times New Roman" panose="02020603050405020304" pitchFamily="18" charset="0"/>
              </a:rPr>
              <a:t> (3rd </a:t>
            </a:r>
            <a:r>
              <a:rPr lang="de-DE" dirty="0" err="1">
                <a:latin typeface="Times New Roman" panose="02020603050405020304" pitchFamily="18" charset="0"/>
                <a:cs typeface="Times New Roman" panose="02020603050405020304" pitchFamily="18" charset="0"/>
              </a:rPr>
              <a:t>generation</a:t>
            </a:r>
            <a:r>
              <a:rPr lang="de-DE" dirty="0">
                <a:latin typeface="Times New Roman" panose="02020603050405020304" pitchFamily="18" charset="0"/>
                <a:cs typeface="Times New Roman" panose="02020603050405020304" pitchFamily="18" charset="0"/>
              </a:rPr>
              <a:t>)</a:t>
            </a:r>
          </a:p>
        </p:txBody>
      </p:sp>
      <p:sp>
        <p:nvSpPr>
          <p:cNvPr id="9" name="Inhaltsplatzhalter 3">
            <a:extLst>
              <a:ext uri="{FF2B5EF4-FFF2-40B4-BE49-F238E27FC236}">
                <a16:creationId xmlns:a16="http://schemas.microsoft.com/office/drawing/2014/main" id="{EEB43DB8-ED18-B7D3-063E-7145411C866D}"/>
              </a:ext>
            </a:extLst>
          </p:cNvPr>
          <p:cNvSpPr>
            <a:spLocks noGrp="1"/>
          </p:cNvSpPr>
          <p:nvPr>
            <p:ph sz="half" idx="1"/>
          </p:nvPr>
        </p:nvSpPr>
        <p:spPr>
          <a:xfrm>
            <a:off x="1919536" y="1196752"/>
            <a:ext cx="6120680" cy="3456384"/>
          </a:xfrm>
        </p:spPr>
        <p:txBody>
          <a:bodyPr/>
          <a:lstStyle/>
          <a:p>
            <a:pPr algn="l">
              <a:lnSpc>
                <a:spcPct val="110000"/>
              </a:lnSpc>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Allows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sequencing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long</a:t>
            </a:r>
            <a:r>
              <a:rPr lang="de-DE" dirty="0">
                <a:latin typeface="Times New Roman" panose="02020603050405020304" pitchFamily="18" charset="0"/>
                <a:cs typeface="Times New Roman" panose="02020603050405020304" pitchFamily="18" charset="0"/>
              </a:rPr>
              <a:t> DNA </a:t>
            </a:r>
            <a:r>
              <a:rPr lang="de-DE" dirty="0" err="1">
                <a:latin typeface="Times New Roman" panose="02020603050405020304" pitchFamily="18" charset="0"/>
                <a:cs typeface="Times New Roman" panose="02020603050405020304" pitchFamily="18" charset="0"/>
              </a:rPr>
              <a:t>fragments</a:t>
            </a:r>
            <a:r>
              <a:rPr lang="de-DE" dirty="0">
                <a:latin typeface="Times New Roman" panose="02020603050405020304" pitchFamily="18" charset="0"/>
                <a:cs typeface="Times New Roman" panose="02020603050405020304" pitchFamily="18" charset="0"/>
              </a:rPr>
              <a:t>.</a:t>
            </a: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Personal </a:t>
            </a:r>
            <a:r>
              <a:rPr lang="de-DE" dirty="0" err="1">
                <a:latin typeface="Times New Roman" panose="02020603050405020304" pitchFamily="18" charset="0"/>
                <a:cs typeface="Times New Roman" panose="02020603050405020304" pitchFamily="18" charset="0"/>
              </a:rPr>
              <a:t>record</a:t>
            </a:r>
            <a:r>
              <a:rPr lang="de-DE" dirty="0">
                <a:latin typeface="Times New Roman" panose="02020603050405020304" pitchFamily="18" charset="0"/>
                <a:cs typeface="Times New Roman" panose="02020603050405020304" pitchFamily="18" charset="0"/>
              </a:rPr>
              <a:t>: 1.1 </a:t>
            </a:r>
            <a:r>
              <a:rPr lang="de-DE" dirty="0" err="1">
                <a:latin typeface="Times New Roman" panose="02020603050405020304" pitchFamily="18" charset="0"/>
                <a:cs typeface="Times New Roman" panose="02020603050405020304" pitchFamily="18" charset="0"/>
              </a:rPr>
              <a:t>Mb</a:t>
            </a:r>
            <a:endParaRPr lang="de-DE"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No</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restriction</a:t>
            </a:r>
            <a:r>
              <a:rPr lang="de-DE" dirty="0">
                <a:latin typeface="Times New Roman" panose="02020603050405020304" pitchFamily="18" charset="0"/>
                <a:cs typeface="Times New Roman" panose="02020603050405020304" pitchFamily="18" charset="0"/>
              </a:rPr>
              <a:t> Enzymes </a:t>
            </a:r>
            <a:r>
              <a:rPr lang="de-DE" dirty="0" err="1">
                <a:latin typeface="Times New Roman" panose="02020603050405020304" pitchFamily="18" charset="0"/>
                <a:cs typeface="Times New Roman" panose="02020603050405020304" pitchFamily="18" charset="0"/>
              </a:rPr>
              <a:t>needed</a:t>
            </a:r>
            <a:r>
              <a:rPr lang="de-DE" dirty="0">
                <a:latin typeface="Times New Roman" panose="02020603050405020304" pitchFamily="18" charset="0"/>
                <a:cs typeface="Times New Roman" panose="02020603050405020304" pitchFamily="18" charset="0"/>
              </a:rPr>
              <a:t>, but high </a:t>
            </a:r>
            <a:r>
              <a:rPr lang="de-DE" dirty="0" err="1">
                <a:latin typeface="Times New Roman" panose="02020603050405020304" pitchFamily="18" charset="0"/>
                <a:cs typeface="Times New Roman" panose="02020603050405020304" pitchFamily="18" charset="0"/>
              </a:rPr>
              <a:t>quality</a:t>
            </a:r>
            <a:r>
              <a:rPr lang="de-DE" dirty="0">
                <a:latin typeface="Times New Roman" panose="02020603050405020304" pitchFamily="18" charset="0"/>
                <a:cs typeface="Times New Roman" panose="02020603050405020304" pitchFamily="18" charset="0"/>
              </a:rPr>
              <a:t> DNA.</a:t>
            </a:r>
          </a:p>
          <a:p>
            <a:pPr>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High </a:t>
            </a:r>
            <a:r>
              <a:rPr lang="de-DE" dirty="0" err="1">
                <a:latin typeface="Times New Roman" panose="02020603050405020304" pitchFamily="18" charset="0"/>
                <a:cs typeface="Times New Roman" panose="02020603050405020304" pitchFamily="18" charset="0"/>
              </a:rPr>
              <a:t>cost</a:t>
            </a:r>
            <a:r>
              <a:rPr lang="de-DE" dirty="0">
                <a:latin typeface="Times New Roman" panose="02020603050405020304" pitchFamily="18" charset="0"/>
                <a:cs typeface="Times New Roman" panose="02020603050405020304" pitchFamily="18" charset="0"/>
              </a:rPr>
              <a:t> per </a:t>
            </a:r>
            <a:r>
              <a:rPr lang="de-DE" dirty="0" err="1">
                <a:latin typeface="Times New Roman" panose="02020603050405020304" pitchFamily="18" charset="0"/>
                <a:cs typeface="Times New Roman" panose="02020603050405020304" pitchFamily="18" charset="0"/>
              </a:rPr>
              <a:t>sequencing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run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low</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cost</a:t>
            </a:r>
            <a:r>
              <a:rPr lang="de-DE" dirty="0">
                <a:latin typeface="Times New Roman" panose="02020603050405020304" pitchFamily="18" charset="0"/>
                <a:cs typeface="Times New Roman" panose="02020603050405020304" pitchFamily="18" charset="0"/>
              </a:rPr>
              <a:t> per </a:t>
            </a:r>
            <a:r>
              <a:rPr lang="de-DE" dirty="0" err="1">
                <a:latin typeface="Times New Roman" panose="02020603050405020304" pitchFamily="18" charset="0"/>
                <a:cs typeface="Times New Roman" panose="02020603050405020304" pitchFamily="18" charset="0"/>
              </a:rPr>
              <a:t>sequenced</a:t>
            </a:r>
            <a:r>
              <a:rPr lang="de-DE" dirty="0">
                <a:latin typeface="Times New Roman" panose="02020603050405020304" pitchFamily="18" charset="0"/>
                <a:cs typeface="Times New Roman" panose="02020603050405020304" pitchFamily="18" charset="0"/>
              </a:rPr>
              <a:t> DNA </a:t>
            </a:r>
            <a:r>
              <a:rPr lang="de-DE" dirty="0" err="1">
                <a:latin typeface="Times New Roman" panose="02020603050405020304" pitchFamily="18" charset="0"/>
                <a:cs typeface="Times New Roman" panose="02020603050405020304" pitchFamily="18" charset="0"/>
              </a:rPr>
              <a:t>base</a:t>
            </a:r>
            <a:endParaRPr lang="de-DE"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Can </a:t>
            </a:r>
            <a:r>
              <a:rPr lang="de-DE" dirty="0" err="1">
                <a:latin typeface="Times New Roman" panose="02020603050405020304" pitchFamily="18" charset="0"/>
                <a:cs typeface="Times New Roman" panose="02020603050405020304" pitchFamily="18" charset="0"/>
              </a:rPr>
              <a:t>sequence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up</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a:t>
            </a:r>
            <a:r>
              <a:rPr lang="de-DE" dirty="0">
                <a:latin typeface="Times New Roman" panose="02020603050405020304" pitchFamily="18" charset="0"/>
                <a:cs typeface="Times New Roman" panose="02020603050405020304" pitchFamily="18" charset="0"/>
              </a:rPr>
              <a:t> 50 </a:t>
            </a:r>
            <a:r>
              <a:rPr lang="de-DE" dirty="0" err="1">
                <a:latin typeface="Times New Roman" panose="02020603050405020304" pitchFamily="18" charset="0"/>
                <a:cs typeface="Times New Roman" panose="02020603050405020304" pitchFamily="18" charset="0"/>
              </a:rPr>
              <a:t>Gb</a:t>
            </a: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Human </a:t>
            </a:r>
            <a:r>
              <a:rPr lang="de-DE" dirty="0" err="1">
                <a:latin typeface="Times New Roman" panose="02020603050405020304" pitchFamily="18" charset="0"/>
                <a:cs typeface="Times New Roman" panose="02020603050405020304" pitchFamily="18" charset="0"/>
              </a:rPr>
              <a:t>genome</a:t>
            </a:r>
            <a:r>
              <a:rPr lang="de-DE" dirty="0">
                <a:latin typeface="Times New Roman" panose="02020603050405020304" pitchFamily="18" charset="0"/>
                <a:cs typeface="Times New Roman" panose="02020603050405020304" pitchFamily="18" charset="0"/>
              </a:rPr>
              <a:t>: 3.1 </a:t>
            </a:r>
            <a:r>
              <a:rPr lang="de-DE" dirty="0" err="1">
                <a:latin typeface="Times New Roman" panose="02020603050405020304" pitchFamily="18" charset="0"/>
                <a:cs typeface="Times New Roman" panose="02020603050405020304" pitchFamily="18" charset="0"/>
              </a:rPr>
              <a:t>Gb</a:t>
            </a:r>
            <a:endParaRPr lang="de-DE"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Measures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electrical</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signal</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instead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light </a:t>
            </a:r>
            <a:r>
              <a:rPr lang="de-DE" dirty="0" err="1">
                <a:latin typeface="Times New Roman" panose="02020603050405020304" pitchFamily="18" charset="0"/>
                <a:cs typeface="Times New Roman" panose="02020603050405020304" pitchFamily="18" charset="0"/>
              </a:rPr>
              <a:t>absorption</a:t>
            </a:r>
            <a:r>
              <a:rPr lang="de-DE" dirty="0">
                <a:latin typeface="Times New Roman" panose="02020603050405020304" pitchFamily="18" charset="0"/>
                <a:cs typeface="Times New Roman" panose="02020603050405020304" pitchFamily="18" charset="0"/>
              </a:rPr>
              <a:t>.</a:t>
            </a:r>
          </a:p>
          <a:p>
            <a:pPr lvl="1">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4" name="Grafik 3" descr="Ein Bild, das Elektronik, Elektronisches Gerät, Gerät, Fahren enthält.&#10;&#10;Automatisch generierte Beschreibung">
            <a:extLst>
              <a:ext uri="{FF2B5EF4-FFF2-40B4-BE49-F238E27FC236}">
                <a16:creationId xmlns:a16="http://schemas.microsoft.com/office/drawing/2014/main" id="{92146124-477B-7DE4-4135-F21058FD1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6280" y="842537"/>
            <a:ext cx="3301724" cy="2845749"/>
          </a:xfrm>
          <a:prstGeom prst="rect">
            <a:avLst/>
          </a:prstGeom>
          <a:ln w="25400">
            <a:solidFill>
              <a:schemeClr val="accent1"/>
            </a:solidFill>
          </a:ln>
        </p:spPr>
      </p:pic>
      <p:pic>
        <p:nvPicPr>
          <p:cNvPr id="6" name="Grafik 5" descr="Ein Bild, das Text, Diagramm, Screenshot, Design enthält.&#10;&#10;Automatisch generierte Beschreibung">
            <a:extLst>
              <a:ext uri="{FF2B5EF4-FFF2-40B4-BE49-F238E27FC236}">
                <a16:creationId xmlns:a16="http://schemas.microsoft.com/office/drawing/2014/main" id="{18B58CFC-F04C-70CD-AC8F-61B8E14DEF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2224" y="3785565"/>
            <a:ext cx="3805780" cy="2819667"/>
          </a:xfrm>
          <a:prstGeom prst="rect">
            <a:avLst/>
          </a:prstGeom>
          <a:ln w="25400">
            <a:solidFill>
              <a:schemeClr val="accent1"/>
            </a:solidFill>
          </a:ln>
        </p:spPr>
      </p:pic>
    </p:spTree>
    <p:extLst>
      <p:ext uri="{BB962C8B-B14F-4D97-AF65-F5344CB8AC3E}">
        <p14:creationId xmlns:p14="http://schemas.microsoft.com/office/powerpoint/2010/main" val="2374290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err="1">
                <a:latin typeface="Times New Roman" panose="02020603050405020304" pitchFamily="18" charset="0"/>
                <a:cs typeface="Times New Roman" panose="02020603050405020304" pitchFamily="18" charset="0"/>
              </a:rPr>
              <a:t>Why</a:t>
            </a:r>
            <a:r>
              <a:rPr lang="de-DE" dirty="0">
                <a:latin typeface="Times New Roman" panose="02020603050405020304" pitchFamily="18" charset="0"/>
                <a:cs typeface="Times New Roman" panose="02020603050405020304" pitchFamily="18" charset="0"/>
              </a:rPr>
              <a:t> do </a:t>
            </a:r>
            <a:r>
              <a:rPr lang="de-DE" dirty="0" err="1">
                <a:latin typeface="Times New Roman" panose="02020603050405020304" pitchFamily="18" charset="0"/>
                <a:cs typeface="Times New Roman" panose="02020603050405020304" pitchFamily="18" charset="0"/>
              </a:rPr>
              <a:t>we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need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bioinformatics</a:t>
            </a:r>
            <a:r>
              <a:rPr lang="de-DE" dirty="0">
                <a:latin typeface="Times New Roman" panose="02020603050405020304" pitchFamily="18" charset="0"/>
                <a:cs typeface="Times New Roman" panose="02020603050405020304" pitchFamily="18" charset="0"/>
              </a:rPr>
              <a:t>?</a:t>
            </a: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5267390" cy="4608513"/>
          </a:xfrm>
        </p:spPr>
        <p:txBody>
          <a:bodyPr/>
          <a:lstStyle/>
          <a:p>
            <a:pPr algn="l">
              <a:lnSpc>
                <a:spcPct val="110000"/>
              </a:lnSpc>
              <a:buFont typeface="Courier New" panose="02070309020205020404" pitchFamily="49" charset="0"/>
              <a:buChar char="o"/>
            </a:pPr>
            <a:r>
              <a:rPr lang="de-DE" spc="30" dirty="0" err="1">
                <a:latin typeface="Times New Roman" panose="02020603050405020304" pitchFamily="18" charset="0"/>
                <a:cs typeface="Times New Roman" panose="02020603050405020304" pitchFamily="18" charset="0"/>
              </a:rPr>
              <a:t>We</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are</a:t>
            </a:r>
            <a:r>
              <a:rPr lang="de-DE" spc="30" dirty="0">
                <a:latin typeface="Times New Roman" panose="02020603050405020304" pitchFamily="18" charset="0"/>
                <a:cs typeface="Times New Roman" panose="02020603050405020304" pitchFamily="18" charset="0"/>
              </a:rPr>
              <a:t> not </a:t>
            </a:r>
            <a:r>
              <a:rPr lang="de-DE" spc="30" dirty="0" err="1">
                <a:latin typeface="Times New Roman" panose="02020603050405020304" pitchFamily="18" charset="0"/>
                <a:cs typeface="Times New Roman" panose="02020603050405020304" pitchFamily="18" charset="0"/>
              </a:rPr>
              <a:t>able</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to</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edit</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our</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sequence</a:t>
            </a:r>
            <a:r>
              <a:rPr lang="de-DE" spc="30" dirty="0">
                <a:latin typeface="Times New Roman" panose="02020603050405020304" pitchFamily="18" charset="0"/>
                <a:cs typeface="Times New Roman" panose="02020603050405020304" pitchFamily="18" charset="0"/>
              </a:rPr>
              <a:t> </a:t>
            </a:r>
            <a:r>
              <a:rPr lang="de-DE" spc="30" dirty="0" err="1">
                <a:latin typeface="Times New Roman" panose="02020603050405020304" pitchFamily="18" charset="0"/>
                <a:cs typeface="Times New Roman" panose="02020603050405020304" pitchFamily="18" charset="0"/>
              </a:rPr>
              <a:t>information</a:t>
            </a:r>
            <a:r>
              <a:rPr lang="de-DE" spc="30" dirty="0">
                <a:latin typeface="Times New Roman" panose="02020603050405020304" pitchFamily="18" charset="0"/>
                <a:cs typeface="Times New Roman" panose="02020603050405020304" pitchFamily="18" charset="0"/>
              </a:rPr>
              <a:t> per </a:t>
            </a:r>
            <a:r>
              <a:rPr lang="de-DE" spc="30" dirty="0" err="1">
                <a:latin typeface="Times New Roman" panose="02020603050405020304" pitchFamily="18" charset="0"/>
                <a:cs typeface="Times New Roman" panose="02020603050405020304" pitchFamily="18" charset="0"/>
              </a:rPr>
              <a:t>hand</a:t>
            </a:r>
            <a:endParaRPr lang="de-DE" spc="30"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Too</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much</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data</a:t>
            </a: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Need </a:t>
            </a:r>
            <a:r>
              <a:rPr lang="de-DE" dirty="0" err="1">
                <a:latin typeface="Times New Roman" panose="02020603050405020304" pitchFamily="18" charset="0"/>
                <a:cs typeface="Times New Roman" panose="02020603050405020304" pitchFamily="18" charset="0"/>
              </a:rPr>
              <a:t>for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streamlined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analysis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tools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that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are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able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a:t>
            </a:r>
            <a:r>
              <a:rPr lang="de-DE" dirty="0">
                <a:latin typeface="Times New Roman" panose="02020603050405020304" pitchFamily="18" charset="0"/>
                <a:cs typeface="Times New Roman" panose="02020603050405020304" pitchFamily="18" charset="0"/>
              </a:rPr>
              <a:t> handle </a:t>
            </a:r>
            <a:r>
              <a:rPr lang="de-DE" dirty="0" err="1">
                <a:latin typeface="Times New Roman" panose="02020603050405020304" pitchFamily="18" charset="0"/>
                <a:cs typeface="Times New Roman" panose="02020603050405020304" pitchFamily="18" charset="0"/>
              </a:rPr>
              <a:t>terabytes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data</a:t>
            </a:r>
            <a:endParaRPr lang="de-DE"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Standardized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tools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facilitate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reproducibility</a:t>
            </a:r>
            <a:endParaRPr lang="de-DE"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Computing power </a:t>
            </a:r>
            <a:r>
              <a:rPr lang="de-DE" dirty="0" err="1">
                <a:latin typeface="Times New Roman" panose="02020603050405020304" pitchFamily="18" charset="0"/>
                <a:cs typeface="Times New Roman" panose="02020603050405020304" pitchFamily="18" charset="0"/>
              </a:rPr>
              <a:t>gets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cheaper</a:t>
            </a:r>
            <a:endParaRPr lang="de-DE" dirty="0">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de-DE" dirty="0" err="1">
                <a:latin typeface="Times New Roman" panose="02020603050405020304" pitchFamily="18" charset="0"/>
                <a:cs typeface="Times New Roman" panose="02020603050405020304" pitchFamily="18" charset="0"/>
              </a:rPr>
              <a:t>Moore‘s</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law</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doubling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speed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every</a:t>
            </a:r>
            <a:r>
              <a:rPr lang="de-DE" dirty="0">
                <a:latin typeface="Times New Roman" panose="02020603050405020304" pitchFamily="18" charset="0"/>
                <a:cs typeface="Times New Roman" panose="02020603050405020304" pitchFamily="18" charset="0"/>
              </a:rPr>
              <a:t> 1½ </a:t>
            </a:r>
            <a:r>
              <a:rPr lang="de-DE" dirty="0" err="1">
                <a:latin typeface="Times New Roman" panose="02020603050405020304" pitchFamily="18" charset="0"/>
                <a:cs typeface="Times New Roman" panose="02020603050405020304" pitchFamily="18" charset="0"/>
              </a:rPr>
              <a:t>year</a:t>
            </a:r>
            <a:r>
              <a:rPr lang="de-DE" dirty="0">
                <a:latin typeface="Times New Roman" panose="02020603050405020304" pitchFamily="18" charset="0"/>
                <a:cs typeface="Times New Roman" panose="02020603050405020304" pitchFamily="18" charset="0"/>
              </a:rPr>
              <a:t>.</a:t>
            </a:r>
          </a:p>
          <a:p>
            <a:pPr>
              <a:buFont typeface="Courier New" panose="02070309020205020404" pitchFamily="49" charset="0"/>
              <a:buChar char="o"/>
            </a:pPr>
            <a:endParaRPr lang="de-DE" b="1"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5" name="Grafik 4" descr="Ein Bild, das Text, Screenshot, Schrift, Zahl enthält.&#10;&#10;Automatisch generierte Beschreibung">
            <a:extLst>
              <a:ext uri="{FF2B5EF4-FFF2-40B4-BE49-F238E27FC236}">
                <a16:creationId xmlns:a16="http://schemas.microsoft.com/office/drawing/2014/main" id="{0DA2DBB4-03E6-8088-B1E4-F6594E501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6160" y="3560637"/>
            <a:ext cx="4147995" cy="3068960"/>
          </a:xfrm>
          <a:prstGeom prst="rect">
            <a:avLst/>
          </a:prstGeom>
          <a:ln w="25400">
            <a:solidFill>
              <a:schemeClr val="accent1"/>
            </a:solidFill>
          </a:ln>
        </p:spPr>
      </p:pic>
      <p:pic>
        <p:nvPicPr>
          <p:cNvPr id="7" name="Grafik 6" descr="Ein Bild, das Text, Screenshot, Diagramm, Reihe enthält.&#10;&#10;Automatisch generierte Beschreibung">
            <a:extLst>
              <a:ext uri="{FF2B5EF4-FFF2-40B4-BE49-F238E27FC236}">
                <a16:creationId xmlns:a16="http://schemas.microsoft.com/office/drawing/2014/main" id="{7B06F96D-EDB7-DE7F-4704-141D719B7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6160" y="320028"/>
            <a:ext cx="4147995" cy="3108971"/>
          </a:xfrm>
          <a:prstGeom prst="rect">
            <a:avLst/>
          </a:prstGeom>
          <a:ln w="25400">
            <a:solidFill>
              <a:schemeClr val="accent1"/>
            </a:solidFill>
          </a:ln>
        </p:spPr>
      </p:pic>
    </p:spTree>
    <p:extLst>
      <p:ext uri="{BB962C8B-B14F-4D97-AF65-F5344CB8AC3E}">
        <p14:creationId xmlns:p14="http://schemas.microsoft.com/office/powerpoint/2010/main" val="10903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a:extLst>
            <a:ext uri="{FF2B5EF4-FFF2-40B4-BE49-F238E27FC236}">
              <a16:creationId xmlns:a16="http://schemas.microsoft.com/office/drawing/2014/main" id="{CE10E893-A7CD-41A4-B6D2-574CB8C23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731B207-867C-7054-5C66-0F2CFE5AC529}"/>
              </a:ext>
            </a:extLst>
          </p:cNvPr>
          <p:cNvSpPr>
            <a:spLocks noGrp="1"/>
          </p:cNvSpPr>
          <p:nvPr>
            <p:ph type="title"/>
          </p:nvPr>
        </p:nvSpPr>
        <p:spPr>
          <a:xfrm>
            <a:off x="2056312" y="548680"/>
            <a:ext cx="8605080" cy="438398"/>
          </a:xfrm>
        </p:spPr>
        <p:txBody>
          <a:bodyPr/>
          <a:lstStyle/>
          <a:p>
            <a:r>
              <a:rPr lang="de-DE" dirty="0">
                <a:latin typeface="Times New Roman" panose="02020603050405020304" pitchFamily="18" charset="0"/>
                <a:cs typeface="Times New Roman" panose="02020603050405020304" pitchFamily="18" charset="0"/>
              </a:rPr>
              <a:t>ROSA</a:t>
            </a:r>
          </a:p>
        </p:txBody>
      </p:sp>
      <p:sp>
        <p:nvSpPr>
          <p:cNvPr id="4" name="Inhaltsplatzhalter 3">
            <a:extLst>
              <a:ext uri="{FF2B5EF4-FFF2-40B4-BE49-F238E27FC236}">
                <a16:creationId xmlns:a16="http://schemas.microsoft.com/office/drawing/2014/main" id="{9D53900B-025D-AF8A-A94B-11968DFA8ECE}"/>
              </a:ext>
            </a:extLst>
          </p:cNvPr>
          <p:cNvSpPr>
            <a:spLocks noGrp="1"/>
          </p:cNvSpPr>
          <p:nvPr>
            <p:ph sz="half" idx="1"/>
          </p:nvPr>
        </p:nvSpPr>
        <p:spPr>
          <a:xfrm>
            <a:off x="2052746" y="1124743"/>
            <a:ext cx="2891126" cy="4608513"/>
          </a:xfrm>
        </p:spPr>
        <p:txBody>
          <a:bodyPr/>
          <a:lstStyle/>
          <a:p>
            <a:pPr algn="l">
              <a:lnSpc>
                <a:spcPct val="110000"/>
              </a:lnSpc>
              <a:buFont typeface="Courier New" panose="02070309020205020404" pitchFamily="49" charset="0"/>
              <a:buChar char="o"/>
            </a:pPr>
            <a:r>
              <a:rPr lang="de-DE" dirty="0">
                <a:latin typeface="Times New Roman" panose="02020603050405020304" pitchFamily="18" charset="0"/>
                <a:cs typeface="Times New Roman" panose="02020603050405020304" pitchFamily="18" charset="0"/>
              </a:rPr>
              <a:t>High </a:t>
            </a:r>
            <a:r>
              <a:rPr lang="de-DE" dirty="0" err="1">
                <a:latin typeface="Times New Roman" panose="02020603050405020304" pitchFamily="18" charset="0"/>
                <a:cs typeface="Times New Roman" panose="02020603050405020304" pitchFamily="18" charset="0"/>
              </a:rPr>
              <a:t>performance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computing</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cluster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of</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the</a:t>
            </a:r>
            <a:r>
              <a:rPr lang="de-DE" dirty="0">
                <a:latin typeface="Times New Roman" panose="02020603050405020304" pitchFamily="18" charset="0"/>
                <a:cs typeface="Times New Roman" panose="02020603050405020304" pitchFamily="18" charset="0"/>
              </a:rPr>
              <a:t> University Oldenburg.</a:t>
            </a: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de-DE" b="1"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marL="0" indent="0" algn="l">
              <a:lnSpc>
                <a:spcPct val="110000"/>
              </a:lnSpc>
              <a:buNone/>
            </a:pPr>
            <a:endParaRPr lang="de-DE" dirty="0">
              <a:latin typeface="Times New Roman" panose="02020603050405020304" pitchFamily="18" charset="0"/>
              <a:cs typeface="Times New Roman" panose="02020603050405020304" pitchFamily="18" charset="0"/>
            </a:endParaRPr>
          </a:p>
          <a:p>
            <a:pPr algn="l">
              <a:lnSpc>
                <a:spcPct val="110000"/>
              </a:lnSpc>
              <a:buFont typeface="Courier New" panose="02070309020205020404" pitchFamily="49" charset="0"/>
              <a:buChar char="o"/>
            </a:pPr>
            <a:endParaRPr lang="de-DE" dirty="0">
              <a:latin typeface="Times New Roman" panose="02020603050405020304" pitchFamily="18" charset="0"/>
              <a:cs typeface="Times New Roman" panose="02020603050405020304" pitchFamily="18" charset="0"/>
            </a:endParaRPr>
          </a:p>
        </p:txBody>
      </p:sp>
      <p:pic>
        <p:nvPicPr>
          <p:cNvPr id="6" name="Grafik 5" descr="Ein Bild, das Text, Screenshot, draußen, Design enthält.&#10;&#10;Automatisch generierte Beschreibung">
            <a:extLst>
              <a:ext uri="{FF2B5EF4-FFF2-40B4-BE49-F238E27FC236}">
                <a16:creationId xmlns:a16="http://schemas.microsoft.com/office/drawing/2014/main" id="{C0EB1CA9-B765-6A55-8D3B-05B7448AF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7888" y="116632"/>
            <a:ext cx="6840760" cy="3845936"/>
          </a:xfrm>
          <a:prstGeom prst="rect">
            <a:avLst/>
          </a:prstGeom>
          <a:ln w="25400">
            <a:solidFill>
              <a:schemeClr val="accent1"/>
            </a:solidFill>
          </a:ln>
        </p:spPr>
      </p:pic>
      <p:pic>
        <p:nvPicPr>
          <p:cNvPr id="9" name="Grafik 8" descr="Ein Bild, das Text, Screenshot, Schrift, Zahl enthält.&#10;&#10;Automatisch generierte Beschreibung">
            <a:extLst>
              <a:ext uri="{FF2B5EF4-FFF2-40B4-BE49-F238E27FC236}">
                <a16:creationId xmlns:a16="http://schemas.microsoft.com/office/drawing/2014/main" id="{360DD0CE-4DD7-5973-CA8B-C7FF111CE1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279" y="3645024"/>
            <a:ext cx="6297186" cy="2591085"/>
          </a:xfrm>
          <a:prstGeom prst="rect">
            <a:avLst/>
          </a:prstGeom>
        </p:spPr>
      </p:pic>
    </p:spTree>
    <p:extLst>
      <p:ext uri="{BB962C8B-B14F-4D97-AF65-F5344CB8AC3E}">
        <p14:creationId xmlns:p14="http://schemas.microsoft.com/office/powerpoint/2010/main" val="358487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UOL">
  <a:themeElements>
    <a:clrScheme name="Benutzerdefiniert 6">
      <a:dk1>
        <a:sysClr val="windowText" lastClr="000000"/>
      </a:dk1>
      <a:lt1>
        <a:sysClr val="window" lastClr="FFFFFF"/>
      </a:lt1>
      <a:dk2>
        <a:srgbClr val="003F6B"/>
      </a:dk2>
      <a:lt2>
        <a:srgbClr val="A5A5A5"/>
      </a:lt2>
      <a:accent1>
        <a:srgbClr val="004F9F"/>
      </a:accent1>
      <a:accent2>
        <a:srgbClr val="00ABDA"/>
      </a:accent2>
      <a:accent3>
        <a:srgbClr val="5BC5F2"/>
      </a:accent3>
      <a:accent4>
        <a:srgbClr val="A1DAF8"/>
      </a:accent4>
      <a:accent5>
        <a:srgbClr val="00786B"/>
      </a:accent5>
      <a:accent6>
        <a:srgbClr val="D53D0E"/>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lnSpc>
            <a:spcPct val="110000"/>
          </a:lnSpc>
          <a:defRPr spc="3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110000"/>
          </a:lnSpc>
          <a:defRPr spc="30" dirty="0" err="1" smtClean="0"/>
        </a:defPPr>
      </a:lstStyle>
    </a:txDef>
  </a:objectDefaults>
  <a:extraClrSchemeLst/>
  <a:custClrLst>
    <a:custClr name="Grün 1">
      <a:srgbClr val="00786B"/>
    </a:custClr>
    <a:custClr name="Grün 2">
      <a:srgbClr val="00A97A"/>
    </a:custClr>
    <a:custClr name="Grün 3">
      <a:srgbClr val="95C11F"/>
    </a:custClr>
    <a:custClr name="Grün 4">
      <a:srgbClr val="C8D300"/>
    </a:custClr>
    <a:custClr name="Orange 1">
      <a:srgbClr val="D53D0E"/>
    </a:custClr>
    <a:custClr name="Orange 2">
      <a:srgbClr val="EE7203"/>
    </a:custClr>
    <a:custClr name="Orange 3">
      <a:srgbClr val="F39200"/>
    </a:custClr>
    <a:custClr name="Orange 4">
      <a:srgbClr val="FDC300"/>
    </a:custClr>
  </a:custClrLst>
  <a:extLst>
    <a:ext uri="{05A4C25C-085E-4340-85A3-A5531E510DB2}">
      <thm15:themeFamily xmlns:thm15="http://schemas.microsoft.com/office/thememl/2012/main" name="UOL_PowerPoint_16x9.potx" id="{F374DE9F-0D6B-4D2F-A18F-ABD4DBD5F391}" vid="{4E2C0FA1-9A88-4104-B52A-031F2A7C2746}"/>
    </a:ext>
  </a:extLst>
</a:theme>
</file>

<file path=ppt/theme/theme2.xml><?xml version="1.0" encoding="utf-8"?>
<a:theme xmlns:a="http://schemas.openxmlformats.org/drawingml/2006/main" name="Office">
  <a:themeElements>
    <a:clrScheme name="Benutzerdefiniert 6">
      <a:dk1>
        <a:sysClr val="windowText" lastClr="000000"/>
      </a:dk1>
      <a:lt1>
        <a:sysClr val="window" lastClr="FFFFFF"/>
      </a:lt1>
      <a:dk2>
        <a:srgbClr val="003F6B"/>
      </a:dk2>
      <a:lt2>
        <a:srgbClr val="A5A5A5"/>
      </a:lt2>
      <a:accent1>
        <a:srgbClr val="004F9F"/>
      </a:accent1>
      <a:accent2>
        <a:srgbClr val="00ABDA"/>
      </a:accent2>
      <a:accent3>
        <a:srgbClr val="5BC5F2"/>
      </a:accent3>
      <a:accent4>
        <a:srgbClr val="A1DAF8"/>
      </a:accent4>
      <a:accent5>
        <a:srgbClr val="00786B"/>
      </a:accent5>
      <a:accent6>
        <a:srgbClr val="D53D0E"/>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Benutzerdefiniert 6">
      <a:dk1>
        <a:sysClr val="windowText" lastClr="000000"/>
      </a:dk1>
      <a:lt1>
        <a:sysClr val="window" lastClr="FFFFFF"/>
      </a:lt1>
      <a:dk2>
        <a:srgbClr val="003F6B"/>
      </a:dk2>
      <a:lt2>
        <a:srgbClr val="A5A5A5"/>
      </a:lt2>
      <a:accent1>
        <a:srgbClr val="004F9F"/>
      </a:accent1>
      <a:accent2>
        <a:srgbClr val="00ABDA"/>
      </a:accent2>
      <a:accent3>
        <a:srgbClr val="5BC5F2"/>
      </a:accent3>
      <a:accent4>
        <a:srgbClr val="A1DAF8"/>
      </a:accent4>
      <a:accent5>
        <a:srgbClr val="00786B"/>
      </a:accent5>
      <a:accent6>
        <a:srgbClr val="D53D0E"/>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21440D758562D6449032ADF1072B19EA" ma:contentTypeVersion="4" ma:contentTypeDescription="Ein neues Dokument erstellen." ma:contentTypeScope="" ma:versionID="6e780dd96e2b8ddda489b9d3e08f32bf">
  <xsd:schema xmlns:xsd="http://www.w3.org/2001/XMLSchema" xmlns:xs="http://www.w3.org/2001/XMLSchema" xmlns:p="http://schemas.microsoft.com/office/2006/metadata/properties" xmlns:ns3="7171d692-ceda-4cfa-a273-39c20645fd61" targetNamespace="http://schemas.microsoft.com/office/2006/metadata/properties" ma:root="true" ma:fieldsID="97c4695df24cdf17b4c16a124fbec2c9" ns3:_="">
    <xsd:import namespace="7171d692-ceda-4cfa-a273-39c20645fd61"/>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71d692-ceda-4cfa-a273-39c20645fd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5DABF4-0D62-4ED0-AF1E-2C8BDB3B9484}">
  <ds:schemaRefs>
    <ds:schemaRef ds:uri="http://purl.org/dc/elements/1.1/"/>
    <ds:schemaRef ds:uri="http://schemas.microsoft.com/office/2006/documentManagement/types"/>
    <ds:schemaRef ds:uri="http://www.w3.org/XML/1998/namespace"/>
    <ds:schemaRef ds:uri="http://purl.org/dc/terms/"/>
    <ds:schemaRef ds:uri="http://schemas.microsoft.com/office/infopath/2007/PartnerControls"/>
    <ds:schemaRef ds:uri="http://purl.org/dc/dcmitype/"/>
    <ds:schemaRef ds:uri="http://schemas.openxmlformats.org/package/2006/metadata/core-properties"/>
    <ds:schemaRef ds:uri="7171d692-ceda-4cfa-a273-39c20645fd61"/>
    <ds:schemaRef ds:uri="http://schemas.microsoft.com/office/2006/metadata/properties"/>
  </ds:schemaRefs>
</ds:datastoreItem>
</file>

<file path=customXml/itemProps2.xml><?xml version="1.0" encoding="utf-8"?>
<ds:datastoreItem xmlns:ds="http://schemas.openxmlformats.org/officeDocument/2006/customXml" ds:itemID="{23AB275E-EFE8-4E6A-B7CF-E8CA60A09DF0}">
  <ds:schemaRefs>
    <ds:schemaRef ds:uri="http://schemas.microsoft.com/sharepoint/v3/contenttype/forms"/>
  </ds:schemaRefs>
</ds:datastoreItem>
</file>

<file path=customXml/itemProps3.xml><?xml version="1.0" encoding="utf-8"?>
<ds:datastoreItem xmlns:ds="http://schemas.openxmlformats.org/officeDocument/2006/customXml" ds:itemID="{57154599-D57F-433F-8D8F-410489CB12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71d692-ceda-4cfa-a273-39c20645fd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PowerPoint-Vorlage__16-zu-9-Format_</Template>
  <TotalTime>0</TotalTime>
  <Words>534</Words>
  <Application>Microsoft Office PowerPoint</Application>
  <PresentationFormat>Breitbild</PresentationFormat>
  <Paragraphs>94</Paragraphs>
  <Slides>15</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15</vt:i4>
      </vt:variant>
    </vt:vector>
  </HeadingPairs>
  <TitlesOfParts>
    <vt:vector size="19" baseType="lpstr">
      <vt:lpstr>Arial</vt:lpstr>
      <vt:lpstr>Courier New</vt:lpstr>
      <vt:lpstr>Times New Roman</vt:lpstr>
      <vt:lpstr>UOL</vt:lpstr>
      <vt:lpstr>Introduction into bioinformatics</vt:lpstr>
      <vt:lpstr>What does a bioinformatician actually do?</vt:lpstr>
      <vt:lpstr>A short history of computing</vt:lpstr>
      <vt:lpstr>A short history of computing</vt:lpstr>
      <vt:lpstr>A short history of computing</vt:lpstr>
      <vt:lpstr>A short history of computing</vt:lpstr>
      <vt:lpstr>A short history of computing</vt:lpstr>
      <vt:lpstr>A short history of DNA-sequencing</vt:lpstr>
      <vt:lpstr>Central dogma of molecular biology</vt:lpstr>
      <vt:lpstr>A short history of DNA-sequencing</vt:lpstr>
      <vt:lpstr>Sanger sequencing</vt:lpstr>
      <vt:lpstr>High throughput DNA sequencing (2nd generation)</vt:lpstr>
      <vt:lpstr>High throughput DNA sequencing (3rd generation)</vt:lpstr>
      <vt:lpstr>Why do we need bioinformatics?</vt:lpstr>
      <vt:lpstr>ROSA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 Arial Regular, 44 pt</dc:title>
  <dc:creator>Christoph Nehrke</dc:creator>
  <cp:lastModifiedBy>Christoph Nehrke</cp:lastModifiedBy>
  <cp:revision>111</cp:revision>
  <dcterms:created xsi:type="dcterms:W3CDTF">2024-02-18T03:36:02Z</dcterms:created>
  <dcterms:modified xsi:type="dcterms:W3CDTF">2024-04-16T22:52:03Z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0x01010021440D758562D6449032ADF1072B19EA</vt:lpwstr>
  </property>
</Properties>
</file>